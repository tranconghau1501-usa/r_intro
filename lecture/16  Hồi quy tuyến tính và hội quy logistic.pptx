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61"/>
  </p:notesMasterIdLst>
  <p:sldIdLst>
    <p:sldId id="256" r:id="rId2"/>
    <p:sldId id="259" r:id="rId3"/>
    <p:sldId id="258" r:id="rId4"/>
    <p:sldId id="260" r:id="rId5"/>
    <p:sldId id="261" r:id="rId6"/>
    <p:sldId id="263" r:id="rId7"/>
    <p:sldId id="262" r:id="rId8"/>
    <p:sldId id="264" r:id="rId9"/>
    <p:sldId id="265" r:id="rId10"/>
    <p:sldId id="266" r:id="rId11"/>
    <p:sldId id="267" r:id="rId12"/>
    <p:sldId id="268" r:id="rId13"/>
    <p:sldId id="272" r:id="rId14"/>
    <p:sldId id="269" r:id="rId15"/>
    <p:sldId id="273" r:id="rId16"/>
    <p:sldId id="274" r:id="rId17"/>
    <p:sldId id="275" r:id="rId18"/>
    <p:sldId id="270" r:id="rId19"/>
    <p:sldId id="271" r:id="rId20"/>
    <p:sldId id="276" r:id="rId21"/>
    <p:sldId id="277" r:id="rId22"/>
    <p:sldId id="278" r:id="rId23"/>
    <p:sldId id="279" r:id="rId24"/>
    <p:sldId id="280" r:id="rId25"/>
    <p:sldId id="281" r:id="rId26"/>
    <p:sldId id="282" r:id="rId27"/>
    <p:sldId id="284" r:id="rId28"/>
    <p:sldId id="283"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5" r:id="rId59"/>
    <p:sldId id="314"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459" autoAdjust="0"/>
  </p:normalViewPr>
  <p:slideViewPr>
    <p:cSldViewPr>
      <p:cViewPr varScale="1">
        <p:scale>
          <a:sx n="96" d="100"/>
          <a:sy n="96" d="100"/>
        </p:scale>
        <p:origin x="994" y="72"/>
      </p:cViewPr>
      <p:guideLst/>
    </p:cSldViewPr>
  </p:slideViewPr>
  <p:notesTextViewPr>
    <p:cViewPr>
      <p:scale>
        <a:sx n="3" d="2"/>
        <a:sy n="3" d="2"/>
      </p:scale>
      <p:origin x="0" y="0"/>
    </p:cViewPr>
  </p:notesText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21/03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Hãy xem xét ví dụ về một cửa hàng bán đồ uống giải khát. Chúng ta có các biến sau:</a:t>
            </a:r>
          </a:p>
          <a:p>
            <a:r>
              <a:rPr lang="vi-VN"/>
              <a:t>Biến phụ thuộc:</a:t>
            </a:r>
          </a:p>
          <a:p>
            <a:pPr>
              <a:buFont typeface="Arial" panose="020B0604020202020204" pitchFamily="34" charset="0"/>
              <a:buChar char="•"/>
            </a:pPr>
            <a:r>
              <a:rPr lang="vi-VN"/>
              <a:t>Doanh số bán hàng (đơn vị: triệu đồng)</a:t>
            </a:r>
          </a:p>
          <a:p>
            <a:r>
              <a:rPr lang="vi-VN"/>
              <a:t>Biến độc lập:</a:t>
            </a:r>
          </a:p>
          <a:p>
            <a:pPr>
              <a:buFont typeface="+mj-lt"/>
              <a:buAutoNum type="arabicPeriod"/>
            </a:pPr>
            <a:r>
              <a:rPr lang="vi-VN"/>
              <a:t>Chi phí marketing (đơn vị: triệu đồng)</a:t>
            </a:r>
          </a:p>
          <a:p>
            <a:pPr>
              <a:buFont typeface="+mj-lt"/>
              <a:buAutoNum type="arabicPeriod"/>
            </a:pPr>
            <a:r>
              <a:rPr lang="vi-VN"/>
              <a:t>Nhiệt độ trung bình (đơn vị: độ C)</a:t>
            </a:r>
          </a:p>
          <a:p>
            <a:pPr>
              <a:buFont typeface="+mj-lt"/>
              <a:buAutoNum type="arabicPeriod"/>
            </a:pPr>
            <a:r>
              <a:rPr lang="vi-VN"/>
              <a:t>Số lượng đối thủ cạnh tranh trong khu vực</a:t>
            </a:r>
          </a:p>
          <a:p>
            <a:r>
              <a:rPr lang="vi-VN"/>
              <a:t>Qua phân tích dữ liệu và biểu đồ trên, chúng ta có thể thấy:</a:t>
            </a:r>
          </a:p>
          <a:p>
            <a:pPr>
              <a:buFont typeface="+mj-lt"/>
              <a:buAutoNum type="arabicPeriod"/>
            </a:pPr>
            <a:r>
              <a:rPr lang="vi-VN"/>
              <a:t>Mối quan hệ với chi phí marketing:</a:t>
            </a:r>
          </a:p>
          <a:p>
            <a:pPr>
              <a:buFont typeface="Arial" panose="020B0604020202020204" pitchFamily="34" charset="0"/>
              <a:buChar char="•"/>
            </a:pPr>
            <a:r>
              <a:rPr lang="vi-VN"/>
              <a:t>Có mối quan hệ tích cực (positive correlation)</a:t>
            </a:r>
          </a:p>
          <a:p>
            <a:pPr>
              <a:buFont typeface="Arial" panose="020B0604020202020204" pitchFamily="34" charset="0"/>
              <a:buChar char="•"/>
            </a:pPr>
            <a:r>
              <a:rPr lang="vi-VN"/>
              <a:t>Khi tăng chi phí marketing, doanh số thường tăng theo</a:t>
            </a:r>
          </a:p>
          <a:p>
            <a:pPr>
              <a:buFont typeface="Arial" panose="020B0604020202020204" pitchFamily="34" charset="0"/>
              <a:buChar char="•"/>
            </a:pPr>
            <a:r>
              <a:rPr lang="vi-VN"/>
              <a:t>Tuy nhiên, mối quan hệ không hoàn toàn tuyến tính, có điểm bão hòa</a:t>
            </a:r>
          </a:p>
          <a:p>
            <a:pPr>
              <a:buFont typeface="+mj-lt"/>
              <a:buAutoNum type="arabicPeriod" startAt="2"/>
            </a:pPr>
            <a:r>
              <a:rPr lang="vi-VN"/>
              <a:t>Mối quan hệ với nhiệt độ:</a:t>
            </a:r>
          </a:p>
          <a:p>
            <a:pPr>
              <a:buFont typeface="Arial" panose="020B0604020202020204" pitchFamily="34" charset="0"/>
              <a:buChar char="•"/>
            </a:pPr>
            <a:r>
              <a:rPr lang="vi-VN"/>
              <a:t>Nhiệt độ càng cao, doanh số càng tăng</a:t>
            </a:r>
          </a:p>
          <a:p>
            <a:pPr>
              <a:buFont typeface="Arial" panose="020B0604020202020204" pitchFamily="34" charset="0"/>
              <a:buChar char="•"/>
            </a:pPr>
            <a:r>
              <a:rPr lang="vi-VN"/>
              <a:t>Đặc biệt mạnh trong khoảng 25-30 độ C</a:t>
            </a:r>
          </a:p>
          <a:p>
            <a:pPr>
              <a:buFont typeface="Arial" panose="020B0604020202020204" pitchFamily="34" charset="0"/>
              <a:buChar char="•"/>
            </a:pPr>
            <a:r>
              <a:rPr lang="vi-VN"/>
              <a:t>Phản ánh nhu cầu giải khát tăng trong thời tiết nóng</a:t>
            </a:r>
          </a:p>
          <a:p>
            <a:pPr>
              <a:buFont typeface="+mj-lt"/>
              <a:buAutoNum type="arabicPeriod" startAt="3"/>
            </a:pPr>
            <a:r>
              <a:rPr lang="vi-VN"/>
              <a:t>Ảnh hưởng của cạnh tranh:</a:t>
            </a:r>
          </a:p>
          <a:p>
            <a:pPr>
              <a:buFont typeface="Arial" panose="020B0604020202020204" pitchFamily="34" charset="0"/>
              <a:buChar char="•"/>
            </a:pPr>
            <a:r>
              <a:rPr lang="vi-VN"/>
              <a:t>Có tác động tiêu cực đến doanh số</a:t>
            </a:r>
          </a:p>
          <a:p>
            <a:pPr>
              <a:buFont typeface="Arial" panose="020B0604020202020204" pitchFamily="34" charset="0"/>
              <a:buChar char="•"/>
            </a:pPr>
            <a:r>
              <a:rPr lang="vi-VN"/>
              <a:t>Khi số đối thủ tăng từ 2 lên 5, doanh số giảm khoảng 10%</a:t>
            </a:r>
          </a:p>
          <a:p>
            <a:r>
              <a:rPr lang="vi-VN"/>
              <a:t>Hiểu được các mối quan hệ này giúp chúng ta:</a:t>
            </a:r>
          </a:p>
          <a:p>
            <a:pPr>
              <a:buFont typeface="+mj-lt"/>
              <a:buAutoNum type="arabicPeriod"/>
            </a:pPr>
            <a:r>
              <a:rPr lang="vi-VN"/>
              <a:t>Tối ưu hóa ngân sách marketing</a:t>
            </a:r>
          </a:p>
          <a:p>
            <a:pPr>
              <a:buFont typeface="+mj-lt"/>
              <a:buAutoNum type="arabicPeriod"/>
            </a:pPr>
            <a:r>
              <a:rPr lang="vi-VN"/>
              <a:t>Điều chỉnh kế hoạch kinh doanh theo mùa</a:t>
            </a:r>
          </a:p>
          <a:p>
            <a:pPr>
              <a:buFont typeface="+mj-lt"/>
              <a:buAutoNum type="arabicPeriod"/>
            </a:pPr>
            <a:r>
              <a:rPr lang="vi-VN"/>
              <a:t>Có chiến lược cạnh tranh phù hợp</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7</a:t>
            </a:fld>
            <a:endParaRPr lang="en-US"/>
          </a:p>
        </p:txBody>
      </p:sp>
    </p:spTree>
    <p:extLst>
      <p:ext uri="{BB962C8B-B14F-4D97-AF65-F5344CB8AC3E}">
        <p14:creationId xmlns:p14="http://schemas.microsoft.com/office/powerpoint/2010/main" val="2688380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6801-AF65-01F3-D40B-AC9DF1AE5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9F72D-056A-6323-0E92-1E53CB9EB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AABCF-5986-B44A-CE6A-E6F1F5DBA8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C9F580-38F3-4A85-7FC3-DB7D75974745}"/>
              </a:ext>
            </a:extLst>
          </p:cNvPr>
          <p:cNvSpPr>
            <a:spLocks noGrp="1"/>
          </p:cNvSpPr>
          <p:nvPr>
            <p:ph type="sldNum" sz="quarter" idx="5"/>
          </p:nvPr>
        </p:nvSpPr>
        <p:spPr/>
        <p:txBody>
          <a:bodyPr/>
          <a:lstStyle/>
          <a:p>
            <a:fld id="{903DFDE2-C36F-4F76-A40D-A690541279EF}" type="slidenum">
              <a:rPr lang="en-US" smtClean="0"/>
              <a:t>8</a:t>
            </a:fld>
            <a:endParaRPr lang="en-US"/>
          </a:p>
        </p:txBody>
      </p:sp>
    </p:spTree>
    <p:extLst>
      <p:ext uri="{BB962C8B-B14F-4D97-AF65-F5344CB8AC3E}">
        <p14:creationId xmlns:p14="http://schemas.microsoft.com/office/powerpoint/2010/main" val="1998869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Biến phụ thuộc (Y):</a:t>
            </a:r>
            <a:endParaRPr lang="vi-VN"/>
          </a:p>
          <a:p>
            <a:pPr>
              <a:buFont typeface="Arial" panose="020B0604020202020204" pitchFamily="34" charset="0"/>
              <a:buChar char="•"/>
            </a:pPr>
            <a:r>
              <a:rPr lang="vi-VN"/>
              <a:t>Điểm thi cuối kỳ (thang điểm 100)</a:t>
            </a:r>
          </a:p>
          <a:p>
            <a:r>
              <a:rPr lang="vi-VN" b="1"/>
              <a:t>Các biến độc lập (X):</a:t>
            </a:r>
            <a:endParaRPr lang="vi-VN"/>
          </a:p>
          <a:p>
            <a:pPr>
              <a:buFont typeface="+mj-lt"/>
              <a:buAutoNum type="arabicPeriod"/>
            </a:pPr>
            <a:r>
              <a:rPr lang="vi-VN"/>
              <a:t>Số giờ học mỗi ngày (X₁)</a:t>
            </a:r>
          </a:p>
          <a:p>
            <a:pPr>
              <a:buFont typeface="+mj-lt"/>
              <a:buAutoNum type="arabicPeriod"/>
            </a:pPr>
            <a:r>
              <a:rPr lang="vi-VN"/>
              <a:t>Số giờ ngủ mỗi ngày (X₂)</a:t>
            </a:r>
          </a:p>
          <a:p>
            <a:pPr>
              <a:buFont typeface="+mj-lt"/>
              <a:buAutoNum type="arabicPeriod"/>
            </a:pPr>
            <a:r>
              <a:rPr lang="vi-VN"/>
              <a:t>Số giờ tập thể dục mỗi tuần (X₃)</a:t>
            </a:r>
          </a:p>
          <a:p>
            <a:r>
              <a:rPr lang="vi-VN" b="1"/>
              <a:t>Kết quả phân tích hồi quy:</a:t>
            </a:r>
            <a:endParaRPr lang="vi-VN"/>
          </a:p>
          <a:p>
            <a:pPr>
              <a:buFont typeface="+mj-lt"/>
              <a:buAutoNum type="arabicPeriod"/>
            </a:pPr>
            <a:r>
              <a:rPr lang="vi-VN"/>
              <a:t>Hệ số hồi quy (</a:t>
            </a:r>
            <a:r>
              <a:rPr lang="el-GR"/>
              <a:t>β):</a:t>
            </a:r>
          </a:p>
          <a:p>
            <a:pPr>
              <a:buFont typeface="Arial" panose="020B0604020202020204" pitchFamily="34" charset="0"/>
              <a:buChar char="•"/>
            </a:pPr>
            <a:r>
              <a:rPr lang="el-GR"/>
              <a:t>β₁ (</a:t>
            </a:r>
            <a:r>
              <a:rPr lang="vi-VN"/>
              <a:t>Số giờ học) = 5.2 </a:t>
            </a:r>
          </a:p>
          <a:p>
            <a:pPr marL="742950" lvl="1" indent="-285750">
              <a:buFont typeface="Arial" panose="020B0604020202020204" pitchFamily="34" charset="0"/>
              <a:buChar char="•"/>
            </a:pPr>
            <a:r>
              <a:rPr lang="vi-VN"/>
              <a:t>Ý nghĩa: Mỗi giờ học tăng thêm làm tăng điểm thi trung bình 5.2 điểm</a:t>
            </a:r>
          </a:p>
          <a:p>
            <a:pPr marL="742950" lvl="1" indent="-285750">
              <a:buFont typeface="Arial" panose="020B0604020202020204" pitchFamily="34" charset="0"/>
              <a:buChar char="•"/>
            </a:pPr>
            <a:r>
              <a:rPr lang="vi-VN"/>
              <a:t>Có ý nghĩa thống kê (p &lt; 0.05)</a:t>
            </a:r>
          </a:p>
          <a:p>
            <a:pPr>
              <a:buFont typeface="Arial" panose="020B0604020202020204" pitchFamily="34" charset="0"/>
              <a:buChar char="•"/>
            </a:pPr>
            <a:r>
              <a:rPr lang="el-GR"/>
              <a:t>β₂ (</a:t>
            </a:r>
            <a:r>
              <a:rPr lang="vi-VN"/>
              <a:t>Số giờ ngủ) = 3.8 </a:t>
            </a:r>
          </a:p>
          <a:p>
            <a:pPr marL="742950" lvl="1" indent="-285750">
              <a:buFont typeface="Arial" panose="020B0604020202020204" pitchFamily="34" charset="0"/>
              <a:buChar char="•"/>
            </a:pPr>
            <a:r>
              <a:rPr lang="vi-VN"/>
              <a:t>Ý nghĩa: Mỗi giờ ngủ tăng thêm làm tăng điểm thi trung bình 3.8 điểm</a:t>
            </a:r>
          </a:p>
          <a:p>
            <a:pPr marL="742950" lvl="1" indent="-285750">
              <a:buFont typeface="Arial" panose="020B0604020202020204" pitchFamily="34" charset="0"/>
              <a:buChar char="•"/>
            </a:pPr>
            <a:r>
              <a:rPr lang="vi-VN"/>
              <a:t>Có ý nghĩa thống kê (p &lt; 0.05)</a:t>
            </a:r>
          </a:p>
          <a:p>
            <a:pPr>
              <a:buFont typeface="Arial" panose="020B0604020202020204" pitchFamily="34" charset="0"/>
              <a:buChar char="•"/>
            </a:pPr>
            <a:r>
              <a:rPr lang="el-GR"/>
              <a:t>β₃ (</a:t>
            </a:r>
            <a:r>
              <a:rPr lang="vi-VN"/>
              <a:t>Tập thể dục) = 2.1 </a:t>
            </a:r>
          </a:p>
          <a:p>
            <a:pPr marL="742950" lvl="1" indent="-285750">
              <a:buFont typeface="Arial" panose="020B0604020202020204" pitchFamily="34" charset="0"/>
              <a:buChar char="•"/>
            </a:pPr>
            <a:r>
              <a:rPr lang="vi-VN"/>
              <a:t>Ý nghĩa: Mỗi giờ tập thể dục tăng thêm làm tăng điểm thi trung bình 2.1 điểm</a:t>
            </a:r>
          </a:p>
          <a:p>
            <a:pPr marL="742950" lvl="1" indent="-285750">
              <a:buFont typeface="Arial" panose="020B0604020202020204" pitchFamily="34" charset="0"/>
              <a:buChar char="•"/>
            </a:pPr>
            <a:r>
              <a:rPr lang="vi-VN"/>
              <a:t>Có ý nghĩa thống kê (p &lt; 0.05)</a:t>
            </a:r>
          </a:p>
          <a:p>
            <a:pPr>
              <a:buFont typeface="+mj-lt"/>
              <a:buAutoNum type="arabicPeriod" startAt="2"/>
            </a:pPr>
            <a:r>
              <a:rPr lang="vi-VN"/>
              <a:t>Hệ số xác định (R²) = 0.85</a:t>
            </a:r>
          </a:p>
          <a:p>
            <a:pPr>
              <a:buFont typeface="Arial" panose="020B0604020202020204" pitchFamily="34" charset="0"/>
              <a:buChar char="•"/>
            </a:pPr>
            <a:r>
              <a:rPr lang="vi-VN"/>
              <a:t>85% sự biến động của điểm thi được giải thích bởi 3 yếu tố trên</a:t>
            </a:r>
          </a:p>
          <a:p>
            <a:pPr>
              <a:buFont typeface="Arial" panose="020B0604020202020204" pitchFamily="34" charset="0"/>
              <a:buChar char="•"/>
            </a:pPr>
            <a:r>
              <a:rPr lang="vi-VN"/>
              <a:t>Mô hình có độ tin cậy cao</a:t>
            </a:r>
          </a:p>
          <a:p>
            <a:r>
              <a:rPr lang="vi-VN" b="1"/>
              <a:t>Ứng dụng thực tế:</a:t>
            </a:r>
            <a:endParaRPr lang="vi-VN"/>
          </a:p>
          <a:p>
            <a:pPr>
              <a:buFont typeface="+mj-lt"/>
              <a:buAutoNum type="arabicPeriod"/>
            </a:pPr>
            <a:r>
              <a:rPr lang="vi-VN"/>
              <a:t>Dự đoán điểm thi:</a:t>
            </a:r>
          </a:p>
          <a:p>
            <a:pPr>
              <a:buFont typeface="Arial" panose="020B0604020202020204" pitchFamily="34" charset="0"/>
              <a:buChar char="•"/>
            </a:pPr>
            <a:r>
              <a:rPr lang="vi-VN"/>
              <a:t>Một học sinh học 4 giờ/ngày, ngủ 7 giờ/ngày, tập thể dục 3 giờ/tuần</a:t>
            </a:r>
          </a:p>
          <a:p>
            <a:pPr>
              <a:buFont typeface="Arial" panose="020B0604020202020204" pitchFamily="34" charset="0"/>
              <a:buChar char="•"/>
            </a:pPr>
            <a:r>
              <a:rPr lang="vi-VN"/>
              <a:t>Điểm dự đoán = 5.2×4 + 3.8×7 + 2.1×3 + hằng số = 81.5 điểm</a:t>
            </a:r>
          </a:p>
          <a:p>
            <a:pPr>
              <a:buFont typeface="+mj-lt"/>
              <a:buAutoNum type="arabicPeriod" startAt="2"/>
            </a:pPr>
            <a:r>
              <a:rPr lang="vi-VN"/>
              <a:t>Đề xuất cải thiện:</a:t>
            </a:r>
          </a:p>
          <a:p>
            <a:pPr>
              <a:buFont typeface="Arial" panose="020B0604020202020204" pitchFamily="34" charset="0"/>
              <a:buChar char="•"/>
            </a:pPr>
            <a:r>
              <a:rPr lang="vi-VN"/>
              <a:t>Tăng thời gian học có tác động lớn nhất (</a:t>
            </a:r>
            <a:r>
              <a:rPr lang="el-GR"/>
              <a:t>β₁ = 5.2)</a:t>
            </a:r>
          </a:p>
          <a:p>
            <a:pPr>
              <a:buFont typeface="Arial" panose="020B0604020202020204" pitchFamily="34" charset="0"/>
              <a:buChar char="•"/>
            </a:pPr>
            <a:r>
              <a:rPr lang="vi-VN"/>
              <a:t>Đảm bảo đủ giấc ngủ cũng quan trọng (</a:t>
            </a:r>
            <a:r>
              <a:rPr lang="el-GR"/>
              <a:t>β₂ = 3.8)</a:t>
            </a:r>
          </a:p>
          <a:p>
            <a:pPr>
              <a:buFont typeface="Arial" panose="020B0604020202020204" pitchFamily="34" charset="0"/>
              <a:buChar char="•"/>
            </a:pPr>
            <a:r>
              <a:rPr lang="vi-VN"/>
              <a:t>Duy trì hoạt động thể chất đều đặn (</a:t>
            </a:r>
            <a:r>
              <a:rPr lang="el-GR"/>
              <a:t>β₃ = 2.1)</a:t>
            </a:r>
          </a:p>
          <a:p>
            <a:endParaRPr lang="en-US"/>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9</a:t>
            </a:fld>
            <a:endParaRPr lang="en-US"/>
          </a:p>
        </p:txBody>
      </p:sp>
    </p:spTree>
    <p:extLst>
      <p:ext uri="{BB962C8B-B14F-4D97-AF65-F5344CB8AC3E}">
        <p14:creationId xmlns:p14="http://schemas.microsoft.com/office/powerpoint/2010/main" val="3316930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B2D06-C8B6-B2C9-2E9E-BC04D658F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E529D-55B1-8E2C-33C9-52C7D0B42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67F22A-362F-830B-1866-F25BB31EE0BF}"/>
              </a:ext>
            </a:extLst>
          </p:cNvPr>
          <p:cNvSpPr>
            <a:spLocks noGrp="1"/>
          </p:cNvSpPr>
          <p:nvPr>
            <p:ph type="body" idx="1"/>
          </p:nvPr>
        </p:nvSpPr>
        <p:spPr/>
        <p:txBody>
          <a:bodyPr/>
          <a:lstStyle/>
          <a:p>
            <a:r>
              <a:rPr lang="vi-VN"/>
              <a:t>Ví Dụ: Nghiên Cứu Về Mối Quan Hệ Giữa Giáo Dục và Thu Nhập</a:t>
            </a:r>
          </a:p>
          <a:p>
            <a:r>
              <a:rPr lang="vi-VN"/>
              <a:t>Giả sử chúng ta muốn nghiên cứu mối quan hệ giữa trình độ học vấn và mức lương. Nếu chỉ xem xét mối quan hệ giữa hai biến này một cách đơn giản, kết quả có thể bị méo mó bởi các yếu tố khác.</a:t>
            </a:r>
          </a:p>
          <a:p>
            <a:r>
              <a:rPr lang="vi-VN"/>
              <a:t>Mô Hình Hồi Quy Không Kiểm Soát Biến:</a:t>
            </a:r>
          </a:p>
          <a:p>
            <a:pPr>
              <a:buFont typeface="Arial" panose="020B0604020202020204" pitchFamily="34" charset="0"/>
              <a:buChar char="•"/>
            </a:pPr>
            <a:r>
              <a:rPr lang="vi-VN"/>
              <a:t>Biến phụ thuộc (Y): Mức lương hàng năm</a:t>
            </a:r>
          </a:p>
          <a:p>
            <a:pPr>
              <a:buFont typeface="Arial" panose="020B0604020202020204" pitchFamily="34" charset="0"/>
              <a:buChar char="•"/>
            </a:pPr>
            <a:r>
              <a:rPr lang="vi-VN"/>
              <a:t>Biến độc lập chính (X1): Số năm học vấn</a:t>
            </a:r>
          </a:p>
          <a:p>
            <a:r>
              <a:rPr lang="vi-VN"/>
              <a:t>Nhưng thực tế, có nhiều biến khác ảnh hưởng đến mức lương:</a:t>
            </a:r>
          </a:p>
          <a:p>
            <a:pPr>
              <a:buFont typeface="+mj-lt"/>
              <a:buAutoNum type="arabicPeriod"/>
            </a:pPr>
            <a:r>
              <a:rPr lang="vi-VN"/>
              <a:t>Kinh nghiệm làm việc (X2)</a:t>
            </a:r>
          </a:p>
          <a:p>
            <a:pPr>
              <a:buFont typeface="+mj-lt"/>
              <a:buAutoNum type="arabicPeriod"/>
            </a:pPr>
            <a:r>
              <a:rPr lang="vi-VN"/>
              <a:t>Độ tuổi (X3)</a:t>
            </a:r>
          </a:p>
          <a:p>
            <a:pPr>
              <a:buFont typeface="+mj-lt"/>
              <a:buAutoNum type="arabicPeriod"/>
            </a:pPr>
            <a:r>
              <a:rPr lang="vi-VN"/>
              <a:t>Giới tính (X4)</a:t>
            </a:r>
          </a:p>
          <a:p>
            <a:pPr>
              <a:buFont typeface="+mj-lt"/>
              <a:buAutoNum type="arabicPeriod"/>
            </a:pPr>
            <a:r>
              <a:rPr lang="vi-VN"/>
              <a:t>Ngành nghề (X5)</a:t>
            </a:r>
          </a:p>
          <a:p>
            <a:r>
              <a:rPr lang="vi-VN"/>
              <a:t>Mô Hình Hồi Quy Đa Biến Kiểm Soát: Phương trình hồi quy sẽ có dạng: Y = </a:t>
            </a:r>
            <a:r>
              <a:rPr lang="el-GR"/>
              <a:t>β0 + β1</a:t>
            </a:r>
            <a:r>
              <a:rPr lang="vi-VN" i="1"/>
              <a:t>X1 + </a:t>
            </a:r>
            <a:r>
              <a:rPr lang="el-GR" i="1"/>
              <a:t>β2</a:t>
            </a:r>
            <a:r>
              <a:rPr lang="vi-VN"/>
              <a:t>X2 + </a:t>
            </a:r>
            <a:r>
              <a:rPr lang="el-GR"/>
              <a:t>β3</a:t>
            </a:r>
            <a:r>
              <a:rPr lang="vi-VN" i="1"/>
              <a:t>X3 + </a:t>
            </a:r>
            <a:r>
              <a:rPr lang="el-GR" i="1"/>
              <a:t>β4</a:t>
            </a:r>
            <a:r>
              <a:rPr lang="vi-VN"/>
              <a:t>X4 + </a:t>
            </a:r>
            <a:r>
              <a:rPr lang="el-GR"/>
              <a:t>β5*</a:t>
            </a:r>
            <a:r>
              <a:rPr lang="vi-VN"/>
              <a:t>X5 + </a:t>
            </a:r>
            <a:r>
              <a:rPr lang="el-GR"/>
              <a:t>ε</a:t>
            </a:r>
          </a:p>
          <a:p>
            <a:r>
              <a:rPr lang="vi-VN"/>
              <a:t>Ví dụ cụ thể:</a:t>
            </a:r>
          </a:p>
          <a:p>
            <a:pPr>
              <a:buFont typeface="Arial" panose="020B0604020202020204" pitchFamily="34" charset="0"/>
              <a:buChar char="•"/>
            </a:pPr>
            <a:r>
              <a:rPr lang="vi-VN"/>
              <a:t>Giả sử không kiểm soát các biến, chúng ta thấy mối tương quan là: Mỗi năm học tăng thêm sẽ tăng lương 5,000 USD/năm</a:t>
            </a:r>
          </a:p>
          <a:p>
            <a:pPr>
              <a:buFont typeface="Arial" panose="020B0604020202020204" pitchFamily="34" charset="0"/>
              <a:buChar char="•"/>
            </a:pPr>
            <a:r>
              <a:rPr lang="vi-VN"/>
              <a:t>Sau khi kiểm soát các biến: </a:t>
            </a:r>
          </a:p>
          <a:p>
            <a:pPr marL="742950" lvl="1" indent="-285750">
              <a:buFont typeface="Arial" panose="020B0604020202020204" pitchFamily="34" charset="0"/>
              <a:buChar char="•"/>
            </a:pPr>
            <a:r>
              <a:rPr lang="vi-VN"/>
              <a:t>Kinh nghiệm làm việc: Mỗi năm kinh nghiệm tăng lương 3,000 USD</a:t>
            </a:r>
          </a:p>
          <a:p>
            <a:pPr marL="742950" lvl="1" indent="-285750">
              <a:buFont typeface="Arial" panose="020B0604020202020204" pitchFamily="34" charset="0"/>
              <a:buChar char="•"/>
            </a:pPr>
            <a:r>
              <a:rPr lang="vi-VN"/>
              <a:t>Độ tuổi: Ảnh hưởng tích cực đến mức lương</a:t>
            </a:r>
          </a:p>
          <a:p>
            <a:pPr marL="742950" lvl="1" indent="-285750">
              <a:buFont typeface="Arial" panose="020B0604020202020204" pitchFamily="34" charset="0"/>
              <a:buChar char="•"/>
            </a:pPr>
            <a:r>
              <a:rPr lang="vi-VN"/>
              <a:t>Giới tính: Có thể có sự chênh lệch</a:t>
            </a:r>
          </a:p>
          <a:p>
            <a:pPr marL="742950" lvl="1" indent="-285750">
              <a:buFont typeface="Arial" panose="020B0604020202020204" pitchFamily="34" charset="0"/>
              <a:buChar char="•"/>
            </a:pPr>
            <a:r>
              <a:rPr lang="vi-VN"/>
              <a:t>Ngành nghề: Có sự khác biệt đáng kể</a:t>
            </a:r>
          </a:p>
          <a:p>
            <a:r>
              <a:rPr lang="vi-VN"/>
              <a:t>Kết Quả Sau Kiểm Soát:</a:t>
            </a:r>
          </a:p>
          <a:p>
            <a:pPr>
              <a:buFont typeface="Arial" panose="020B0604020202020204" pitchFamily="34" charset="0"/>
              <a:buChar char="•"/>
            </a:pPr>
            <a:r>
              <a:rPr lang="vi-VN"/>
              <a:t>Tác động thực sự của giáo dục có thể chỉ còn 2,000 USD/năm</a:t>
            </a:r>
          </a:p>
          <a:p>
            <a:pPr>
              <a:buFont typeface="Arial" panose="020B0604020202020204" pitchFamily="34" charset="0"/>
              <a:buChar char="•"/>
            </a:pPr>
            <a:r>
              <a:rPr lang="vi-VN"/>
              <a:t>Loại bỏ được ảnh hưởng của các yếu tố nhiễu</a:t>
            </a:r>
          </a:p>
          <a:p>
            <a:pPr>
              <a:buFont typeface="Arial" panose="020B0604020202020204" pitchFamily="34" charset="0"/>
              <a:buChar char="•"/>
            </a:pPr>
            <a:r>
              <a:rPr lang="vi-VN"/>
              <a:t>Cung cấp cái nhìn chính xác hơn về mối quan hệ giữa giáo dục và thu nhập</a:t>
            </a:r>
          </a:p>
          <a:p>
            <a:r>
              <a:rPr lang="vi-VN"/>
              <a:t>Lợi Ích:</a:t>
            </a:r>
          </a:p>
          <a:p>
            <a:pPr>
              <a:buFont typeface="+mj-lt"/>
              <a:buAutoNum type="arabicPeriod"/>
            </a:pPr>
            <a:r>
              <a:rPr lang="vi-VN"/>
              <a:t>Giảm thiểu sai lệch trong ước tính</a:t>
            </a:r>
          </a:p>
          <a:p>
            <a:pPr>
              <a:buFont typeface="+mj-lt"/>
              <a:buAutoNum type="arabicPeriod"/>
            </a:pPr>
            <a:r>
              <a:rPr lang="vi-VN"/>
              <a:t>Hiểu rõ hơn về tác động thực sự của từng biến</a:t>
            </a:r>
          </a:p>
          <a:p>
            <a:pPr>
              <a:buFont typeface="+mj-lt"/>
              <a:buAutoNum type="arabicPeriod"/>
            </a:pPr>
            <a:r>
              <a:rPr lang="vi-VN"/>
              <a:t>Cung cấp phân tích sâu hơn và chính xác hơn</a:t>
            </a:r>
          </a:p>
          <a:p>
            <a:endParaRPr lang="en-US"/>
          </a:p>
        </p:txBody>
      </p:sp>
      <p:sp>
        <p:nvSpPr>
          <p:cNvPr id="4" name="Slide Number Placeholder 3">
            <a:extLst>
              <a:ext uri="{FF2B5EF4-FFF2-40B4-BE49-F238E27FC236}">
                <a16:creationId xmlns:a16="http://schemas.microsoft.com/office/drawing/2014/main" id="{1C65BFD5-04C0-D9F8-D792-A709C8D4FBCF}"/>
              </a:ext>
            </a:extLst>
          </p:cNvPr>
          <p:cNvSpPr>
            <a:spLocks noGrp="1"/>
          </p:cNvSpPr>
          <p:nvPr>
            <p:ph type="sldNum" sz="quarter" idx="5"/>
          </p:nvPr>
        </p:nvSpPr>
        <p:spPr/>
        <p:txBody>
          <a:bodyPr/>
          <a:lstStyle/>
          <a:p>
            <a:fld id="{903DFDE2-C36F-4F76-A40D-A690541279EF}" type="slidenum">
              <a:rPr lang="en-US" smtClean="0"/>
              <a:t>10</a:t>
            </a:fld>
            <a:endParaRPr lang="en-US"/>
          </a:p>
        </p:txBody>
      </p:sp>
    </p:spTree>
    <p:extLst>
      <p:ext uri="{BB962C8B-B14F-4D97-AF65-F5344CB8AC3E}">
        <p14:creationId xmlns:p14="http://schemas.microsoft.com/office/powerpoint/2010/main" val="465005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Để minh họa cách hồi quy tuyến tính giúp phân tích xu hướng và mẫu dữ liệu, tôi sẽ cung cấp một ví dụ cụ thể về phân tích doanh số bán hàng.</a:t>
            </a:r>
          </a:p>
          <a:p>
            <a:r>
              <a:rPr lang="vi-VN"/>
              <a:t>Ví Dụ Thực Tế: Phân Tích Doanh Số Bán Hàng Của Một Công Ty Điện Tử</a:t>
            </a:r>
          </a:p>
          <a:p>
            <a:r>
              <a:rPr lang="vi-VN"/>
              <a:t>Giả sử chúng ta có bộ dữ liệu về doanh số bán hàng của một công ty điện tử trong 5 năm qua, với các biến sau:</a:t>
            </a:r>
          </a:p>
          <a:p>
            <a:pPr>
              <a:buFont typeface="Arial" panose="020B0604020202020204" pitchFamily="34" charset="0"/>
              <a:buChar char="•"/>
            </a:pPr>
            <a:r>
              <a:rPr lang="vi-VN"/>
              <a:t>Doanh số bán hàng (biến phụ thuộc)</a:t>
            </a:r>
          </a:p>
          <a:p>
            <a:pPr>
              <a:buFont typeface="Arial" panose="020B0604020202020204" pitchFamily="34" charset="0"/>
              <a:buChar char="•"/>
            </a:pPr>
            <a:r>
              <a:rPr lang="vi-VN"/>
              <a:t>Các yếu tố ảnh hưởng: </a:t>
            </a:r>
          </a:p>
          <a:p>
            <a:pPr marL="742950" lvl="1" indent="-285750">
              <a:buFont typeface="Arial" panose="020B0604020202020204" pitchFamily="34" charset="0"/>
              <a:buChar char="•"/>
            </a:pPr>
            <a:r>
              <a:rPr lang="vi-VN"/>
              <a:t>Chi phí quảng cáo</a:t>
            </a:r>
          </a:p>
          <a:p>
            <a:pPr marL="742950" lvl="1" indent="-285750">
              <a:buFont typeface="Arial" panose="020B0604020202020204" pitchFamily="34" charset="0"/>
              <a:buChar char="•"/>
            </a:pPr>
            <a:r>
              <a:rPr lang="vi-VN"/>
              <a:t>Số lượng sản phẩm mới ra mắt</a:t>
            </a:r>
          </a:p>
          <a:p>
            <a:pPr marL="742950" lvl="1" indent="-285750">
              <a:buFont typeface="Arial" panose="020B0604020202020204" pitchFamily="34" charset="0"/>
              <a:buChar char="•"/>
            </a:pPr>
            <a:r>
              <a:rPr lang="vi-VN"/>
              <a:t>Tình hình kinh tế (GDP)</a:t>
            </a:r>
          </a:p>
          <a:p>
            <a:pPr marL="742950" lvl="1" indent="-285750">
              <a:buFont typeface="Arial" panose="020B0604020202020204" pitchFamily="34" charset="0"/>
              <a:buChar char="•"/>
            </a:pPr>
            <a:r>
              <a:rPr lang="vi-VN"/>
              <a:t>Mùa vụ</a:t>
            </a:r>
          </a:p>
          <a:p>
            <a:r>
              <a:rPr lang="vi-VN"/>
              <a:t>Phân Tích Xu Hướng:</a:t>
            </a:r>
          </a:p>
          <a:p>
            <a:pPr>
              <a:buFont typeface="+mj-lt"/>
              <a:buAutoNum type="arabicPeriod"/>
            </a:pPr>
            <a:r>
              <a:rPr lang="vi-VN"/>
              <a:t>Xu Hướng Tổng Thể</a:t>
            </a:r>
          </a:p>
          <a:p>
            <a:pPr>
              <a:buFont typeface="Arial" panose="020B0604020202020204" pitchFamily="34" charset="0"/>
              <a:buChar char="•"/>
            </a:pPr>
            <a:r>
              <a:rPr lang="vi-VN"/>
              <a:t>Sử dụng hồi quy tuyến tính để xác định xu hướng tăng trưởng doanh số</a:t>
            </a:r>
          </a:p>
          <a:p>
            <a:pPr>
              <a:buFont typeface="Arial" panose="020B0604020202020204" pitchFamily="34" charset="0"/>
              <a:buChar char="•"/>
            </a:pPr>
            <a:r>
              <a:rPr lang="vi-VN"/>
              <a:t>Ví dụ: Dự báo doanh số sẽ tăng khoảng 15% mỗi năm</a:t>
            </a:r>
          </a:p>
          <a:p>
            <a:pPr>
              <a:buFont typeface="+mj-lt"/>
              <a:buAutoNum type="arabicPeriod" startAt="2"/>
            </a:pPr>
            <a:r>
              <a:rPr lang="vi-VN"/>
              <a:t>Ảnh Hưởng Của Các Yếu Tố</a:t>
            </a:r>
          </a:p>
          <a:p>
            <a:pPr>
              <a:buFont typeface="Arial" panose="020B0604020202020204" pitchFamily="34" charset="0"/>
              <a:buChar char="•"/>
            </a:pPr>
            <a:r>
              <a:rPr lang="vi-VN"/>
              <a:t>Chi phí quảng cáo: Mỗi 1,000 USD chi cho quảng cáo làm tăng doanh số 5,000 USD</a:t>
            </a:r>
          </a:p>
          <a:p>
            <a:pPr>
              <a:buFont typeface="Arial" panose="020B0604020202020204" pitchFamily="34" charset="0"/>
              <a:buChar char="•"/>
            </a:pPr>
            <a:r>
              <a:rPr lang="vi-VN"/>
              <a:t>Số lượng sản phẩm mới: Mỗi sản phẩm mới tăng doanh số 50,000 USD</a:t>
            </a:r>
          </a:p>
          <a:p>
            <a:pPr>
              <a:buFont typeface="Arial" panose="020B0604020202020204" pitchFamily="34" charset="0"/>
              <a:buChar char="•"/>
            </a:pPr>
            <a:r>
              <a:rPr lang="vi-VN"/>
              <a:t>GDP: Khi GDP tăng 1%, doanh số tăng 2%</a:t>
            </a:r>
          </a:p>
          <a:p>
            <a:r>
              <a:rPr lang="vi-VN"/>
              <a:t>Phân Tích Mẫu:</a:t>
            </a:r>
          </a:p>
          <a:p>
            <a:pPr>
              <a:buFont typeface="+mj-lt"/>
              <a:buAutoNum type="arabicPeriod"/>
            </a:pPr>
            <a:r>
              <a:rPr lang="vi-VN"/>
              <a:t>Mùa Vụ</a:t>
            </a:r>
          </a:p>
          <a:p>
            <a:pPr>
              <a:buFont typeface="Arial" panose="020B0604020202020204" pitchFamily="34" charset="0"/>
              <a:buChar char="•"/>
            </a:pPr>
            <a:r>
              <a:rPr lang="vi-VN"/>
              <a:t>Nhận diện các mẫu theo mùa</a:t>
            </a:r>
          </a:p>
          <a:p>
            <a:pPr>
              <a:buFont typeface="Arial" panose="020B0604020202020204" pitchFamily="34" charset="0"/>
              <a:buChar char="•"/>
            </a:pPr>
            <a:r>
              <a:rPr lang="vi-VN"/>
              <a:t>Ví dụ: Doanh số tăng 30% vào dịp cuối năm (Giáng Sinh, Tết)</a:t>
            </a:r>
          </a:p>
          <a:p>
            <a:pPr>
              <a:buFont typeface="+mj-lt"/>
              <a:buAutoNum type="arabicPeriod" startAt="2"/>
            </a:pPr>
            <a:r>
              <a:rPr lang="vi-VN"/>
              <a:t>Dự Báo Và Kế Hoạch</a:t>
            </a:r>
          </a:p>
          <a:p>
            <a:pPr>
              <a:buFont typeface="Arial" panose="020B0604020202020204" pitchFamily="34" charset="0"/>
              <a:buChar char="•"/>
            </a:pPr>
            <a:r>
              <a:rPr lang="vi-VN"/>
              <a:t>Dự báo doanh số năm tới</a:t>
            </a:r>
          </a:p>
          <a:p>
            <a:pPr>
              <a:buFont typeface="Arial" panose="020B0604020202020204" pitchFamily="34" charset="0"/>
              <a:buChar char="•"/>
            </a:pPr>
            <a:r>
              <a:rPr lang="vi-VN"/>
              <a:t>Xác định chiến lược đầu tư</a:t>
            </a:r>
          </a:p>
          <a:p>
            <a:pPr>
              <a:buFont typeface="Arial" panose="020B0604020202020204" pitchFamily="34" charset="0"/>
              <a:buChar char="•"/>
            </a:pPr>
            <a:r>
              <a:rPr lang="vi-VN"/>
              <a:t>Lập kế hoạch sản xuất và marketing</a:t>
            </a:r>
          </a:p>
          <a:p>
            <a:r>
              <a:rPr lang="vi-VN"/>
              <a:t>Những Insights Quan Trọng:</a:t>
            </a:r>
          </a:p>
          <a:p>
            <a:pPr>
              <a:buFont typeface="Arial" panose="020B0604020202020204" pitchFamily="34" charset="0"/>
              <a:buChar char="•"/>
            </a:pPr>
            <a:r>
              <a:rPr lang="vi-VN"/>
              <a:t>Xác định yếu tố then chốt ảnh hưởng đến doanh số</a:t>
            </a:r>
          </a:p>
          <a:p>
            <a:pPr>
              <a:buFont typeface="Arial" panose="020B0604020202020204" pitchFamily="34" charset="0"/>
              <a:buChar char="•"/>
            </a:pPr>
            <a:r>
              <a:rPr lang="vi-VN"/>
              <a:t>Dự báo chính xác hơn về tăng trưởng</a:t>
            </a:r>
          </a:p>
          <a:p>
            <a:pPr>
              <a:buFont typeface="Arial" panose="020B0604020202020204" pitchFamily="34" charset="0"/>
              <a:buChar char="•"/>
            </a:pPr>
            <a:r>
              <a:rPr lang="vi-VN"/>
              <a:t>Hỗ trợ ra quyết định chiến lược</a:t>
            </a:r>
          </a:p>
          <a:p>
            <a:r>
              <a:rPr lang="vi-VN"/>
              <a:t>Lợi Ích Của Phân Tích:</a:t>
            </a:r>
          </a:p>
          <a:p>
            <a:pPr>
              <a:buFont typeface="Arial" panose="020B0604020202020204" pitchFamily="34" charset="0"/>
              <a:buChar char="•"/>
            </a:pPr>
            <a:r>
              <a:rPr lang="vi-VN"/>
              <a:t>Giúp quản lý hiểu rõ động lực kinh doanh</a:t>
            </a:r>
          </a:p>
          <a:p>
            <a:pPr>
              <a:buFont typeface="Arial" panose="020B0604020202020204" pitchFamily="34" charset="0"/>
              <a:buChar char="•"/>
            </a:pPr>
            <a:r>
              <a:rPr lang="vi-VN"/>
              <a:t>Hỗ trợ lập kế hoạch ngân sách</a:t>
            </a:r>
          </a:p>
          <a:p>
            <a:pPr>
              <a:buFont typeface="Arial" panose="020B0604020202020204" pitchFamily="34" charset="0"/>
              <a:buChar char="•"/>
            </a:pPr>
            <a:r>
              <a:rPr lang="vi-VN"/>
              <a:t>Đánh giá hiệu quả các chiến dịch marketing</a:t>
            </a:r>
          </a:p>
          <a:p>
            <a:pPr>
              <a:buFont typeface="Arial" panose="020B0604020202020204" pitchFamily="34" charset="0"/>
              <a:buChar char="•"/>
            </a:pPr>
            <a:r>
              <a:rPr lang="vi-VN"/>
              <a:t>Điều chỉnh chiến lược kinh doanh kịp thời</a:t>
            </a:r>
          </a:p>
          <a:p>
            <a:r>
              <a:rPr lang="vi-VN"/>
              <a:t>Phương Pháp Thực Hiện:</a:t>
            </a:r>
          </a:p>
          <a:p>
            <a:pPr>
              <a:buFont typeface="+mj-lt"/>
              <a:buAutoNum type="arabicPeriod"/>
            </a:pPr>
            <a:r>
              <a:rPr lang="vi-VN"/>
              <a:t>Thu thập dữ liệu đầy đủ</a:t>
            </a:r>
          </a:p>
          <a:p>
            <a:pPr>
              <a:buFont typeface="+mj-lt"/>
              <a:buAutoNum type="arabicPeriod"/>
            </a:pPr>
            <a:r>
              <a:rPr lang="vi-VN"/>
              <a:t>Làm sạch dữ liệu</a:t>
            </a:r>
          </a:p>
          <a:p>
            <a:pPr>
              <a:buFont typeface="+mj-lt"/>
              <a:buAutoNum type="arabicPeriod"/>
            </a:pPr>
            <a:r>
              <a:rPr lang="vi-VN"/>
              <a:t>Xây dựng mô hình hồi quy</a:t>
            </a:r>
          </a:p>
          <a:p>
            <a:pPr>
              <a:buFont typeface="+mj-lt"/>
              <a:buAutoNum type="arabicPeriod"/>
            </a:pPr>
            <a:r>
              <a:rPr lang="vi-VN"/>
              <a:t>Kiểm tra độ tin cậy của mô hình</a:t>
            </a:r>
          </a:p>
          <a:p>
            <a:pPr>
              <a:buFont typeface="+mj-lt"/>
              <a:buAutoNum type="arabicPeriod"/>
            </a:pPr>
            <a:r>
              <a:rPr lang="vi-VN"/>
              <a:t>Diễn giải kết quả</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11</a:t>
            </a:fld>
            <a:endParaRPr lang="en-US"/>
          </a:p>
        </p:txBody>
      </p:sp>
    </p:spTree>
    <p:extLst>
      <p:ext uri="{BB962C8B-B14F-4D97-AF65-F5344CB8AC3E}">
        <p14:creationId xmlns:p14="http://schemas.microsoft.com/office/powerpoint/2010/main" val="4247022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cung cấp ví dụ cụ thể cho từng giả định trong mô hình hồi quy tuyến tính:</a:t>
            </a:r>
          </a:p>
          <a:p>
            <a:pPr>
              <a:buFont typeface="+mj-lt"/>
              <a:buAutoNum type="arabicPeriod"/>
            </a:pPr>
            <a:r>
              <a:rPr lang="vi-VN" i="1"/>
              <a:t>Tính Tuyến Tính</a:t>
            </a:r>
            <a:r>
              <a:rPr lang="vi-VN"/>
              <a:t>: Ví dụ: Mối quan hệ giữa số giờ học và điểm số</a:t>
            </a:r>
          </a:p>
          <a:p>
            <a:pPr>
              <a:buFont typeface="Arial" panose="020B0604020202020204" pitchFamily="34" charset="0"/>
              <a:buChar char="•"/>
            </a:pPr>
            <a:r>
              <a:rPr lang="vi-VN"/>
              <a:t>Biểu diễn: Điểm số = 50 + 2 * (Số giờ học)</a:t>
            </a:r>
          </a:p>
          <a:p>
            <a:pPr>
              <a:buFont typeface="Arial" panose="020B0604020202020204" pitchFamily="34" charset="0"/>
              <a:buChar char="•"/>
            </a:pPr>
            <a:r>
              <a:rPr lang="vi-VN"/>
              <a:t>Đồ thị là một đường thẳng</a:t>
            </a:r>
          </a:p>
          <a:p>
            <a:pPr>
              <a:buFont typeface="Arial" panose="020B0604020202020204" pitchFamily="34" charset="0"/>
              <a:buChar char="•"/>
            </a:pPr>
            <a:r>
              <a:rPr lang="vi-VN"/>
              <a:t>Mỗi giờ học thêm dự kiến sẽ tăng điểm một cách đều đặn</a:t>
            </a:r>
          </a:p>
          <a:p>
            <a:pPr>
              <a:buFont typeface="Arial" panose="020B0604020202020204" pitchFamily="34" charset="0"/>
              <a:buChar char="•"/>
            </a:pPr>
            <a:r>
              <a:rPr lang="vi-VN"/>
              <a:t>Nếu mối quan hệ không phải đường thẳng (ví dụ là đường cong), thì vi phạm giả định tuyến tính</a:t>
            </a:r>
          </a:p>
          <a:p>
            <a:pPr>
              <a:buFont typeface="+mj-lt"/>
              <a:buAutoNum type="arabicPeriod" startAt="2"/>
            </a:pPr>
            <a:r>
              <a:rPr lang="vi-VN" i="1"/>
              <a:t>Độc Lập của Các Sai Số</a:t>
            </a:r>
            <a:r>
              <a:rPr lang="vi-VN"/>
              <a:t>: Ví dụ: Dự đoán giá nhà</a:t>
            </a:r>
          </a:p>
          <a:p>
            <a:pPr>
              <a:buFont typeface="Arial" panose="020B0604020202020204" pitchFamily="34" charset="0"/>
              <a:buChar char="•"/>
            </a:pPr>
            <a:r>
              <a:rPr lang="vi-VN"/>
              <a:t>Các sai số không nên có mẫu liên tiếp</a:t>
            </a:r>
          </a:p>
          <a:p>
            <a:pPr>
              <a:buFont typeface="Arial" panose="020B0604020202020204" pitchFamily="34" charset="0"/>
              <a:buChar char="•"/>
            </a:pPr>
            <a:r>
              <a:rPr lang="vi-VN"/>
              <a:t>Sai số của lần dự đoán này không ảnh hưởng đến sai số của lần dự đoán kế tiếp</a:t>
            </a:r>
          </a:p>
          <a:p>
            <a:pPr>
              <a:buFont typeface="Arial" panose="020B0604020202020204" pitchFamily="34" charset="0"/>
              <a:buChar char="•"/>
            </a:pPr>
            <a:r>
              <a:rPr lang="vi-VN"/>
              <a:t>Ví dụ sai: Nếu sai số liên tiếp có xu hướng tăng hoặc giảm</a:t>
            </a:r>
          </a:p>
          <a:p>
            <a:pPr>
              <a:buFont typeface="+mj-lt"/>
              <a:buAutoNum type="arabicPeriod" startAt="3"/>
            </a:pPr>
            <a:r>
              <a:rPr lang="vi-VN" i="1"/>
              <a:t>Phân Phối Chuẩn của Sai Số</a:t>
            </a:r>
            <a:r>
              <a:rPr lang="vi-VN"/>
              <a:t>: Ví dụ: Đánh giá hiệu quả nhân viên</a:t>
            </a:r>
          </a:p>
          <a:p>
            <a:pPr>
              <a:buFont typeface="Arial" panose="020B0604020202020204" pitchFamily="34" charset="0"/>
              <a:buChar char="•"/>
            </a:pPr>
            <a:r>
              <a:rPr lang="vi-VN"/>
              <a:t>Các sai số phân bố đối xứng quanh giá trị 0</a:t>
            </a:r>
          </a:p>
          <a:p>
            <a:pPr>
              <a:buFont typeface="Arial" panose="020B0604020202020204" pitchFamily="34" charset="0"/>
              <a:buChar char="•"/>
            </a:pPr>
            <a:r>
              <a:rPr lang="vi-VN"/>
              <a:t>Hình dạng phân phối giống chuông chuẩn</a:t>
            </a:r>
          </a:p>
          <a:p>
            <a:pPr>
              <a:buFont typeface="Arial" panose="020B0604020202020204" pitchFamily="34" charset="0"/>
              <a:buChar char="•"/>
            </a:pPr>
            <a:r>
              <a:rPr lang="vi-VN"/>
              <a:t>Nhiều sai số nhỏ, ít sai số lớn</a:t>
            </a:r>
          </a:p>
          <a:p>
            <a:pPr>
              <a:buFont typeface="Arial" panose="020B0604020202020204" pitchFamily="34" charset="0"/>
              <a:buChar char="•"/>
            </a:pPr>
            <a:r>
              <a:rPr lang="vi-VN"/>
              <a:t>Kiểm tra bằng biểu đồ Q-Q hoặc histogram của sai số</a:t>
            </a:r>
          </a:p>
          <a:p>
            <a:pPr>
              <a:buFont typeface="+mj-lt"/>
              <a:buAutoNum type="arabicPeriod" startAt="4"/>
            </a:pPr>
            <a:r>
              <a:rPr lang="vi-VN" i="1"/>
              <a:t>Homoscedasticity</a:t>
            </a:r>
            <a:r>
              <a:rPr lang="vi-VN"/>
              <a:t>: Ví dụ: Dự đoán chi tiêu của hộ gia đình</a:t>
            </a:r>
          </a:p>
          <a:p>
            <a:pPr>
              <a:buFont typeface="Arial" panose="020B0604020202020204" pitchFamily="34" charset="0"/>
              <a:buChar char="•"/>
            </a:pPr>
            <a:r>
              <a:rPr lang="vi-VN"/>
              <a:t>Phương sai sai số không thay đổi khi thu nhập tăng</a:t>
            </a:r>
          </a:p>
          <a:p>
            <a:pPr>
              <a:buFont typeface="Arial" panose="020B0604020202020204" pitchFamily="34" charset="0"/>
              <a:buChar char="•"/>
            </a:pPr>
            <a:r>
              <a:rPr lang="vi-VN"/>
              <a:t>Biểu đồ scatter: Độ rộng của điểm dữ liệu gần như không đổi</a:t>
            </a:r>
          </a:p>
          <a:p>
            <a:pPr>
              <a:buFont typeface="Arial" panose="020B0604020202020204" pitchFamily="34" charset="0"/>
              <a:buChar char="•"/>
            </a:pPr>
            <a:r>
              <a:rPr lang="vi-VN"/>
              <a:t>Nếu phương sai tăng theo thu nhập: Vi phạm giả định (Heteroscedasticity)</a:t>
            </a:r>
          </a:p>
          <a:p>
            <a:pPr>
              <a:buFont typeface="+mj-lt"/>
              <a:buAutoNum type="arabicPeriod" startAt="5"/>
            </a:pPr>
            <a:r>
              <a:rPr lang="vi-VN" i="1"/>
              <a:t>Hạn Chế Đa Cộng Tuyến</a:t>
            </a:r>
            <a:r>
              <a:rPr lang="vi-VN"/>
              <a:t>: Ví dụ: Dự đoán năng suất học tập</a:t>
            </a:r>
          </a:p>
          <a:p>
            <a:pPr>
              <a:buFont typeface="Arial" panose="020B0604020202020204" pitchFamily="34" charset="0"/>
              <a:buChar char="•"/>
            </a:pPr>
            <a:r>
              <a:rPr lang="vi-VN"/>
              <a:t>Các biến độc lập không quá tương quan</a:t>
            </a:r>
          </a:p>
          <a:p>
            <a:pPr>
              <a:buFont typeface="Arial" panose="020B0604020202020204" pitchFamily="34" charset="0"/>
              <a:buChar char="•"/>
            </a:pPr>
            <a:r>
              <a:rPr lang="vi-VN"/>
              <a:t>Sai: Dùng "số giờ học" và "thời gian ôn tập" cùng lúc (rất tương quan)</a:t>
            </a:r>
          </a:p>
          <a:p>
            <a:pPr>
              <a:buFont typeface="Arial" panose="020B0604020202020204" pitchFamily="34" charset="0"/>
              <a:buChar char="•"/>
            </a:pPr>
            <a:r>
              <a:rPr lang="vi-VN"/>
              <a:t>Đúng: Chọn các biến ít tương quan</a:t>
            </a:r>
          </a:p>
          <a:p>
            <a:pPr>
              <a:buFont typeface="Arial" panose="020B0604020202020204" pitchFamily="34" charset="0"/>
              <a:buChar char="•"/>
            </a:pPr>
            <a:r>
              <a:rPr lang="vi-VN"/>
              <a:t>Kiểm tra bằng phép đo VIF (Variance Inflation Factor)</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12</a:t>
            </a:fld>
            <a:endParaRPr lang="en-US"/>
          </a:p>
        </p:txBody>
      </p:sp>
    </p:spTree>
    <p:extLst>
      <p:ext uri="{BB962C8B-B14F-4D97-AF65-F5344CB8AC3E}">
        <p14:creationId xmlns:p14="http://schemas.microsoft.com/office/powerpoint/2010/main" val="2129592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cung cấp ví dụ cụ thể cho từng giả định trong mô hình hồi quy tuyến tính:</a:t>
            </a:r>
          </a:p>
          <a:p>
            <a:pPr>
              <a:buFont typeface="+mj-lt"/>
              <a:buAutoNum type="arabicPeriod"/>
            </a:pPr>
            <a:r>
              <a:rPr lang="vi-VN" i="1"/>
              <a:t>Tính Tuyến Tính</a:t>
            </a:r>
            <a:r>
              <a:rPr lang="vi-VN"/>
              <a:t>: Ví dụ: Mối quan hệ giữa số giờ học và điểm số</a:t>
            </a:r>
          </a:p>
          <a:p>
            <a:pPr>
              <a:buFont typeface="Arial" panose="020B0604020202020204" pitchFamily="34" charset="0"/>
              <a:buChar char="•"/>
            </a:pPr>
            <a:r>
              <a:rPr lang="vi-VN"/>
              <a:t>Biểu diễn: Điểm số = 50 + 2 * (Số giờ học)</a:t>
            </a:r>
          </a:p>
          <a:p>
            <a:pPr>
              <a:buFont typeface="Arial" panose="020B0604020202020204" pitchFamily="34" charset="0"/>
              <a:buChar char="•"/>
            </a:pPr>
            <a:r>
              <a:rPr lang="vi-VN"/>
              <a:t>Đồ thị là một đường thẳng</a:t>
            </a:r>
          </a:p>
          <a:p>
            <a:pPr>
              <a:buFont typeface="Arial" panose="020B0604020202020204" pitchFamily="34" charset="0"/>
              <a:buChar char="•"/>
            </a:pPr>
            <a:r>
              <a:rPr lang="vi-VN"/>
              <a:t>Mỗi giờ học thêm dự kiến sẽ tăng điểm một cách đều đặn</a:t>
            </a:r>
          </a:p>
          <a:p>
            <a:pPr>
              <a:buFont typeface="Arial" panose="020B0604020202020204" pitchFamily="34" charset="0"/>
              <a:buChar char="•"/>
            </a:pPr>
            <a:r>
              <a:rPr lang="vi-VN"/>
              <a:t>Nếu mối quan hệ không phải đường thẳng (ví dụ là đường cong), thì vi phạm giả định tuyến tính</a:t>
            </a:r>
          </a:p>
          <a:p>
            <a:pPr>
              <a:buFont typeface="+mj-lt"/>
              <a:buAutoNum type="arabicPeriod" startAt="2"/>
            </a:pPr>
            <a:r>
              <a:rPr lang="vi-VN" i="1"/>
              <a:t>Độc Lập của Các Sai Số</a:t>
            </a:r>
            <a:r>
              <a:rPr lang="vi-VN"/>
              <a:t>: Ví dụ: Dự đoán giá nhà</a:t>
            </a:r>
          </a:p>
          <a:p>
            <a:pPr>
              <a:buFont typeface="Arial" panose="020B0604020202020204" pitchFamily="34" charset="0"/>
              <a:buChar char="•"/>
            </a:pPr>
            <a:r>
              <a:rPr lang="vi-VN"/>
              <a:t>Các sai số không nên có mẫu liên tiếp</a:t>
            </a:r>
          </a:p>
          <a:p>
            <a:pPr>
              <a:buFont typeface="Arial" panose="020B0604020202020204" pitchFamily="34" charset="0"/>
              <a:buChar char="•"/>
            </a:pPr>
            <a:r>
              <a:rPr lang="vi-VN"/>
              <a:t>Sai số của lần dự đoán này không ảnh hưởng đến sai số của lần dự đoán kế tiếp</a:t>
            </a:r>
          </a:p>
          <a:p>
            <a:pPr>
              <a:buFont typeface="Arial" panose="020B0604020202020204" pitchFamily="34" charset="0"/>
              <a:buChar char="•"/>
            </a:pPr>
            <a:r>
              <a:rPr lang="vi-VN"/>
              <a:t>Ví dụ sai: Nếu sai số liên tiếp có xu hướng tăng hoặc giảm</a:t>
            </a:r>
          </a:p>
          <a:p>
            <a:pPr>
              <a:buFont typeface="+mj-lt"/>
              <a:buAutoNum type="arabicPeriod" startAt="3"/>
            </a:pPr>
            <a:r>
              <a:rPr lang="vi-VN" i="1"/>
              <a:t>Phân Phối Chuẩn của Sai Số</a:t>
            </a:r>
            <a:r>
              <a:rPr lang="vi-VN"/>
              <a:t>: Ví dụ: Đánh giá hiệu quả nhân viên</a:t>
            </a:r>
          </a:p>
          <a:p>
            <a:pPr>
              <a:buFont typeface="Arial" panose="020B0604020202020204" pitchFamily="34" charset="0"/>
              <a:buChar char="•"/>
            </a:pPr>
            <a:r>
              <a:rPr lang="vi-VN"/>
              <a:t>Các sai số phân bố đối xứng quanh giá trị 0</a:t>
            </a:r>
          </a:p>
          <a:p>
            <a:pPr>
              <a:buFont typeface="Arial" panose="020B0604020202020204" pitchFamily="34" charset="0"/>
              <a:buChar char="•"/>
            </a:pPr>
            <a:r>
              <a:rPr lang="vi-VN"/>
              <a:t>Hình dạng phân phối giống chuông chuẩn</a:t>
            </a:r>
          </a:p>
          <a:p>
            <a:pPr>
              <a:buFont typeface="Arial" panose="020B0604020202020204" pitchFamily="34" charset="0"/>
              <a:buChar char="•"/>
            </a:pPr>
            <a:r>
              <a:rPr lang="vi-VN"/>
              <a:t>Nhiều sai số nhỏ, ít sai số lớn</a:t>
            </a:r>
          </a:p>
          <a:p>
            <a:pPr>
              <a:buFont typeface="Arial" panose="020B0604020202020204" pitchFamily="34" charset="0"/>
              <a:buChar char="•"/>
            </a:pPr>
            <a:r>
              <a:rPr lang="vi-VN"/>
              <a:t>Kiểm tra bằng biểu đồ Q-Q hoặc histogram của sai số</a:t>
            </a:r>
          </a:p>
          <a:p>
            <a:pPr>
              <a:buFont typeface="+mj-lt"/>
              <a:buAutoNum type="arabicPeriod" startAt="4"/>
            </a:pPr>
            <a:r>
              <a:rPr lang="vi-VN" i="1"/>
              <a:t>Homoscedasticity</a:t>
            </a:r>
            <a:r>
              <a:rPr lang="vi-VN"/>
              <a:t>: Ví dụ: Dự đoán chi tiêu của hộ gia đình</a:t>
            </a:r>
          </a:p>
          <a:p>
            <a:pPr>
              <a:buFont typeface="Arial" panose="020B0604020202020204" pitchFamily="34" charset="0"/>
              <a:buChar char="•"/>
            </a:pPr>
            <a:r>
              <a:rPr lang="vi-VN"/>
              <a:t>Phương sai sai số không thay đổi khi thu nhập tăng</a:t>
            </a:r>
          </a:p>
          <a:p>
            <a:pPr>
              <a:buFont typeface="Arial" panose="020B0604020202020204" pitchFamily="34" charset="0"/>
              <a:buChar char="•"/>
            </a:pPr>
            <a:r>
              <a:rPr lang="vi-VN"/>
              <a:t>Biểu đồ scatter: Độ rộng của điểm dữ liệu gần như không đổi</a:t>
            </a:r>
          </a:p>
          <a:p>
            <a:pPr>
              <a:buFont typeface="Arial" panose="020B0604020202020204" pitchFamily="34" charset="0"/>
              <a:buChar char="•"/>
            </a:pPr>
            <a:r>
              <a:rPr lang="vi-VN"/>
              <a:t>Nếu phương sai tăng theo thu nhập: Vi phạm giả định (Heteroscedasticity)</a:t>
            </a:r>
          </a:p>
          <a:p>
            <a:pPr>
              <a:buFont typeface="+mj-lt"/>
              <a:buAutoNum type="arabicPeriod" startAt="5"/>
            </a:pPr>
            <a:r>
              <a:rPr lang="vi-VN" i="1"/>
              <a:t>Hạn Chế Đa Cộng Tuyến</a:t>
            </a:r>
            <a:r>
              <a:rPr lang="vi-VN"/>
              <a:t>: Ví dụ: Dự đoán năng suất học tập</a:t>
            </a:r>
          </a:p>
          <a:p>
            <a:pPr>
              <a:buFont typeface="Arial" panose="020B0604020202020204" pitchFamily="34" charset="0"/>
              <a:buChar char="•"/>
            </a:pPr>
            <a:r>
              <a:rPr lang="vi-VN"/>
              <a:t>Các biến độc lập không quá tương quan</a:t>
            </a:r>
          </a:p>
          <a:p>
            <a:pPr>
              <a:buFont typeface="Arial" panose="020B0604020202020204" pitchFamily="34" charset="0"/>
              <a:buChar char="•"/>
            </a:pPr>
            <a:r>
              <a:rPr lang="vi-VN"/>
              <a:t>Sai: Dùng "số giờ học" và "thời gian ôn tập" cùng lúc (rất tương quan)</a:t>
            </a:r>
          </a:p>
          <a:p>
            <a:pPr>
              <a:buFont typeface="Arial" panose="020B0604020202020204" pitchFamily="34" charset="0"/>
              <a:buChar char="•"/>
            </a:pPr>
            <a:r>
              <a:rPr lang="vi-VN"/>
              <a:t>Đúng: Chọn các biến ít tương quan</a:t>
            </a:r>
          </a:p>
          <a:p>
            <a:pPr>
              <a:buFont typeface="Arial" panose="020B0604020202020204" pitchFamily="34" charset="0"/>
              <a:buChar char="•"/>
            </a:pPr>
            <a:r>
              <a:rPr lang="vi-VN"/>
              <a:t>Kiểm tra bằng phép đo VIF (Variance Inflation Factor)</a:t>
            </a:r>
          </a:p>
          <a:p>
            <a:endParaRPr lang="en-US"/>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13</a:t>
            </a:fld>
            <a:endParaRPr lang="en-US"/>
          </a:p>
        </p:txBody>
      </p:sp>
    </p:spTree>
    <p:extLst>
      <p:ext uri="{BB962C8B-B14F-4D97-AF65-F5344CB8AC3E}">
        <p14:creationId xmlns:p14="http://schemas.microsoft.com/office/powerpoint/2010/main" val="2388416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i="1"/>
              <a:t>Hệ Số Hồi Quy (Regression Coefficients)</a:t>
            </a:r>
            <a:r>
              <a:rPr lang="vi-VN"/>
              <a:t>: Ví dụ: Dự đoán giá nhà</a:t>
            </a:r>
          </a:p>
          <a:p>
            <a:pPr>
              <a:buFont typeface="Arial" panose="020B0604020202020204" pitchFamily="34" charset="0"/>
              <a:buChar char="•"/>
            </a:pPr>
            <a:r>
              <a:rPr lang="vi-VN"/>
              <a:t>Mô hình: Giá nhà = </a:t>
            </a:r>
            <a:r>
              <a:rPr lang="el-GR"/>
              <a:t>β0 + β1*(</a:t>
            </a:r>
            <a:r>
              <a:rPr lang="vi-VN"/>
              <a:t>Diện tích) + </a:t>
            </a:r>
            <a:r>
              <a:rPr lang="el-GR"/>
              <a:t>β2*(</a:t>
            </a:r>
            <a:r>
              <a:rPr lang="vi-VN"/>
              <a:t>Số phòng) + </a:t>
            </a:r>
            <a:r>
              <a:rPr lang="el-GR"/>
              <a:t>β3*(</a:t>
            </a:r>
            <a:r>
              <a:rPr lang="vi-VN"/>
              <a:t>Khoảng cách đến trung tâm)</a:t>
            </a:r>
          </a:p>
          <a:p>
            <a:pPr>
              <a:buFont typeface="Arial" panose="020B0604020202020204" pitchFamily="34" charset="0"/>
              <a:buChar char="•"/>
            </a:pPr>
            <a:r>
              <a:rPr lang="el-GR"/>
              <a:t>β1 = 500: </a:t>
            </a:r>
            <a:r>
              <a:rPr lang="vi-VN"/>
              <a:t>Mỗi m² tăng thêm làm tăng giá nhà 500 USD</a:t>
            </a:r>
          </a:p>
          <a:p>
            <a:pPr>
              <a:buFont typeface="Arial" panose="020B0604020202020204" pitchFamily="34" charset="0"/>
              <a:buChar char="•"/>
            </a:pPr>
            <a:r>
              <a:rPr lang="el-GR"/>
              <a:t>β2 = 10,000: </a:t>
            </a:r>
            <a:r>
              <a:rPr lang="vi-VN"/>
              <a:t>Mỗi phòng thêm tăng giá 10,000 USD</a:t>
            </a:r>
          </a:p>
          <a:p>
            <a:pPr>
              <a:buFont typeface="Arial" panose="020B0604020202020204" pitchFamily="34" charset="0"/>
              <a:buChar char="•"/>
            </a:pPr>
            <a:r>
              <a:rPr lang="el-GR"/>
              <a:t>β3 = -1,000: </a:t>
            </a:r>
            <a:r>
              <a:rPr lang="vi-VN"/>
              <a:t>Mỗi km xa trung tâm giảm giá 1,000 USD</a:t>
            </a:r>
          </a:p>
          <a:p>
            <a:pPr>
              <a:buFont typeface="Arial" panose="020B0604020202020204" pitchFamily="34" charset="0"/>
              <a:buChar char="•"/>
            </a:pPr>
            <a:r>
              <a:rPr lang="vi-VN"/>
              <a:t>Hệ số cho biết tác động của từng biến độc lập</a:t>
            </a:r>
          </a:p>
          <a:p>
            <a:pPr>
              <a:buFont typeface="+mj-lt"/>
              <a:buAutoNum type="arabicPeriod" startAt="2"/>
            </a:pPr>
            <a:r>
              <a:rPr lang="vi-VN" i="1"/>
              <a:t>Điểm Chặn (Intercept)</a:t>
            </a:r>
            <a:r>
              <a:rPr lang="vi-VN"/>
              <a:t>: Ví dụ: Dự đoán doanh số bán hàng</a:t>
            </a:r>
          </a:p>
          <a:p>
            <a:pPr>
              <a:buFont typeface="Arial" panose="020B0604020202020204" pitchFamily="34" charset="0"/>
              <a:buChar char="•"/>
            </a:pPr>
            <a:r>
              <a:rPr lang="vi-VN"/>
              <a:t>Mô hình: Doanh số = 50,000 + 500*(Số nhân viên) + 1,000*(Chi quảng cáo)</a:t>
            </a:r>
          </a:p>
          <a:p>
            <a:pPr>
              <a:buFont typeface="Arial" panose="020B0604020202020204" pitchFamily="34" charset="0"/>
              <a:buChar char="•"/>
            </a:pPr>
            <a:r>
              <a:rPr lang="vi-VN"/>
              <a:t>Điểm chặn (</a:t>
            </a:r>
            <a:r>
              <a:rPr lang="el-GR"/>
              <a:t>β0) = 50,000: </a:t>
            </a:r>
            <a:r>
              <a:rPr lang="vi-VN"/>
              <a:t>Nếu không có nhân viên và không chi quảng cáo, doanh số dự kiến là 50,000 USD</a:t>
            </a:r>
          </a:p>
          <a:p>
            <a:pPr>
              <a:buFont typeface="Arial" panose="020B0604020202020204" pitchFamily="34" charset="0"/>
              <a:buChar char="•"/>
            </a:pPr>
            <a:r>
              <a:rPr lang="vi-VN"/>
              <a:t>Đại diện cho "điểm bắt đầu" của mô hình</a:t>
            </a:r>
          </a:p>
          <a:p>
            <a:pPr>
              <a:buFont typeface="+mj-lt"/>
              <a:buAutoNum type="arabicPeriod" startAt="3"/>
            </a:pPr>
            <a:r>
              <a:rPr lang="vi-VN" i="1"/>
              <a:t>Lỗi (Error Term)</a:t>
            </a:r>
            <a:r>
              <a:rPr lang="vi-VN"/>
              <a:t>: Ví dụ: Dự đoán điểm thi</a:t>
            </a:r>
          </a:p>
          <a:p>
            <a:pPr>
              <a:buFont typeface="Arial" panose="020B0604020202020204" pitchFamily="34" charset="0"/>
              <a:buChar char="•"/>
            </a:pPr>
            <a:r>
              <a:rPr lang="vi-VN"/>
              <a:t>Mô hình: Điểm = 50 + 2*(Số giờ học) + </a:t>
            </a:r>
            <a:r>
              <a:rPr lang="el-GR"/>
              <a:t>ε</a:t>
            </a:r>
          </a:p>
          <a:p>
            <a:pPr>
              <a:buFont typeface="Arial" panose="020B0604020202020204" pitchFamily="34" charset="0"/>
              <a:buChar char="•"/>
            </a:pPr>
            <a:r>
              <a:rPr lang="el-GR"/>
              <a:t>ε (</a:t>
            </a:r>
            <a:r>
              <a:rPr lang="vi-VN"/>
              <a:t>error term) thể hiện các yếu tố không được giải thích: </a:t>
            </a:r>
          </a:p>
          <a:p>
            <a:pPr marL="742950" lvl="1" indent="-285750">
              <a:buFont typeface="Arial" panose="020B0604020202020204" pitchFamily="34" charset="0"/>
              <a:buChar char="•"/>
            </a:pPr>
            <a:r>
              <a:rPr lang="vi-VN"/>
              <a:t>Sức khỏe của sinh viên</a:t>
            </a:r>
          </a:p>
          <a:p>
            <a:pPr marL="742950" lvl="1" indent="-285750">
              <a:buFont typeface="Arial" panose="020B0604020202020204" pitchFamily="34" charset="0"/>
              <a:buChar char="•"/>
            </a:pPr>
            <a:r>
              <a:rPr lang="vi-VN"/>
              <a:t>Chất lượng giảng dạy</a:t>
            </a:r>
          </a:p>
          <a:p>
            <a:pPr marL="742950" lvl="1" indent="-285750">
              <a:buFont typeface="Arial" panose="020B0604020202020204" pitchFamily="34" charset="0"/>
              <a:buChar char="•"/>
            </a:pPr>
            <a:r>
              <a:rPr lang="vi-VN"/>
              <a:t>Các yếu tố tâm lý khác</a:t>
            </a:r>
          </a:p>
          <a:p>
            <a:r>
              <a:rPr lang="en-US"/>
              <a:t>Ví dụ: Dự đoán 75 điểm, thực tế là 70 điểm → Lỗi là -5</a:t>
            </a:r>
          </a:p>
        </p:txBody>
      </p:sp>
      <p:sp>
        <p:nvSpPr>
          <p:cNvPr id="4" name="Slide Number Placeholder 3"/>
          <p:cNvSpPr>
            <a:spLocks noGrp="1"/>
          </p:cNvSpPr>
          <p:nvPr>
            <p:ph type="sldNum" sz="quarter" idx="5"/>
          </p:nvPr>
        </p:nvSpPr>
        <p:spPr/>
        <p:txBody>
          <a:bodyPr/>
          <a:lstStyle/>
          <a:p>
            <a:fld id="{903DFDE2-C36F-4F76-A40D-A690541279EF}" type="slidenum">
              <a:rPr lang="en-US" smtClean="0"/>
              <a:t>15</a:t>
            </a:fld>
            <a:endParaRPr lang="en-US"/>
          </a:p>
        </p:txBody>
      </p:sp>
    </p:spTree>
    <p:extLst>
      <p:ext uri="{BB962C8B-B14F-4D97-AF65-F5344CB8AC3E}">
        <p14:creationId xmlns:p14="http://schemas.microsoft.com/office/powerpoint/2010/main" val="4066942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startAt="4"/>
            </a:pPr>
            <a:r>
              <a:rPr lang="vi-VN" i="1"/>
              <a:t>Hệ Số Xác Định (R-squared)</a:t>
            </a:r>
            <a:r>
              <a:rPr lang="vi-VN"/>
              <a:t>: Ví dụ: Dự đoán năng suất công nhân</a:t>
            </a:r>
          </a:p>
          <a:p>
            <a:pPr>
              <a:buFont typeface="Arial" panose="020B0604020202020204" pitchFamily="34" charset="0"/>
              <a:buChar char="•"/>
            </a:pPr>
            <a:r>
              <a:rPr lang="vi-VN"/>
              <a:t>R² = 0.75 (75%)</a:t>
            </a:r>
          </a:p>
          <a:p>
            <a:pPr>
              <a:buFont typeface="Arial" panose="020B0604020202020204" pitchFamily="34" charset="0"/>
              <a:buChar char="•"/>
            </a:pPr>
            <a:r>
              <a:rPr lang="vi-VN"/>
              <a:t>Nghĩa là: 75% sự biến thiên trong năng suất được giải thích bởi các biến độc lập</a:t>
            </a:r>
          </a:p>
          <a:p>
            <a:pPr>
              <a:buFont typeface="Arial" panose="020B0604020202020204" pitchFamily="34" charset="0"/>
              <a:buChar char="•"/>
            </a:pPr>
            <a:r>
              <a:rPr lang="vi-VN"/>
              <a:t>25% còn lại do các yếu tố khác không nằm trong mô hình</a:t>
            </a:r>
          </a:p>
          <a:p>
            <a:pPr>
              <a:buFont typeface="Arial" panose="020B0604020202020204" pitchFamily="34" charset="0"/>
              <a:buChar char="•"/>
            </a:pPr>
            <a:r>
              <a:rPr lang="vi-VN"/>
              <a:t>R² càng gần 1 thì mô hình càng phù hợp</a:t>
            </a:r>
          </a:p>
          <a:p>
            <a:pPr>
              <a:buFont typeface="+mj-lt"/>
              <a:buAutoNum type="arabicPeriod" startAt="5"/>
            </a:pPr>
            <a:r>
              <a:rPr lang="vi-VN" i="1"/>
              <a:t>Tham Số Chuẩn Hóa</a:t>
            </a:r>
            <a:r>
              <a:rPr lang="vi-VN"/>
              <a:t>: Ví dụ: Dự đoán giá cổ phiếu</a:t>
            </a:r>
          </a:p>
          <a:p>
            <a:pPr>
              <a:buFont typeface="Arial" panose="020B0604020202020204" pitchFamily="34" charset="0"/>
              <a:buChar char="•"/>
            </a:pPr>
            <a:r>
              <a:rPr lang="vi-VN"/>
              <a:t>Không Chuẩn Hóa: Mô hình có thể bị ảnh hưởng bởi các biến có giá trị lớn</a:t>
            </a:r>
          </a:p>
          <a:p>
            <a:pPr>
              <a:buFont typeface="Arial" panose="020B0604020202020204" pitchFamily="34" charset="0"/>
              <a:buChar char="•"/>
            </a:pPr>
            <a:r>
              <a:rPr lang="vi-VN"/>
              <a:t>Sử dụng Ridge Regression (L2): </a:t>
            </a:r>
          </a:p>
          <a:p>
            <a:pPr marL="742950" lvl="1" indent="-285750">
              <a:buFont typeface="Arial" panose="020B0604020202020204" pitchFamily="34" charset="0"/>
              <a:buChar char="•"/>
            </a:pPr>
            <a:r>
              <a:rPr lang="el-GR"/>
              <a:t>Λ (</a:t>
            </a:r>
            <a:r>
              <a:rPr lang="vi-VN"/>
              <a:t>lambda) = 0.1: Giảm nhẹ ảnh hưởng của các hệ số</a:t>
            </a:r>
          </a:p>
          <a:p>
            <a:pPr marL="742950" lvl="1" indent="-285750">
              <a:buFont typeface="Arial" panose="020B0604020202020204" pitchFamily="34" charset="0"/>
              <a:buChar char="•"/>
            </a:pPr>
            <a:r>
              <a:rPr lang="vi-VN"/>
              <a:t>Ngăn chặn overfitting</a:t>
            </a:r>
          </a:p>
          <a:p>
            <a:pPr marL="742950" lvl="1" indent="-285750">
              <a:buFont typeface="Arial" panose="020B0604020202020204" pitchFamily="34" charset="0"/>
              <a:buChar char="•"/>
            </a:pPr>
            <a:r>
              <a:rPr lang="vi-VN"/>
              <a:t>Giảm độ nhạy với các biến có giá trị cực đoan</a:t>
            </a:r>
          </a:p>
          <a:p>
            <a:pPr>
              <a:buFont typeface="+mj-lt"/>
              <a:buAutoNum type="arabicPeriod" startAt="6"/>
            </a:pPr>
            <a:r>
              <a:rPr lang="vi-VN" i="1"/>
              <a:t>Tiêu Chí Dừng (Stopping Criteria)</a:t>
            </a:r>
            <a:r>
              <a:rPr lang="vi-VN"/>
              <a:t>: Ví dụ: Huấn luyện mô hình học máy</a:t>
            </a:r>
          </a:p>
          <a:p>
            <a:pPr>
              <a:buFont typeface="Arial" panose="020B0604020202020204" pitchFamily="34" charset="0"/>
              <a:buChar char="•"/>
            </a:pPr>
            <a:r>
              <a:rPr lang="vi-VN"/>
              <a:t>Tiêu chí 1: Dừng khi sai số &lt; 0.01</a:t>
            </a:r>
          </a:p>
          <a:p>
            <a:pPr>
              <a:buFont typeface="Arial" panose="020B0604020202020204" pitchFamily="34" charset="0"/>
              <a:buChar char="•"/>
            </a:pPr>
            <a:r>
              <a:rPr lang="vi-VN"/>
              <a:t>Tiêu chí 2: Tối đa 1,000 lần lặp</a:t>
            </a:r>
          </a:p>
          <a:p>
            <a:pPr>
              <a:buFont typeface="Arial" panose="020B0604020202020204" pitchFamily="34" charset="0"/>
              <a:buChar char="•"/>
            </a:pPr>
            <a:r>
              <a:rPr lang="vi-VN"/>
              <a:t>Tiêu chí 3: Không cải thiện hàm mất mát sau 50 lần lặp</a:t>
            </a:r>
          </a:p>
          <a:p>
            <a:pPr>
              <a:buFont typeface="Arial" panose="020B0604020202020204" pitchFamily="34" charset="0"/>
              <a:buChar char="•"/>
            </a:pPr>
            <a:r>
              <a:rPr lang="vi-VN"/>
              <a:t>Mục tiêu: Tìm được mô hình tối ưu mà không bị quá khớp</a:t>
            </a:r>
          </a:p>
          <a:p>
            <a:r>
              <a:rPr lang="vi-VN"/>
              <a:t>Minh Họa Tổng Hợp:</a:t>
            </a:r>
          </a:p>
          <a:p>
            <a:r>
              <a:rPr lang="vi-VN"/>
              <a:t>Nghiên Cứu Trường Hợp: Dự Đoán Mức Lương</a:t>
            </a:r>
          </a:p>
          <a:p>
            <a:r>
              <a:rPr lang="vi-VN"/>
              <a:t>Mô Hình: Lương = 20,000 + 500*(Năm kinh nghiệm) + 1,000*(Bằng cấp) - 100*(Khoảng cách) + </a:t>
            </a:r>
            <a:r>
              <a:rPr lang="el-GR"/>
              <a:t>ε</a:t>
            </a:r>
          </a:p>
          <a:p>
            <a:pPr>
              <a:buFont typeface="Arial" panose="020B0604020202020204" pitchFamily="34" charset="0"/>
              <a:buChar char="•"/>
            </a:pPr>
            <a:r>
              <a:rPr lang="vi-VN"/>
              <a:t>Hệ Số Hồi Quy: </a:t>
            </a:r>
          </a:p>
          <a:p>
            <a:pPr marL="742950" lvl="1" indent="-285750">
              <a:buFont typeface="Arial" panose="020B0604020202020204" pitchFamily="34" charset="0"/>
              <a:buChar char="•"/>
            </a:pPr>
            <a:r>
              <a:rPr lang="vi-VN"/>
              <a:t>Năm kinh nghiệm: +500 USD/năm</a:t>
            </a:r>
          </a:p>
          <a:p>
            <a:pPr marL="742950" lvl="1" indent="-285750">
              <a:buFont typeface="Arial" panose="020B0604020202020204" pitchFamily="34" charset="0"/>
              <a:buChar char="•"/>
            </a:pPr>
            <a:r>
              <a:rPr lang="vi-VN"/>
              <a:t>Bằng cấp: +1,000 USD/cấp</a:t>
            </a:r>
          </a:p>
          <a:p>
            <a:pPr marL="742950" lvl="1" indent="-285750">
              <a:buFont typeface="Arial" panose="020B0604020202020204" pitchFamily="34" charset="0"/>
              <a:buChar char="•"/>
            </a:pPr>
            <a:r>
              <a:rPr lang="vi-VN"/>
              <a:t>Khoảng cách: -100 USD/km</a:t>
            </a:r>
          </a:p>
          <a:p>
            <a:pPr>
              <a:buFont typeface="Arial" panose="020B0604020202020204" pitchFamily="34" charset="0"/>
              <a:buChar char="•"/>
            </a:pPr>
            <a:r>
              <a:rPr lang="vi-VN"/>
              <a:t>Điểm Chặn: 20,000 USD (mức lương cơ bản)</a:t>
            </a:r>
          </a:p>
          <a:p>
            <a:pPr>
              <a:buFont typeface="Arial" panose="020B0604020202020204" pitchFamily="34" charset="0"/>
              <a:buChar char="•"/>
            </a:pPr>
            <a:r>
              <a:rPr lang="vi-VN"/>
              <a:t>Lỗi (</a:t>
            </a:r>
            <a:r>
              <a:rPr lang="el-GR"/>
              <a:t>ε): </a:t>
            </a:r>
            <a:r>
              <a:rPr lang="vi-VN"/>
              <a:t>Các yếu tố không lường trước</a:t>
            </a:r>
          </a:p>
          <a:p>
            <a:pPr>
              <a:buFont typeface="Arial" panose="020B0604020202020204" pitchFamily="34" charset="0"/>
              <a:buChar char="•"/>
            </a:pPr>
            <a:r>
              <a:rPr lang="vi-VN"/>
              <a:t>R²: 0.65 (65% sự biến thiên được giải thích)</a:t>
            </a:r>
          </a:p>
          <a:p>
            <a:pPr>
              <a:buFont typeface="Arial" panose="020B0604020202020204" pitchFamily="34" charset="0"/>
              <a:buChar char="•"/>
            </a:pPr>
            <a:r>
              <a:rPr lang="vi-VN"/>
              <a:t>Chuẩn Hóa: </a:t>
            </a:r>
            <a:r>
              <a:rPr lang="el-GR"/>
              <a:t>Λ = 0.05 </a:t>
            </a:r>
            <a:r>
              <a:rPr lang="vi-VN"/>
              <a:t>để tránh overfitting</a:t>
            </a:r>
          </a:p>
          <a:p>
            <a:pPr>
              <a:buFont typeface="Arial" panose="020B0604020202020204" pitchFamily="34" charset="0"/>
              <a:buChar char="•"/>
            </a:pPr>
            <a:r>
              <a:rPr lang="vi-VN"/>
              <a:t>Tiêu Chí Dừng: Sai số &lt; 0.02 hoặc 500 lần lặp</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19</a:t>
            </a:fld>
            <a:endParaRPr lang="en-US"/>
          </a:p>
        </p:txBody>
      </p:sp>
    </p:spTree>
    <p:extLst>
      <p:ext uri="{BB962C8B-B14F-4D97-AF65-F5344CB8AC3E}">
        <p14:creationId xmlns:p14="http://schemas.microsoft.com/office/powerpoint/2010/main" val="2037136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startAt="4"/>
            </a:pPr>
            <a:r>
              <a:rPr lang="vi-VN" i="1"/>
              <a:t>Hệ Số Xác Định (R-squared)</a:t>
            </a:r>
            <a:r>
              <a:rPr lang="vi-VN"/>
              <a:t>: Ví dụ: Dự đoán năng suất công nhân</a:t>
            </a:r>
          </a:p>
          <a:p>
            <a:pPr>
              <a:buFont typeface="Arial" panose="020B0604020202020204" pitchFamily="34" charset="0"/>
              <a:buChar char="•"/>
            </a:pPr>
            <a:r>
              <a:rPr lang="vi-VN"/>
              <a:t>R² = 0.75 (75%)</a:t>
            </a:r>
          </a:p>
          <a:p>
            <a:pPr>
              <a:buFont typeface="Arial" panose="020B0604020202020204" pitchFamily="34" charset="0"/>
              <a:buChar char="•"/>
            </a:pPr>
            <a:r>
              <a:rPr lang="vi-VN"/>
              <a:t>Nghĩa là: 75% sự biến thiên trong năng suất được giải thích bởi các biến độc lập</a:t>
            </a:r>
          </a:p>
          <a:p>
            <a:pPr>
              <a:buFont typeface="Arial" panose="020B0604020202020204" pitchFamily="34" charset="0"/>
              <a:buChar char="•"/>
            </a:pPr>
            <a:r>
              <a:rPr lang="vi-VN"/>
              <a:t>25% còn lại do các yếu tố khác không nằm trong mô hình</a:t>
            </a:r>
          </a:p>
          <a:p>
            <a:pPr>
              <a:buFont typeface="Arial" panose="020B0604020202020204" pitchFamily="34" charset="0"/>
              <a:buChar char="•"/>
            </a:pPr>
            <a:r>
              <a:rPr lang="vi-VN"/>
              <a:t>R² càng gần 1 thì mô hình càng phù hợp</a:t>
            </a:r>
          </a:p>
          <a:p>
            <a:pPr>
              <a:buFont typeface="+mj-lt"/>
              <a:buAutoNum type="arabicPeriod" startAt="5"/>
            </a:pPr>
            <a:r>
              <a:rPr lang="vi-VN" i="1"/>
              <a:t>Tham Số Chuẩn Hóa</a:t>
            </a:r>
            <a:r>
              <a:rPr lang="vi-VN"/>
              <a:t>: Ví dụ: Dự đoán giá cổ phiếu</a:t>
            </a:r>
          </a:p>
          <a:p>
            <a:pPr>
              <a:buFont typeface="Arial" panose="020B0604020202020204" pitchFamily="34" charset="0"/>
              <a:buChar char="•"/>
            </a:pPr>
            <a:r>
              <a:rPr lang="vi-VN"/>
              <a:t>Không Chuẩn Hóa: Mô hình có thể bị ảnh hưởng bởi các biến có giá trị lớn</a:t>
            </a:r>
          </a:p>
          <a:p>
            <a:pPr>
              <a:buFont typeface="Arial" panose="020B0604020202020204" pitchFamily="34" charset="0"/>
              <a:buChar char="•"/>
            </a:pPr>
            <a:r>
              <a:rPr lang="vi-VN"/>
              <a:t>Sử dụng Ridge Regression (L2): </a:t>
            </a:r>
          </a:p>
          <a:p>
            <a:pPr marL="742950" lvl="1" indent="-285750">
              <a:buFont typeface="Arial" panose="020B0604020202020204" pitchFamily="34" charset="0"/>
              <a:buChar char="•"/>
            </a:pPr>
            <a:r>
              <a:rPr lang="el-GR"/>
              <a:t>Λ (</a:t>
            </a:r>
            <a:r>
              <a:rPr lang="vi-VN"/>
              <a:t>lambda) = 0.1: Giảm nhẹ ảnh hưởng của các hệ số</a:t>
            </a:r>
          </a:p>
          <a:p>
            <a:pPr marL="742950" lvl="1" indent="-285750">
              <a:buFont typeface="Arial" panose="020B0604020202020204" pitchFamily="34" charset="0"/>
              <a:buChar char="•"/>
            </a:pPr>
            <a:r>
              <a:rPr lang="vi-VN"/>
              <a:t>Ngăn chặn overfitting</a:t>
            </a:r>
          </a:p>
          <a:p>
            <a:pPr marL="742950" lvl="1" indent="-285750">
              <a:buFont typeface="Arial" panose="020B0604020202020204" pitchFamily="34" charset="0"/>
              <a:buChar char="•"/>
            </a:pPr>
            <a:r>
              <a:rPr lang="vi-VN"/>
              <a:t>Giảm độ nhạy với các biến có giá trị cực đoan</a:t>
            </a:r>
          </a:p>
          <a:p>
            <a:pPr>
              <a:buFont typeface="+mj-lt"/>
              <a:buAutoNum type="arabicPeriod" startAt="6"/>
            </a:pPr>
            <a:r>
              <a:rPr lang="vi-VN" i="1"/>
              <a:t>Tiêu Chí Dừng (Stopping Criteria)</a:t>
            </a:r>
            <a:r>
              <a:rPr lang="vi-VN"/>
              <a:t>: Ví dụ: Huấn luyện mô hình học máy</a:t>
            </a:r>
          </a:p>
          <a:p>
            <a:pPr>
              <a:buFont typeface="Arial" panose="020B0604020202020204" pitchFamily="34" charset="0"/>
              <a:buChar char="•"/>
            </a:pPr>
            <a:r>
              <a:rPr lang="vi-VN"/>
              <a:t>Tiêu chí 1: Dừng khi sai số &lt; 0.01</a:t>
            </a:r>
          </a:p>
          <a:p>
            <a:pPr>
              <a:buFont typeface="Arial" panose="020B0604020202020204" pitchFamily="34" charset="0"/>
              <a:buChar char="•"/>
            </a:pPr>
            <a:r>
              <a:rPr lang="vi-VN"/>
              <a:t>Tiêu chí 2: Tối đa 1,000 lần lặp</a:t>
            </a:r>
          </a:p>
          <a:p>
            <a:pPr>
              <a:buFont typeface="Arial" panose="020B0604020202020204" pitchFamily="34" charset="0"/>
              <a:buChar char="•"/>
            </a:pPr>
            <a:r>
              <a:rPr lang="vi-VN"/>
              <a:t>Tiêu chí 3: Không cải thiện hàm mất mát sau 50 lần lặp</a:t>
            </a:r>
          </a:p>
          <a:p>
            <a:pPr>
              <a:buFont typeface="Arial" panose="020B0604020202020204" pitchFamily="34" charset="0"/>
              <a:buChar char="•"/>
            </a:pPr>
            <a:r>
              <a:rPr lang="vi-VN"/>
              <a:t>Mục tiêu: Tìm được mô hình tối ưu mà không bị quá khớp</a:t>
            </a:r>
          </a:p>
          <a:p>
            <a:r>
              <a:rPr lang="vi-VN"/>
              <a:t>Minh Họa Tổng Hợp:</a:t>
            </a:r>
          </a:p>
          <a:p>
            <a:r>
              <a:rPr lang="vi-VN"/>
              <a:t>Nghiên Cứu Trường Hợp: Dự Đoán Mức Lương</a:t>
            </a:r>
          </a:p>
          <a:p>
            <a:r>
              <a:rPr lang="vi-VN"/>
              <a:t>Mô Hình: Lương = 20,000 + 500*(Năm kinh nghiệm) + 1,000*(Bằng cấp) - 100*(Khoảng cách) + </a:t>
            </a:r>
            <a:r>
              <a:rPr lang="el-GR"/>
              <a:t>ε</a:t>
            </a:r>
          </a:p>
          <a:p>
            <a:pPr>
              <a:buFont typeface="Arial" panose="020B0604020202020204" pitchFamily="34" charset="0"/>
              <a:buChar char="•"/>
            </a:pPr>
            <a:r>
              <a:rPr lang="vi-VN"/>
              <a:t>Hệ Số Hồi Quy: </a:t>
            </a:r>
          </a:p>
          <a:p>
            <a:pPr marL="742950" lvl="1" indent="-285750">
              <a:buFont typeface="Arial" panose="020B0604020202020204" pitchFamily="34" charset="0"/>
              <a:buChar char="•"/>
            </a:pPr>
            <a:r>
              <a:rPr lang="vi-VN"/>
              <a:t>Năm kinh nghiệm: +500 USD/năm</a:t>
            </a:r>
          </a:p>
          <a:p>
            <a:pPr marL="742950" lvl="1" indent="-285750">
              <a:buFont typeface="Arial" panose="020B0604020202020204" pitchFamily="34" charset="0"/>
              <a:buChar char="•"/>
            </a:pPr>
            <a:r>
              <a:rPr lang="vi-VN"/>
              <a:t>Bằng cấp: +1,000 USD/cấp</a:t>
            </a:r>
          </a:p>
          <a:p>
            <a:pPr marL="742950" lvl="1" indent="-285750">
              <a:buFont typeface="Arial" panose="020B0604020202020204" pitchFamily="34" charset="0"/>
              <a:buChar char="•"/>
            </a:pPr>
            <a:r>
              <a:rPr lang="vi-VN"/>
              <a:t>Khoảng cách: -100 USD/km</a:t>
            </a:r>
          </a:p>
          <a:p>
            <a:pPr>
              <a:buFont typeface="Arial" panose="020B0604020202020204" pitchFamily="34" charset="0"/>
              <a:buChar char="•"/>
            </a:pPr>
            <a:r>
              <a:rPr lang="vi-VN"/>
              <a:t>Điểm Chặn: 20,000 USD (mức lương cơ bản)</a:t>
            </a:r>
          </a:p>
          <a:p>
            <a:pPr>
              <a:buFont typeface="Arial" panose="020B0604020202020204" pitchFamily="34" charset="0"/>
              <a:buChar char="•"/>
            </a:pPr>
            <a:r>
              <a:rPr lang="vi-VN"/>
              <a:t>Lỗi (</a:t>
            </a:r>
            <a:r>
              <a:rPr lang="el-GR"/>
              <a:t>ε): </a:t>
            </a:r>
            <a:r>
              <a:rPr lang="vi-VN"/>
              <a:t>Các yếu tố không lường trước</a:t>
            </a:r>
          </a:p>
          <a:p>
            <a:pPr>
              <a:buFont typeface="Arial" panose="020B0604020202020204" pitchFamily="34" charset="0"/>
              <a:buChar char="•"/>
            </a:pPr>
            <a:r>
              <a:rPr lang="vi-VN"/>
              <a:t>R²: 0.65 (65% sự biến thiên được giải thích)</a:t>
            </a:r>
          </a:p>
          <a:p>
            <a:pPr>
              <a:buFont typeface="Arial" panose="020B0604020202020204" pitchFamily="34" charset="0"/>
              <a:buChar char="•"/>
            </a:pPr>
            <a:r>
              <a:rPr lang="vi-VN"/>
              <a:t>Chuẩn Hóa: </a:t>
            </a:r>
            <a:r>
              <a:rPr lang="el-GR"/>
              <a:t>Λ = 0.05 </a:t>
            </a:r>
            <a:r>
              <a:rPr lang="vi-VN"/>
              <a:t>để tránh overfitting</a:t>
            </a:r>
          </a:p>
          <a:p>
            <a:pPr>
              <a:buFont typeface="Arial" panose="020B0604020202020204" pitchFamily="34" charset="0"/>
              <a:buChar char="•"/>
            </a:pPr>
            <a:r>
              <a:rPr lang="vi-VN"/>
              <a:t>Tiêu Chí Dừng: Sai số &lt; 0.02 hoặc 500 lần lặp</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20</a:t>
            </a:fld>
            <a:endParaRPr lang="en-US"/>
          </a:p>
        </p:txBody>
      </p:sp>
    </p:spTree>
    <p:extLst>
      <p:ext uri="{BB962C8B-B14F-4D97-AF65-F5344CB8AC3E}">
        <p14:creationId xmlns:p14="http://schemas.microsoft.com/office/powerpoint/2010/main" val="4221386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giải thích ba đặc điểm của hồi quy logistic bằng những ví dụ thực tế dễ hiểu:</a:t>
            </a:r>
          </a:p>
          <a:p>
            <a:pPr>
              <a:buFont typeface="+mj-lt"/>
              <a:buAutoNum type="arabicPeriod"/>
            </a:pPr>
            <a:r>
              <a:rPr lang="vi-VN" b="1" i="1"/>
              <a:t>Phân lớp và dự đoán</a:t>
            </a:r>
            <a:r>
              <a:rPr lang="vi-VN"/>
              <a:t>: Ví dụ về dự đoán khả năng mắc bệnh tim</a:t>
            </a:r>
          </a:p>
          <a:p>
            <a:pPr>
              <a:buFont typeface="Arial" panose="020B0604020202020204" pitchFamily="34" charset="0"/>
              <a:buChar char="•"/>
            </a:pPr>
            <a:r>
              <a:rPr lang="vi-VN"/>
              <a:t>Giả sử bạn là bác sĩ muốn dự đoán nguy cơ mắc bệnh tim của bệnh nhân</a:t>
            </a:r>
          </a:p>
          <a:p>
            <a:pPr>
              <a:buFont typeface="Arial" panose="020B0604020202020204" pitchFamily="34" charset="0"/>
              <a:buChar char="•"/>
            </a:pPr>
            <a:r>
              <a:rPr lang="vi-VN"/>
              <a:t>Các biến độc lập: tuổi, huyết áp, mức cholesterol, chế độ ăn</a:t>
            </a:r>
          </a:p>
          <a:p>
            <a:pPr>
              <a:buFont typeface="Arial" panose="020B0604020202020204" pitchFamily="34" charset="0"/>
              <a:buChar char="•"/>
            </a:pPr>
            <a:r>
              <a:rPr lang="vi-VN"/>
              <a:t>Biến phụ thuộc: mắc bệnh tim (Có/Không)</a:t>
            </a:r>
          </a:p>
          <a:p>
            <a:pPr>
              <a:buFont typeface="Arial" panose="020B0604020202020204" pitchFamily="34" charset="0"/>
              <a:buChar char="•"/>
            </a:pPr>
            <a:r>
              <a:rPr lang="vi-VN"/>
              <a:t>Mô hình logistic sẽ phân loại bệnh nhân vào nhóm "Có nguy cơ" hoặc "Không có nguy cơ"</a:t>
            </a:r>
          </a:p>
          <a:p>
            <a:pPr>
              <a:buFont typeface="+mj-lt"/>
              <a:buAutoNum type="arabicPeriod" startAt="2"/>
            </a:pPr>
            <a:r>
              <a:rPr lang="vi-VN" b="1" i="1"/>
              <a:t>Xác định mức độ ảnh hưởng của biến độc lập</a:t>
            </a:r>
            <a:r>
              <a:rPr lang="vi-VN"/>
              <a:t>: Tiếp tục ví dụ trên, mô hình sẽ cho biết:</a:t>
            </a:r>
          </a:p>
          <a:p>
            <a:pPr>
              <a:buFont typeface="Arial" panose="020B0604020202020204" pitchFamily="34" charset="0"/>
              <a:buChar char="•"/>
            </a:pPr>
            <a:r>
              <a:rPr lang="vi-VN"/>
              <a:t>Tuổi tác ảnh hưởng nhiều nhất đến nguy cơ bệnh tim</a:t>
            </a:r>
          </a:p>
          <a:p>
            <a:pPr>
              <a:buFont typeface="Arial" panose="020B0604020202020204" pitchFamily="34" charset="0"/>
              <a:buChar char="•"/>
            </a:pPr>
            <a:r>
              <a:rPr lang="vi-VN"/>
              <a:t>Huyết áp cao có ảnh hưởng mạnh hơn chế độ ăn</a:t>
            </a:r>
          </a:p>
          <a:p>
            <a:pPr>
              <a:buFont typeface="Arial" panose="020B0604020202020204" pitchFamily="34" charset="0"/>
              <a:buChar char="•"/>
            </a:pPr>
            <a:r>
              <a:rPr lang="vi-VN"/>
              <a:t>Mức cholesterol có tác động như thế nào đến khả năng mắc bệnh</a:t>
            </a:r>
          </a:p>
          <a:p>
            <a:pPr>
              <a:buFont typeface="+mj-lt"/>
              <a:buAutoNum type="arabicPeriod" startAt="3"/>
            </a:pPr>
            <a:r>
              <a:rPr lang="vi-VN" b="1" i="1"/>
              <a:t>Tính toán xác suất sự kiện</a:t>
            </a:r>
            <a:r>
              <a:rPr lang="vi-VN"/>
              <a:t>: Một bệnh nhân 45 tuổi:</a:t>
            </a:r>
          </a:p>
          <a:p>
            <a:pPr>
              <a:buFont typeface="Arial" panose="020B0604020202020204" pitchFamily="34" charset="0"/>
              <a:buChar char="•"/>
            </a:pPr>
            <a:r>
              <a:rPr lang="vi-VN"/>
              <a:t>Huyết áp: 140/90</a:t>
            </a:r>
          </a:p>
          <a:p>
            <a:pPr>
              <a:buFont typeface="Arial" panose="020B0604020202020204" pitchFamily="34" charset="0"/>
              <a:buChar char="•"/>
            </a:pPr>
            <a:r>
              <a:rPr lang="vi-VN"/>
              <a:t>Cholesterol: 250</a:t>
            </a:r>
          </a:p>
          <a:p>
            <a:pPr>
              <a:buFont typeface="Arial" panose="020B0604020202020204" pitchFamily="34" charset="0"/>
              <a:buChar char="•"/>
            </a:pPr>
            <a:r>
              <a:rPr lang="vi-VN"/>
              <a:t>Chế độ ăn không lành mạnh</a:t>
            </a:r>
          </a:p>
          <a:p>
            <a:r>
              <a:rPr lang="vi-VN"/>
              <a:t>Mô hình logistic sẽ tính toán:</a:t>
            </a:r>
          </a:p>
          <a:p>
            <a:pPr>
              <a:buFont typeface="Arial" panose="020B0604020202020204" pitchFamily="34" charset="0"/>
              <a:buChar char="•"/>
            </a:pPr>
            <a:r>
              <a:rPr lang="vi-VN"/>
              <a:t>Xác suất mắc bệnh tim là 65%</a:t>
            </a:r>
          </a:p>
          <a:p>
            <a:pPr>
              <a:buFont typeface="Arial" panose="020B0604020202020204" pitchFamily="34" charset="0"/>
              <a:buChar char="•"/>
            </a:pPr>
            <a:r>
              <a:rPr lang="vi-VN"/>
              <a:t>Có nghĩa là với các chỉ số này, bệnh nhân có 65% khả năng mắc bệnh tim trong 10 năm tới</a:t>
            </a:r>
          </a:p>
          <a:p>
            <a:r>
              <a:rPr lang="vi-VN" b="1" i="1"/>
              <a:t>Ví dụ thực tế khác</a:t>
            </a:r>
            <a:r>
              <a:rPr lang="vi-VN"/>
              <a:t>:</a:t>
            </a:r>
          </a:p>
          <a:p>
            <a:pPr>
              <a:buFont typeface="+mj-lt"/>
              <a:buAutoNum type="arabicPeriod"/>
            </a:pPr>
            <a:r>
              <a:rPr lang="vi-VN"/>
              <a:t>Ngân hàng dự đoán khả năng vỡ nợ của khách hàng</a:t>
            </a:r>
          </a:p>
          <a:p>
            <a:pPr>
              <a:buFont typeface="Arial" panose="020B0604020202020204" pitchFamily="34" charset="0"/>
              <a:buChar char="•"/>
            </a:pPr>
            <a:r>
              <a:rPr lang="vi-VN"/>
              <a:t>Biến độc lập: thu nhập, tuổi, tiền sử tín dụng</a:t>
            </a:r>
          </a:p>
          <a:p>
            <a:pPr>
              <a:buFont typeface="Arial" panose="020B0604020202020204" pitchFamily="34" charset="0"/>
              <a:buChar char="•"/>
            </a:pPr>
            <a:r>
              <a:rPr lang="vi-VN"/>
              <a:t>Biến phụ thuộc: vỡ nợ (Có/Không)</a:t>
            </a:r>
          </a:p>
          <a:p>
            <a:pPr>
              <a:buFont typeface="+mj-lt"/>
              <a:buAutoNum type="arabicPeriod" startAt="2"/>
            </a:pPr>
            <a:r>
              <a:rPr lang="vi-VN"/>
              <a:t>Tiếp thị dự đoán khả năng khách hàng mua sản phẩm</a:t>
            </a:r>
          </a:p>
          <a:p>
            <a:pPr>
              <a:buFont typeface="Arial" panose="020B0604020202020204" pitchFamily="34" charset="0"/>
              <a:buChar char="•"/>
            </a:pPr>
            <a:r>
              <a:rPr lang="vi-VN"/>
              <a:t>Biến độc lập: tuổi, thu nhập, sở thích</a:t>
            </a:r>
          </a:p>
          <a:p>
            <a:pPr>
              <a:buFont typeface="Arial" panose="020B0604020202020204" pitchFamily="34" charset="0"/>
              <a:buChar char="•"/>
            </a:pPr>
            <a:r>
              <a:rPr lang="vi-VN"/>
              <a:t>Biến phụ thuộc: mua hàng (Có/Không)</a:t>
            </a:r>
          </a:p>
          <a:p>
            <a:pPr>
              <a:buFont typeface="+mj-lt"/>
              <a:buAutoNum type="arabicPeriod" startAt="3"/>
            </a:pPr>
            <a:r>
              <a:rPr lang="vi-VN"/>
              <a:t>Bảo hiểm dự đoán rủi ro tai nạn</a:t>
            </a:r>
          </a:p>
          <a:p>
            <a:pPr>
              <a:buFont typeface="Arial" panose="020B0604020202020204" pitchFamily="34" charset="0"/>
              <a:buChar char="•"/>
            </a:pPr>
            <a:r>
              <a:rPr lang="vi-VN"/>
              <a:t>Biến độc lập: độ tuổi, giới tính, loại xe</a:t>
            </a:r>
          </a:p>
          <a:p>
            <a:pPr>
              <a:buFont typeface="Arial" panose="020B0604020202020204" pitchFamily="34" charset="0"/>
              <a:buChar char="•"/>
            </a:pPr>
            <a:r>
              <a:rPr lang="vi-VN"/>
              <a:t>Biến phụ thuộc: tai nạn (Có/Không)</a:t>
            </a:r>
          </a:p>
          <a:p>
            <a:r>
              <a:rPr lang="vi-VN"/>
              <a:t>Điểm khác biệt quan trọng:</a:t>
            </a:r>
          </a:p>
          <a:p>
            <a:pPr>
              <a:buFont typeface="Arial" panose="020B0604020202020204" pitchFamily="34" charset="0"/>
              <a:buChar char="•"/>
            </a:pPr>
            <a:r>
              <a:rPr lang="vi-VN"/>
              <a:t>Hồi quy tuyến tính dự đoán giá trị liên tục</a:t>
            </a:r>
          </a:p>
          <a:p>
            <a:pPr>
              <a:buFont typeface="Arial" panose="020B0604020202020204" pitchFamily="34" charset="0"/>
              <a:buChar char="•"/>
            </a:pPr>
            <a:r>
              <a:rPr lang="vi-VN"/>
              <a:t>Hồi quy logistic dự đoán xác suất của một sự kiện nhị phân</a:t>
            </a:r>
          </a:p>
          <a:p>
            <a:r>
              <a:rPr lang="vi-VN"/>
              <a:t>Ưu điểm:</a:t>
            </a:r>
          </a:p>
          <a:p>
            <a:pPr>
              <a:buFont typeface="Arial" panose="020B0604020202020204" pitchFamily="34" charset="0"/>
              <a:buChar char="•"/>
            </a:pPr>
            <a:r>
              <a:rPr lang="vi-VN"/>
              <a:t>Dễ hiểu</a:t>
            </a:r>
          </a:p>
          <a:p>
            <a:pPr>
              <a:buFont typeface="Arial" panose="020B0604020202020204" pitchFamily="34" charset="0"/>
              <a:buChar char="•"/>
            </a:pPr>
            <a:r>
              <a:rPr lang="vi-VN"/>
              <a:t>Cung cấp xác suất cụ thể</a:t>
            </a:r>
          </a:p>
          <a:p>
            <a:pPr>
              <a:buFont typeface="Arial" panose="020B0604020202020204" pitchFamily="34" charset="0"/>
              <a:buChar char="•"/>
            </a:pPr>
            <a:r>
              <a:rPr lang="vi-VN"/>
              <a:t>Áp dụng rộng rãi trong nhiều lĩnh vực</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40</a:t>
            </a:fld>
            <a:endParaRPr lang="en-US"/>
          </a:p>
        </p:txBody>
      </p:sp>
    </p:spTree>
    <p:extLst>
      <p:ext uri="{BB962C8B-B14F-4D97-AF65-F5344CB8AC3E}">
        <p14:creationId xmlns:p14="http://schemas.microsoft.com/office/powerpoint/2010/main" val="1644290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vi-VN" b="1" i="1"/>
              <a:t>Đánh giá rủi ro và khả năng xảy ra</a:t>
            </a:r>
            <a:r>
              <a:rPr lang="vi-VN"/>
              <a:t>:</a:t>
            </a:r>
          </a:p>
          <a:p>
            <a:r>
              <a:rPr lang="vi-VN"/>
              <a:t>Ví dụ chi tiết về đánh giá rủi ro ung thư vú:</a:t>
            </a:r>
          </a:p>
          <a:p>
            <a:r>
              <a:rPr lang="vi-VN"/>
              <a:t>Giả sử chúng ta muốn đánh giá rủi ro ung thư vú dựa trên các yếu tố:</a:t>
            </a:r>
          </a:p>
          <a:p>
            <a:pPr>
              <a:buFont typeface="Arial" panose="020B0604020202020204" pitchFamily="34" charset="0"/>
              <a:buChar char="•"/>
            </a:pPr>
            <a:r>
              <a:rPr lang="vi-VN"/>
              <a:t>Tuổi</a:t>
            </a:r>
          </a:p>
          <a:p>
            <a:pPr>
              <a:buFont typeface="Arial" panose="020B0604020202020204" pitchFamily="34" charset="0"/>
              <a:buChar char="•"/>
            </a:pPr>
            <a:r>
              <a:rPr lang="vi-VN"/>
              <a:t>Tiền sử gia đình</a:t>
            </a:r>
          </a:p>
          <a:p>
            <a:pPr>
              <a:buFont typeface="Arial" panose="020B0604020202020204" pitchFamily="34" charset="0"/>
              <a:buChar char="•"/>
            </a:pPr>
            <a:r>
              <a:rPr lang="vi-VN"/>
              <a:t>Môi trường sống</a:t>
            </a:r>
          </a:p>
          <a:p>
            <a:pPr>
              <a:buFont typeface="Arial" panose="020B0604020202020204" pitchFamily="34" charset="0"/>
              <a:buChar char="•"/>
            </a:pPr>
            <a:r>
              <a:rPr lang="vi-VN"/>
              <a:t>Lối sống</a:t>
            </a:r>
          </a:p>
          <a:p>
            <a:r>
              <a:rPr lang="vi-VN"/>
              <a:t>Các biến số cụ thể:</a:t>
            </a:r>
          </a:p>
          <a:p>
            <a:pPr>
              <a:buFont typeface="Arial" panose="020B0604020202020204" pitchFamily="34" charset="0"/>
              <a:buChar char="•"/>
            </a:pPr>
            <a:r>
              <a:rPr lang="vi-VN"/>
              <a:t>Tuổi: 45 tuổi</a:t>
            </a:r>
          </a:p>
          <a:p>
            <a:pPr>
              <a:buFont typeface="Arial" panose="020B0604020202020204" pitchFamily="34" charset="0"/>
              <a:buChar char="•"/>
            </a:pPr>
            <a:r>
              <a:rPr lang="vi-VN"/>
              <a:t>Gia đình có tiền sử ung thư vú</a:t>
            </a:r>
          </a:p>
          <a:p>
            <a:pPr>
              <a:buFont typeface="Arial" panose="020B0604020202020204" pitchFamily="34" charset="0"/>
              <a:buChar char="•"/>
            </a:pPr>
            <a:r>
              <a:rPr lang="vi-VN"/>
              <a:t>Sống trong khu vực ô nhiễm</a:t>
            </a:r>
          </a:p>
          <a:p>
            <a:pPr>
              <a:buFont typeface="Arial" panose="020B0604020202020204" pitchFamily="34" charset="0"/>
              <a:buChar char="•"/>
            </a:pPr>
            <a:r>
              <a:rPr lang="vi-VN"/>
              <a:t>Ít vận động</a:t>
            </a:r>
          </a:p>
          <a:p>
            <a:pPr>
              <a:buFont typeface="Arial" panose="020B0604020202020204" pitchFamily="34" charset="0"/>
              <a:buChar char="•"/>
            </a:pPr>
            <a:r>
              <a:rPr lang="vi-VN"/>
              <a:t>Không nuôi con</a:t>
            </a:r>
          </a:p>
          <a:p>
            <a:r>
              <a:rPr lang="vi-VN"/>
              <a:t>Mô hình hồi quy logistic sẽ:</a:t>
            </a:r>
          </a:p>
          <a:p>
            <a:pPr>
              <a:buFont typeface="Arial" panose="020B0604020202020204" pitchFamily="34" charset="0"/>
              <a:buChar char="•"/>
            </a:pPr>
            <a:r>
              <a:rPr lang="vi-VN"/>
              <a:t>Tính toán xác suất mắc ung thư vú</a:t>
            </a:r>
          </a:p>
          <a:p>
            <a:pPr>
              <a:buFont typeface="Arial" panose="020B0604020202020204" pitchFamily="34" charset="0"/>
              <a:buChar char="•"/>
            </a:pPr>
            <a:r>
              <a:rPr lang="vi-VN"/>
              <a:t>Ví dụ: 35% khả năng mắc bệnh trong 10 năm tới</a:t>
            </a:r>
          </a:p>
          <a:p>
            <a:pPr>
              <a:buFont typeface="Arial" panose="020B0604020202020204" pitchFamily="34" charset="0"/>
              <a:buChar char="•"/>
            </a:pPr>
            <a:r>
              <a:rPr lang="vi-VN"/>
              <a:t>Giúp bác sĩ và bệnh nhân có kế hoạch phòng ngừa và theo dõi sức khỏe</a:t>
            </a:r>
          </a:p>
          <a:p>
            <a:r>
              <a:rPr lang="vi-VN"/>
              <a:t>Ứng dụng cụ thể trong các lĩnh vực:</a:t>
            </a:r>
          </a:p>
          <a:p>
            <a:pPr>
              <a:buFont typeface="Arial" panose="020B0604020202020204" pitchFamily="34" charset="0"/>
              <a:buChar char="•"/>
            </a:pPr>
            <a:r>
              <a:rPr lang="vi-VN"/>
              <a:t>Y học: Dự báo nguy cơ bệnh</a:t>
            </a:r>
          </a:p>
          <a:p>
            <a:pPr>
              <a:buFont typeface="Arial" panose="020B0604020202020204" pitchFamily="34" charset="0"/>
              <a:buChar char="•"/>
            </a:pPr>
            <a:r>
              <a:rPr lang="vi-VN"/>
              <a:t>Tài chính: Đánh giá rủi ro cho vay</a:t>
            </a:r>
          </a:p>
          <a:p>
            <a:pPr>
              <a:buFont typeface="Arial" panose="020B0604020202020204" pitchFamily="34" charset="0"/>
              <a:buChar char="•"/>
            </a:pPr>
            <a:r>
              <a:rPr lang="vi-VN"/>
              <a:t>Bảo hiểm: Tính phí bảo hiểm</a:t>
            </a:r>
          </a:p>
          <a:p>
            <a:pPr>
              <a:buFont typeface="Arial" panose="020B0604020202020204" pitchFamily="34" charset="0"/>
              <a:buChar char="•"/>
            </a:pPr>
            <a:r>
              <a:rPr lang="vi-VN"/>
              <a:t>Khoa học xã hội: Dự đoán hành vi</a:t>
            </a:r>
          </a:p>
          <a:p>
            <a:pPr>
              <a:buFont typeface="+mj-lt"/>
              <a:buAutoNum type="arabicPeriod" startAt="2"/>
            </a:pPr>
            <a:r>
              <a:rPr lang="vi-VN" b="1" i="1"/>
              <a:t>Phân tích mối quan hệ tuyến tính giữa logit của kết quả và biến độc lập</a:t>
            </a:r>
            <a:r>
              <a:rPr lang="vi-VN"/>
              <a:t>:</a:t>
            </a:r>
          </a:p>
          <a:p>
            <a:r>
              <a:rPr lang="vi-VN"/>
              <a:t>Để hiểu logit, hãy xem xét ví dụ về dự đoán khả năng sinh viên bỏ học:</a:t>
            </a:r>
          </a:p>
          <a:p>
            <a:r>
              <a:rPr lang="vi-VN"/>
              <a:t>Các biến độc lập:</a:t>
            </a:r>
          </a:p>
          <a:p>
            <a:pPr>
              <a:buFont typeface="Arial" panose="020B0604020202020204" pitchFamily="34" charset="0"/>
              <a:buChar char="•"/>
            </a:pPr>
            <a:r>
              <a:rPr lang="vi-VN"/>
              <a:t>Điểm trung bình (GPA)</a:t>
            </a:r>
          </a:p>
          <a:p>
            <a:pPr>
              <a:buFont typeface="Arial" panose="020B0604020202020204" pitchFamily="34" charset="0"/>
              <a:buChar char="•"/>
            </a:pPr>
            <a:r>
              <a:rPr lang="vi-VN"/>
              <a:t>Số giờ học mỗi tuần</a:t>
            </a:r>
          </a:p>
          <a:p>
            <a:pPr>
              <a:buFont typeface="Arial" panose="020B0604020202020204" pitchFamily="34" charset="0"/>
              <a:buChar char="•"/>
            </a:pPr>
            <a:r>
              <a:rPr lang="vi-VN"/>
              <a:t>Thu nhập gia đình</a:t>
            </a:r>
          </a:p>
          <a:p>
            <a:pPr>
              <a:buFont typeface="Arial" panose="020B0604020202020204" pitchFamily="34" charset="0"/>
              <a:buChar char="•"/>
            </a:pPr>
            <a:r>
              <a:rPr lang="vi-VN"/>
              <a:t>Khoảng cách từ nhà đến trường</a:t>
            </a:r>
          </a:p>
          <a:p>
            <a:r>
              <a:rPr lang="vi-VN"/>
              <a:t>Logit transformation:</a:t>
            </a:r>
          </a:p>
          <a:p>
            <a:pPr>
              <a:buFont typeface="Arial" panose="020B0604020202020204" pitchFamily="34" charset="0"/>
              <a:buChar char="•"/>
            </a:pPr>
            <a:r>
              <a:rPr lang="vi-VN"/>
              <a:t>Chuyển đổi xác suất thành log odds</a:t>
            </a:r>
          </a:p>
          <a:p>
            <a:pPr>
              <a:buFont typeface="Arial" panose="020B0604020202020204" pitchFamily="34" charset="0"/>
              <a:buChar char="•"/>
            </a:pPr>
            <a:r>
              <a:rPr lang="vi-VN"/>
              <a:t>Log odds = ln(p / (1-p))</a:t>
            </a:r>
          </a:p>
          <a:p>
            <a:pPr>
              <a:buFont typeface="Arial" panose="020B0604020202020204" pitchFamily="34" charset="0"/>
              <a:buChar char="•"/>
            </a:pPr>
            <a:r>
              <a:rPr lang="vi-VN"/>
              <a:t>Giúp mối quan hệ trở nên tuyến tính</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41</a:t>
            </a:fld>
            <a:endParaRPr lang="en-US"/>
          </a:p>
        </p:txBody>
      </p:sp>
    </p:spTree>
    <p:extLst>
      <p:ext uri="{BB962C8B-B14F-4D97-AF65-F5344CB8AC3E}">
        <p14:creationId xmlns:p14="http://schemas.microsoft.com/office/powerpoint/2010/main" val="176574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Tôi sẽ giải thích từng giả định của hồi quy logistic bằng các ví dụ cụ thể và dễ hiểu:</a:t>
            </a:r>
          </a:p>
          <a:p>
            <a:pPr>
              <a:buFont typeface="+mj-lt"/>
              <a:buAutoNum type="arabicPeriod"/>
            </a:pPr>
            <a:r>
              <a:rPr lang="vi-VN" b="1" i="1"/>
              <a:t>Biến phụ thuộc nhị phân hoặc danh mục</a:t>
            </a:r>
            <a:r>
              <a:rPr lang="vi-VN"/>
              <a:t>:</a:t>
            </a:r>
          </a:p>
          <a:p>
            <a:r>
              <a:rPr lang="vi-VN"/>
              <a:t>Ví dụ: Dự đoán khả năng vay được khoản vay ngân hàng</a:t>
            </a:r>
          </a:p>
          <a:p>
            <a:r>
              <a:rPr lang="vi-VN"/>
              <a:t>Biến phụ thuộc:</a:t>
            </a:r>
          </a:p>
          <a:p>
            <a:pPr>
              <a:buFont typeface="Arial" panose="020B0604020202020204" pitchFamily="34" charset="0"/>
              <a:buChar char="•"/>
            </a:pPr>
            <a:r>
              <a:rPr lang="vi-VN"/>
              <a:t>Được vay (1)</a:t>
            </a:r>
          </a:p>
          <a:p>
            <a:pPr>
              <a:buFont typeface="Arial" panose="020B0604020202020204" pitchFamily="34" charset="0"/>
              <a:buChar char="•"/>
            </a:pPr>
            <a:r>
              <a:rPr lang="vi-VN"/>
              <a:t>Không được vay (0)</a:t>
            </a:r>
          </a:p>
          <a:p>
            <a:r>
              <a:rPr lang="vi-VN"/>
              <a:t>Các biến độc lập:</a:t>
            </a:r>
          </a:p>
          <a:p>
            <a:pPr>
              <a:buFont typeface="Arial" panose="020B0604020202020204" pitchFamily="34" charset="0"/>
              <a:buChar char="•"/>
            </a:pPr>
            <a:r>
              <a:rPr lang="vi-VN"/>
              <a:t>Thu nhập</a:t>
            </a:r>
          </a:p>
          <a:p>
            <a:pPr>
              <a:buFont typeface="Arial" panose="020B0604020202020204" pitchFamily="34" charset="0"/>
              <a:buChar char="•"/>
            </a:pPr>
            <a:r>
              <a:rPr lang="vi-VN"/>
              <a:t>Tuổi</a:t>
            </a:r>
          </a:p>
          <a:p>
            <a:pPr>
              <a:buFont typeface="Arial" panose="020B0604020202020204" pitchFamily="34" charset="0"/>
              <a:buChar char="•"/>
            </a:pPr>
            <a:r>
              <a:rPr lang="vi-VN"/>
              <a:t>Điểm tín dụng</a:t>
            </a:r>
          </a:p>
          <a:p>
            <a:r>
              <a:rPr lang="vi-VN"/>
              <a:t>Lưu ý:</a:t>
            </a:r>
          </a:p>
          <a:p>
            <a:pPr>
              <a:buFont typeface="Arial" panose="020B0604020202020204" pitchFamily="34" charset="0"/>
              <a:buChar char="•"/>
            </a:pPr>
            <a:r>
              <a:rPr lang="vi-VN"/>
              <a:t>Chỉ có hai kết quả rõ ràng</a:t>
            </a:r>
          </a:p>
          <a:p>
            <a:pPr>
              <a:buFont typeface="Arial" panose="020B0604020202020204" pitchFamily="34" charset="0"/>
              <a:buChar char="•"/>
            </a:pPr>
            <a:r>
              <a:rPr lang="vi-VN"/>
              <a:t>Không có kết quả trung gian</a:t>
            </a:r>
          </a:p>
          <a:p>
            <a:pPr>
              <a:buFont typeface="Arial" panose="020B0604020202020204" pitchFamily="34" charset="0"/>
              <a:buChar char="•"/>
            </a:pPr>
            <a:r>
              <a:rPr lang="vi-VN"/>
              <a:t>Hoàn toàn rõ ràng: Được vay hay không được vay</a:t>
            </a:r>
          </a:p>
          <a:p>
            <a:pPr>
              <a:buFont typeface="+mj-lt"/>
              <a:buAutoNum type="arabicPeriod" startAt="2"/>
            </a:pPr>
            <a:r>
              <a:rPr lang="vi-VN" b="1" i="1"/>
              <a:t>Mối quan hệ tuyến tính giữa logit và các biến độc lập</a:t>
            </a:r>
            <a:r>
              <a:rPr lang="vi-VN"/>
              <a:t>:</a:t>
            </a:r>
          </a:p>
          <a:p>
            <a:r>
              <a:rPr lang="vi-VN"/>
              <a:t>Ví dụ: Dự đoán khả năng mua nhà của một cặp vợ chồng</a:t>
            </a:r>
          </a:p>
          <a:p>
            <a:r>
              <a:rPr lang="vi-VN"/>
              <a:t>Mô hình logit:</a:t>
            </a:r>
          </a:p>
          <a:p>
            <a:r>
              <a:rPr lang="vi-VN"/>
              <a:t>Copy</a:t>
            </a:r>
          </a:p>
          <a:p>
            <a:r>
              <a:rPr lang="vi-VN"/>
              <a:t>log(odds) = -10 + 0.5(Thu nhập) + 0.3(Tuổi) - 0.2(Nợ)</a:t>
            </a:r>
          </a:p>
          <a:p>
            <a:r>
              <a:rPr lang="vi-VN"/>
              <a:t>Giải thích:</a:t>
            </a:r>
          </a:p>
          <a:p>
            <a:pPr>
              <a:buFont typeface="Arial" panose="020B0604020202020204" pitchFamily="34" charset="0"/>
              <a:buChar char="•"/>
            </a:pPr>
            <a:r>
              <a:rPr lang="vi-VN"/>
              <a:t>Logit thay đổi tuyến tính khi các biến độc lập thay đổi</a:t>
            </a:r>
          </a:p>
          <a:p>
            <a:pPr>
              <a:buFont typeface="Arial" panose="020B0604020202020204" pitchFamily="34" charset="0"/>
              <a:buChar char="•"/>
            </a:pPr>
            <a:r>
              <a:rPr lang="vi-VN"/>
              <a:t>Mỗi biến có hệ số ảnh hưởng khác nhau</a:t>
            </a:r>
          </a:p>
          <a:p>
            <a:pPr>
              <a:buFont typeface="Arial" panose="020B0604020202020204" pitchFamily="34" charset="0"/>
              <a:buChar char="•"/>
            </a:pPr>
            <a:r>
              <a:rPr lang="vi-VN"/>
              <a:t>Khi thu nhập tăng 1 đơn vị, log(odds) tăng 0.5</a:t>
            </a:r>
          </a:p>
          <a:p>
            <a:pPr>
              <a:buFont typeface="Arial" panose="020B0604020202020204" pitchFamily="34" charset="0"/>
              <a:buChar char="•"/>
            </a:pPr>
            <a:r>
              <a:rPr lang="vi-VN"/>
              <a:t>Khi tuổi tăng 1 đơn vị, log(odds) tăng 0.3</a:t>
            </a:r>
          </a:p>
          <a:p>
            <a:pPr>
              <a:buFont typeface="+mj-lt"/>
              <a:buAutoNum type="arabicPeriod" startAt="3"/>
            </a:pPr>
            <a:r>
              <a:rPr lang="vi-VN" b="1" i="1"/>
              <a:t>Không có đa cộng tuyến</a:t>
            </a:r>
            <a:r>
              <a:rPr lang="vi-VN"/>
              <a:t>:</a:t>
            </a:r>
          </a:p>
          <a:p>
            <a:r>
              <a:rPr lang="vi-VN"/>
              <a:t>Ví dụ: Dự đoán khả năng thành công của startup</a:t>
            </a:r>
          </a:p>
          <a:p>
            <a:r>
              <a:rPr lang="vi-VN"/>
              <a:t>Biến độc lập không tương quan:</a:t>
            </a:r>
          </a:p>
          <a:p>
            <a:pPr>
              <a:buFont typeface="Arial" panose="020B0604020202020204" pitchFamily="34" charset="0"/>
              <a:buChar char="•"/>
            </a:pPr>
            <a:r>
              <a:rPr lang="vi-VN"/>
              <a:t>Số năm kinh nghiệm của nhà sáng lập</a:t>
            </a:r>
          </a:p>
          <a:p>
            <a:pPr>
              <a:buFont typeface="Arial" panose="020B0604020202020204" pitchFamily="34" charset="0"/>
              <a:buChar char="•"/>
            </a:pPr>
            <a:r>
              <a:rPr lang="vi-VN"/>
              <a:t>Vốn đầu tư ban đầu</a:t>
            </a:r>
          </a:p>
          <a:p>
            <a:pPr>
              <a:buFont typeface="Arial" panose="020B0604020202020204" pitchFamily="34" charset="0"/>
              <a:buChar char="•"/>
            </a:pPr>
            <a:r>
              <a:rPr lang="vi-VN"/>
              <a:t>Lĩnh vực kinh doanh</a:t>
            </a:r>
          </a:p>
          <a:p>
            <a:r>
              <a:rPr lang="vi-VN"/>
              <a:t>Biến độc lập CÓ đa cộng tuyến:</a:t>
            </a:r>
          </a:p>
          <a:p>
            <a:pPr>
              <a:buFont typeface="Arial" panose="020B0604020202020204" pitchFamily="34" charset="0"/>
              <a:buChar char="•"/>
            </a:pPr>
            <a:r>
              <a:rPr lang="vi-VN"/>
              <a:t>Số năm kinh nghiệm</a:t>
            </a:r>
          </a:p>
          <a:p>
            <a:pPr>
              <a:buFont typeface="Arial" panose="020B0604020202020204" pitchFamily="34" charset="0"/>
              <a:buChar char="•"/>
            </a:pPr>
            <a:r>
              <a:rPr lang="vi-VN"/>
              <a:t>Tuổi của nhà sáng lập</a:t>
            </a:r>
          </a:p>
          <a:p>
            <a:pPr>
              <a:buFont typeface="Arial" panose="020B0604020202020204" pitchFamily="34" charset="0"/>
              <a:buChar char="•"/>
            </a:pPr>
            <a:r>
              <a:rPr lang="vi-VN"/>
              <a:t>Thu nhập hàng năm (Những biến này có mối tương quan chặt)</a:t>
            </a:r>
          </a:p>
          <a:p>
            <a:pPr>
              <a:buFont typeface="+mj-lt"/>
              <a:buAutoNum type="arabicPeriod" startAt="4"/>
            </a:pPr>
            <a:r>
              <a:rPr lang="vi-VN" b="1" i="1"/>
              <a:t>Không có nhiễu đặc biệt trong biến phụ thuộc</a:t>
            </a:r>
            <a:r>
              <a:rPr lang="vi-VN"/>
              <a:t>:</a:t>
            </a:r>
          </a:p>
          <a:p>
            <a:r>
              <a:rPr lang="vi-VN"/>
              <a:t>Ví dụ: Dự đoán khả năng chuyển trường của sinh viên</a:t>
            </a:r>
          </a:p>
          <a:p>
            <a:r>
              <a:rPr lang="vi-VN"/>
              <a:t>Dữ liệu KHÔNG nhiễu:</a:t>
            </a:r>
          </a:p>
          <a:p>
            <a:pPr>
              <a:buFont typeface="Arial" panose="020B0604020202020204" pitchFamily="34" charset="0"/>
              <a:buChar char="•"/>
            </a:pPr>
            <a:r>
              <a:rPr lang="vi-VN"/>
              <a:t>Sinh viên A: Chuyển trường (1)</a:t>
            </a:r>
          </a:p>
          <a:p>
            <a:pPr>
              <a:buFont typeface="Arial" panose="020B0604020202020204" pitchFamily="34" charset="0"/>
              <a:buChar char="•"/>
            </a:pPr>
            <a:r>
              <a:rPr lang="vi-VN"/>
              <a:t>Sinh viên B: Không chuyển trường (0)</a:t>
            </a:r>
          </a:p>
          <a:p>
            <a:r>
              <a:rPr lang="vi-VN"/>
              <a:t>Dữ liệu CÓ nhiễu:</a:t>
            </a:r>
          </a:p>
          <a:p>
            <a:pPr>
              <a:buFont typeface="Arial" panose="020B0604020202020204" pitchFamily="34" charset="0"/>
              <a:buChar char="•"/>
            </a:pPr>
            <a:r>
              <a:rPr lang="vi-VN"/>
              <a:t>Sinh viên C: Tình trạng không rõ ràng</a:t>
            </a:r>
          </a:p>
          <a:p>
            <a:pPr>
              <a:buFont typeface="Arial" panose="020B0604020202020204" pitchFamily="34" charset="0"/>
              <a:buChar char="•"/>
            </a:pPr>
            <a:r>
              <a:rPr lang="vi-VN"/>
              <a:t>Không xác định được là chuyển hay không chuyển</a:t>
            </a:r>
          </a:p>
          <a:p>
            <a:pPr>
              <a:buFont typeface="+mj-lt"/>
              <a:buAutoNum type="arabicPeriod" startAt="5"/>
            </a:pPr>
            <a:r>
              <a:rPr lang="vi-VN" b="1" i="1"/>
              <a:t>Kích thước mẫu đủ lớn</a:t>
            </a:r>
            <a:r>
              <a:rPr lang="vi-VN"/>
              <a:t>:</a:t>
            </a:r>
          </a:p>
          <a:p>
            <a:r>
              <a:rPr lang="vi-VN"/>
              <a:t>Ví dụ: Nghiên cứu hiệu quả một loại thuốc mới</a:t>
            </a:r>
          </a:p>
          <a:p>
            <a:r>
              <a:rPr lang="vi-VN"/>
              <a:t>Kích thước mẫu KHÔNG đủ:</a:t>
            </a:r>
          </a:p>
          <a:p>
            <a:pPr>
              <a:buFont typeface="Arial" panose="020B0604020202020204" pitchFamily="34" charset="0"/>
              <a:buChar char="•"/>
            </a:pPr>
            <a:r>
              <a:rPr lang="vi-VN"/>
              <a:t>10 bệnh nhân</a:t>
            </a:r>
          </a:p>
          <a:p>
            <a:pPr>
              <a:buFont typeface="Arial" panose="020B0604020202020204" pitchFamily="34" charset="0"/>
              <a:buChar char="•"/>
            </a:pPr>
            <a:r>
              <a:rPr lang="vi-VN"/>
              <a:t>Kết quả không tin cậy</a:t>
            </a:r>
          </a:p>
          <a:p>
            <a:pPr>
              <a:buFont typeface="Arial" panose="020B0604020202020204" pitchFamily="34" charset="0"/>
              <a:buChar char="•"/>
            </a:pPr>
            <a:r>
              <a:rPr lang="vi-VN"/>
              <a:t>Khó khái quát hóa</a:t>
            </a:r>
          </a:p>
          <a:p>
            <a:r>
              <a:rPr lang="vi-VN"/>
              <a:t>Kích thước mẫu ĐÚNG:</a:t>
            </a:r>
          </a:p>
          <a:p>
            <a:pPr>
              <a:buFont typeface="Arial" panose="020B0604020202020204" pitchFamily="34" charset="0"/>
              <a:buChar char="•"/>
            </a:pPr>
            <a:r>
              <a:rPr lang="vi-VN"/>
              <a:t>1000 bệnh nhân</a:t>
            </a:r>
          </a:p>
          <a:p>
            <a:pPr>
              <a:buFont typeface="Arial" panose="020B0604020202020204" pitchFamily="34" charset="0"/>
              <a:buChar char="•"/>
            </a:pPr>
            <a:r>
              <a:rPr lang="vi-VN"/>
              <a:t>Đại diện cho nhiều nhóm</a:t>
            </a:r>
          </a:p>
          <a:p>
            <a:pPr>
              <a:buFont typeface="Arial" panose="020B0604020202020204" pitchFamily="34" charset="0"/>
              <a:buChar char="•"/>
            </a:pPr>
            <a:r>
              <a:rPr lang="vi-VN"/>
              <a:t>Kết quả có ý nghĩa thống kê</a:t>
            </a:r>
          </a:p>
          <a:p>
            <a:pPr>
              <a:buFont typeface="Arial" panose="020B0604020202020204" pitchFamily="34" charset="0"/>
              <a:buChar char="•"/>
            </a:pPr>
            <a:r>
              <a:rPr lang="vi-VN"/>
              <a:t>Độ tin cậy cao</a:t>
            </a:r>
          </a:p>
          <a:p>
            <a:r>
              <a:rPr lang="vi-VN"/>
              <a:t>Tóm lại:</a:t>
            </a:r>
          </a:p>
          <a:p>
            <a:pPr>
              <a:buFont typeface="Arial" panose="020B0604020202020204" pitchFamily="34" charset="0"/>
              <a:buChar char="•"/>
            </a:pPr>
            <a:r>
              <a:rPr lang="vi-VN"/>
              <a:t>Mỗi giả định đảm bảo độ chính xác và tin cậy của mô hình</a:t>
            </a:r>
          </a:p>
          <a:p>
            <a:pPr>
              <a:buFont typeface="Arial" panose="020B0604020202020204" pitchFamily="34" charset="0"/>
              <a:buChar char="•"/>
            </a:pPr>
            <a:r>
              <a:rPr lang="vi-VN"/>
              <a:t>Vi phạm bất kỳ giả định nào cũng có thể dẫn đến kết quả sai lệch</a:t>
            </a:r>
          </a:p>
          <a:p>
            <a:pPr>
              <a:buFont typeface="Arial" panose="020B0604020202020204" pitchFamily="34" charset="0"/>
              <a:buChar char="•"/>
            </a:pPr>
            <a:r>
              <a:rPr lang="vi-VN"/>
              <a:t>Việc kiểm tra và đáp ứng các giả định là then chốt trong xây dựng mô hình hồi quy logistic</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43</a:t>
            </a:fld>
            <a:endParaRPr lang="en-US"/>
          </a:p>
        </p:txBody>
      </p:sp>
    </p:spTree>
    <p:extLst>
      <p:ext uri="{BB962C8B-B14F-4D97-AF65-F5344CB8AC3E}">
        <p14:creationId xmlns:p14="http://schemas.microsoft.com/office/powerpoint/2010/main" val="3377502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21/03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21/03</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21/03</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21/03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21/03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21/03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21/03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21/03</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kaggle.com/search?q=logistic+regression+dataset"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normAutofit/>
          </a:bodyPr>
          <a:lstStyle/>
          <a:p>
            <a:r>
              <a:rPr lang="en-US" sz="4000"/>
              <a:t>PHÂN TÍCH &amp; TRỰC QUAN DỮ LIỆU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HỒI QUY TUYẾN TÍNH VÀ HỒI QUY LOGISTIC</a:t>
            </a:r>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5E669-5EEC-4622-B2CA-33A3434CDE73}"/>
              </a:ext>
            </a:extLst>
          </p:cNvPr>
          <p:cNvSpPr>
            <a:spLocks noGrp="1"/>
          </p:cNvSpPr>
          <p:nvPr>
            <p:ph idx="1"/>
          </p:nvPr>
        </p:nvSpPr>
        <p:spPr/>
        <p:txBody>
          <a:bodyPr/>
          <a:lstStyle/>
          <a:p>
            <a:pPr algn="just">
              <a:lnSpc>
                <a:spcPct val="150000"/>
              </a:lnSpc>
            </a:pPr>
            <a:r>
              <a:rPr lang="vi-VN" b="1"/>
              <a:t>Linear Regression </a:t>
            </a:r>
            <a:r>
              <a:rPr lang="vi-VN"/>
              <a:t>là một thuật toán </a:t>
            </a:r>
            <a:r>
              <a:rPr lang="vi-VN" b="1"/>
              <a:t>học có giám sát (supervised learning)</a:t>
            </a:r>
            <a:r>
              <a:rPr lang="vi-VN"/>
              <a:t> trong Machine Learning, nó là một phương pháp thống kê dùng để ước lượng mối quan hệ giữa các biến độc lập (input features) và biến phụ thuộc (output target). </a:t>
            </a:r>
            <a:endParaRPr lang="en-US"/>
          </a:p>
          <a:p>
            <a:pPr algn="just">
              <a:lnSpc>
                <a:spcPct val="150000"/>
              </a:lnSpc>
            </a:pPr>
            <a:r>
              <a:rPr lang="vi-VN"/>
              <a:t>Linear Regression giả định rằng sự tương quan giữa các biến là tuyến tính, từ đó tìm ra hàm tuyến tính tốt nhất để biểu diễn mối quan hệ này. Thuật toán này dự báo giá trị của biến output từ các giá trị của các biến đầu vào.</a:t>
            </a:r>
            <a:endParaRPr lang="en-US"/>
          </a:p>
        </p:txBody>
      </p:sp>
      <p:sp>
        <p:nvSpPr>
          <p:cNvPr id="4" name="Footer Placeholder 3">
            <a:extLst>
              <a:ext uri="{FF2B5EF4-FFF2-40B4-BE49-F238E27FC236}">
                <a16:creationId xmlns:a16="http://schemas.microsoft.com/office/drawing/2014/main" id="{3ACCFF35-7711-52CD-E8B5-7FF69D04824C}"/>
              </a:ext>
            </a:extLst>
          </p:cNvPr>
          <p:cNvSpPr>
            <a:spLocks noGrp="1"/>
          </p:cNvSpPr>
          <p:nvPr>
            <p:ph type="ftr" sz="quarter" idx="11"/>
          </p:nvPr>
        </p:nvSpPr>
        <p:spPr/>
        <p:txBody>
          <a:bodyPr/>
          <a:lstStyle/>
          <a:p>
            <a:r>
              <a:rPr lang="en-US"/>
              <a:t>ThS. Lê Nhật Tùng</a:t>
            </a:r>
          </a:p>
        </p:txBody>
      </p:sp>
      <p:sp>
        <p:nvSpPr>
          <p:cNvPr id="5" name="Title 1">
            <a:extLst>
              <a:ext uri="{FF2B5EF4-FFF2-40B4-BE49-F238E27FC236}">
                <a16:creationId xmlns:a16="http://schemas.microsoft.com/office/drawing/2014/main" id="{FE5C9B99-CD11-33DA-B654-A380224885C4}"/>
              </a:ext>
            </a:extLst>
          </p:cNvPr>
          <p:cNvSpPr>
            <a:spLocks noGrp="1"/>
          </p:cNvSpPr>
          <p:nvPr>
            <p:ph type="title"/>
          </p:nvPr>
        </p:nvSpPr>
        <p:spPr>
          <a:xfrm>
            <a:off x="822960" y="286604"/>
            <a:ext cx="7543800" cy="1450757"/>
          </a:xfrm>
        </p:spPr>
        <p:txBody>
          <a:bodyPr/>
          <a:lstStyle/>
          <a:p>
            <a:r>
              <a:rPr lang="en-US" b="1"/>
              <a:t>Hồi quy tuyến tinh</a:t>
            </a:r>
          </a:p>
        </p:txBody>
      </p:sp>
    </p:spTree>
    <p:extLst>
      <p:ext uri="{BB962C8B-B14F-4D97-AF65-F5344CB8AC3E}">
        <p14:creationId xmlns:p14="http://schemas.microsoft.com/office/powerpoint/2010/main" val="2889634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F627FB0-8C22-C3B2-311B-18ADFF13BF1D}"/>
              </a:ext>
            </a:extLst>
          </p:cNvPr>
          <p:cNvSpPr>
            <a:spLocks noGrp="1"/>
          </p:cNvSpPr>
          <p:nvPr>
            <p:ph type="ftr" sz="quarter" idx="11"/>
          </p:nvPr>
        </p:nvSpPr>
        <p:spPr/>
        <p:txBody>
          <a:bodyPr/>
          <a:lstStyle/>
          <a:p>
            <a:r>
              <a:rPr lang="en-US"/>
              <a:t>ThS. Lê Nhật Tùng</a:t>
            </a:r>
          </a:p>
        </p:txBody>
      </p:sp>
      <p:pic>
        <p:nvPicPr>
          <p:cNvPr id="7" name="Picture 6">
            <a:extLst>
              <a:ext uri="{FF2B5EF4-FFF2-40B4-BE49-F238E27FC236}">
                <a16:creationId xmlns:a16="http://schemas.microsoft.com/office/drawing/2014/main" id="{D48E4D0C-8D53-25F8-5305-8709FEC1D544}"/>
              </a:ext>
            </a:extLst>
          </p:cNvPr>
          <p:cNvPicPr>
            <a:picLocks noChangeAspect="1"/>
          </p:cNvPicPr>
          <p:nvPr/>
        </p:nvPicPr>
        <p:blipFill>
          <a:blip r:embed="rId2"/>
          <a:stretch>
            <a:fillRect/>
          </a:stretch>
        </p:blipFill>
        <p:spPr>
          <a:xfrm>
            <a:off x="985337" y="1295102"/>
            <a:ext cx="7173326" cy="4267796"/>
          </a:xfrm>
          <a:prstGeom prst="rect">
            <a:avLst/>
          </a:prstGeom>
        </p:spPr>
      </p:pic>
    </p:spTree>
    <p:extLst>
      <p:ext uri="{BB962C8B-B14F-4D97-AF65-F5344CB8AC3E}">
        <p14:creationId xmlns:p14="http://schemas.microsoft.com/office/powerpoint/2010/main" val="347956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F8A0-818C-E2DA-2967-A36A314C47E6}"/>
              </a:ext>
            </a:extLst>
          </p:cNvPr>
          <p:cNvSpPr>
            <a:spLocks noGrp="1"/>
          </p:cNvSpPr>
          <p:nvPr>
            <p:ph type="title"/>
          </p:nvPr>
        </p:nvSpPr>
        <p:spPr/>
        <p:txBody>
          <a:bodyPr/>
          <a:lstStyle/>
          <a:p>
            <a:r>
              <a:rPr lang="en-US"/>
              <a:t>Đặc điểm của mô hình</a:t>
            </a:r>
          </a:p>
        </p:txBody>
      </p:sp>
      <p:sp>
        <p:nvSpPr>
          <p:cNvPr id="3" name="Content Placeholder 2">
            <a:extLst>
              <a:ext uri="{FF2B5EF4-FFF2-40B4-BE49-F238E27FC236}">
                <a16:creationId xmlns:a16="http://schemas.microsoft.com/office/drawing/2014/main" id="{33A30D0B-EAF1-932A-7E73-80EE00682AAA}"/>
              </a:ext>
            </a:extLst>
          </p:cNvPr>
          <p:cNvSpPr>
            <a:spLocks noGrp="1"/>
          </p:cNvSpPr>
          <p:nvPr>
            <p:ph idx="1"/>
          </p:nvPr>
        </p:nvSpPr>
        <p:spPr/>
        <p:txBody>
          <a:bodyPr>
            <a:normAutofit/>
          </a:bodyPr>
          <a:lstStyle/>
          <a:p>
            <a:pPr marL="0" indent="0" algn="just">
              <a:lnSpc>
                <a:spcPct val="150000"/>
              </a:lnSpc>
              <a:buNone/>
            </a:pPr>
            <a:r>
              <a:rPr lang="vi-VN" sz="2800" b="1"/>
              <a:t>Mục tiêu: </a:t>
            </a:r>
            <a:r>
              <a:rPr lang="vi-VN" sz="2800"/>
              <a:t>Hồi quy tuyến tính hướng đến mô hình hóa và phân tích mối quan hệ giữa một biến phụ thuộc (hay biến mục tiêu) và một hoặc nhiều biến độc lập (hay biến giải thích).</a:t>
            </a:r>
            <a:endParaRPr lang="en-US" sz="2800"/>
          </a:p>
        </p:txBody>
      </p:sp>
      <p:sp>
        <p:nvSpPr>
          <p:cNvPr id="4" name="Footer Placeholder 3">
            <a:extLst>
              <a:ext uri="{FF2B5EF4-FFF2-40B4-BE49-F238E27FC236}">
                <a16:creationId xmlns:a16="http://schemas.microsoft.com/office/drawing/2014/main" id="{A0D1413A-0253-DCA6-FFD9-6B93107438A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309040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AD73-55B0-6D89-90BB-BFD2A579D90B}"/>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44E1D144-A78A-E810-60FB-15BB69B2F4B6}"/>
              </a:ext>
            </a:extLst>
          </p:cNvPr>
          <p:cNvSpPr>
            <a:spLocks noGrp="1"/>
          </p:cNvSpPr>
          <p:nvPr>
            <p:ph idx="1"/>
          </p:nvPr>
        </p:nvSpPr>
        <p:spPr/>
        <p:txBody>
          <a:bodyPr>
            <a:normAutofit/>
          </a:bodyPr>
          <a:lstStyle/>
          <a:p>
            <a:pPr algn="just">
              <a:lnSpc>
                <a:spcPct val="150000"/>
              </a:lnSpc>
            </a:pPr>
            <a:r>
              <a:rPr lang="en-US" sz="2400" b="1" i="1">
                <a:effectLst/>
                <a:latin typeface="Verdana" panose="020B0604030504040204" pitchFamily="34" charset="0"/>
                <a:ea typeface="Verdana" panose="020B0604030504040204" pitchFamily="34" charset="0"/>
                <a:cs typeface="Verdana" panose="020B0604030504040204" pitchFamily="34" charset="0"/>
              </a:rPr>
              <a:t>Dự đoán và dự báo:</a:t>
            </a:r>
            <a:r>
              <a:rPr lang="en-US" sz="2400" b="1">
                <a:effectLst/>
                <a:latin typeface="Verdana" panose="020B0604030504040204" pitchFamily="34" charset="0"/>
                <a:ea typeface="Verdana" panose="020B0604030504040204" pitchFamily="34" charset="0"/>
                <a:cs typeface="Verdana" panose="020B0604030504040204" pitchFamily="34" charset="0"/>
              </a:rPr>
              <a:t> </a:t>
            </a:r>
            <a:r>
              <a:rPr lang="en-US" sz="2400">
                <a:effectLst/>
                <a:latin typeface="Verdana" panose="020B0604030504040204" pitchFamily="34" charset="0"/>
                <a:ea typeface="Verdana" panose="020B0604030504040204" pitchFamily="34" charset="0"/>
                <a:cs typeface="Verdana" panose="020B0604030504040204" pitchFamily="34" charset="0"/>
              </a:rPr>
              <a:t>Sử dụng biến độc lập để dự đoán giá trị của biến phụ thuộc. </a:t>
            </a:r>
          </a:p>
          <a:p>
            <a:pPr algn="just">
              <a:lnSpc>
                <a:spcPct val="150000"/>
              </a:lnSpc>
            </a:pPr>
            <a:r>
              <a:rPr lang="en-US" sz="2400">
                <a:effectLst/>
                <a:latin typeface="Verdana" panose="020B0604030504040204" pitchFamily="34" charset="0"/>
                <a:ea typeface="Verdana" panose="020B0604030504040204" pitchFamily="34" charset="0"/>
                <a:cs typeface="Verdana" panose="020B0604030504040204" pitchFamily="34" charset="0"/>
              </a:rPr>
              <a:t>Chẳng hạn như dự đoán giá nhà dựa trên diện tích, dự đoán doanh số bán hàng dựa trên chiến lược tiếp thị.</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204A119-E7ED-363E-F898-0F79C11C193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659353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758B7C-1C02-3B86-BB3B-81AA7A2CB2BF}"/>
              </a:ext>
            </a:extLst>
          </p:cNvPr>
          <p:cNvPicPr>
            <a:picLocks noChangeAspect="1"/>
          </p:cNvPicPr>
          <p:nvPr/>
        </p:nvPicPr>
        <p:blipFill>
          <a:blip r:embed="rId2"/>
          <a:stretch>
            <a:fillRect/>
          </a:stretch>
        </p:blipFill>
        <p:spPr>
          <a:xfrm>
            <a:off x="419100" y="419100"/>
            <a:ext cx="8496300" cy="5794712"/>
          </a:xfrm>
          <a:prstGeom prst="rect">
            <a:avLst/>
          </a:prstGeom>
        </p:spPr>
      </p:pic>
    </p:spTree>
    <p:extLst>
      <p:ext uri="{BB962C8B-B14F-4D97-AF65-F5344CB8AC3E}">
        <p14:creationId xmlns:p14="http://schemas.microsoft.com/office/powerpoint/2010/main" val="2334234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B37D6-3D40-2E56-B2BE-96A8F7AA9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2D7EC-51BE-F2FB-8FF9-6D58655D4EE3}"/>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82885460-3350-171D-5EF0-4A1C97B02E58}"/>
              </a:ext>
            </a:extLst>
          </p:cNvPr>
          <p:cNvSpPr>
            <a:spLocks noGrp="1"/>
          </p:cNvSpPr>
          <p:nvPr>
            <p:ph idx="1"/>
          </p:nvPr>
        </p:nvSpPr>
        <p:spPr/>
        <p:txBody>
          <a:bodyPr>
            <a:normAutofit/>
          </a:bodyPr>
          <a:lstStyle/>
          <a:p>
            <a:pPr algn="just">
              <a:lnSpc>
                <a:spcPct val="150000"/>
              </a:lnSpc>
            </a:pPr>
            <a:r>
              <a:rPr lang="en-US" sz="1800" b="1" i="1">
                <a:effectLst/>
                <a:latin typeface="Verdana" panose="020B0604030504040204" pitchFamily="34" charset="0"/>
                <a:ea typeface="Verdana" panose="020B0604030504040204" pitchFamily="34" charset="0"/>
                <a:cs typeface="Verdana" panose="020B0604030504040204" pitchFamily="34" charset="0"/>
              </a:rPr>
              <a:t>Hiểu rõ mối quan hệ:</a:t>
            </a:r>
            <a:r>
              <a:rPr lang="en-US" sz="1800" b="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Xác định mức độ ảnh hưởng của các biến độc lập lên biến phụ thuộc. Điều này giúp hiểu rõ các yếu tố nào là quan trọng và cách chúng ảnh hưởng đến kết quả</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E4D04154-5D12-CF00-001B-0E3460C0184F}"/>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91F781A8-E3FA-9E8D-E576-8BEF5306EA9E}"/>
              </a:ext>
            </a:extLst>
          </p:cNvPr>
          <p:cNvPicPr>
            <a:picLocks noChangeAspect="1"/>
          </p:cNvPicPr>
          <p:nvPr/>
        </p:nvPicPr>
        <p:blipFill>
          <a:blip r:embed="rId3"/>
          <a:stretch>
            <a:fillRect/>
          </a:stretch>
        </p:blipFill>
        <p:spPr>
          <a:xfrm>
            <a:off x="457200" y="3351997"/>
            <a:ext cx="4114800" cy="2923029"/>
          </a:xfrm>
          <a:prstGeom prst="rect">
            <a:avLst/>
          </a:prstGeom>
        </p:spPr>
      </p:pic>
      <p:pic>
        <p:nvPicPr>
          <p:cNvPr id="10" name="Picture 9">
            <a:extLst>
              <a:ext uri="{FF2B5EF4-FFF2-40B4-BE49-F238E27FC236}">
                <a16:creationId xmlns:a16="http://schemas.microsoft.com/office/drawing/2014/main" id="{5ACA2F5F-3000-5B93-5432-1F47E39EBA5B}"/>
              </a:ext>
            </a:extLst>
          </p:cNvPr>
          <p:cNvPicPr>
            <a:picLocks noChangeAspect="1"/>
          </p:cNvPicPr>
          <p:nvPr/>
        </p:nvPicPr>
        <p:blipFill>
          <a:blip r:embed="rId4"/>
          <a:stretch>
            <a:fillRect/>
          </a:stretch>
        </p:blipFill>
        <p:spPr>
          <a:xfrm>
            <a:off x="4608896" y="3359368"/>
            <a:ext cx="4114801" cy="2915658"/>
          </a:xfrm>
          <a:prstGeom prst="rect">
            <a:avLst/>
          </a:prstGeom>
        </p:spPr>
      </p:pic>
    </p:spTree>
    <p:extLst>
      <p:ext uri="{BB962C8B-B14F-4D97-AF65-F5344CB8AC3E}">
        <p14:creationId xmlns:p14="http://schemas.microsoft.com/office/powerpoint/2010/main" val="1904436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EBD0E-10F6-8EDD-8226-26094B85F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9B797-AE53-827F-868D-42BB4EC661F9}"/>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25438EC6-53F4-4B96-BC53-E8CED0AF0CC7}"/>
              </a:ext>
            </a:extLst>
          </p:cNvPr>
          <p:cNvSpPr>
            <a:spLocks noGrp="1"/>
          </p:cNvSpPr>
          <p:nvPr>
            <p:ph idx="1"/>
          </p:nvPr>
        </p:nvSpPr>
        <p:spPr/>
        <p:txBody>
          <a:bodyPr>
            <a:normAutofit/>
          </a:bodyPr>
          <a:lstStyle/>
          <a:p>
            <a:pPr algn="just">
              <a:lnSpc>
                <a:spcPct val="150000"/>
              </a:lnSpc>
            </a:pPr>
            <a:r>
              <a:rPr lang="en-US" sz="1800" b="1" i="1">
                <a:effectLst/>
                <a:latin typeface="Verdana" panose="020B0604030504040204" pitchFamily="34" charset="0"/>
                <a:ea typeface="Verdana" panose="020B0604030504040204" pitchFamily="34" charset="0"/>
                <a:cs typeface="Verdana" panose="020B0604030504040204" pitchFamily="34" charset="0"/>
              </a:rPr>
              <a:t>•Đánh giá tác động: </a:t>
            </a:r>
            <a:r>
              <a:rPr lang="en-US" sz="1800" i="1">
                <a:effectLst/>
                <a:latin typeface="Verdana" panose="020B0604030504040204" pitchFamily="34" charset="0"/>
                <a:ea typeface="Verdana" panose="020B0604030504040204" pitchFamily="34" charset="0"/>
                <a:cs typeface="Verdana" panose="020B0604030504040204" pitchFamily="34" charset="0"/>
              </a:rPr>
              <a:t>Trong nghiên cứu và phân tích, hồi quy tuyến tính giúp đánh giá tác động của các yếu tố (biến độc lập) lên một kết quả cụ thể (biến phụ thuộc).</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B9366A2-D99C-B3E6-1806-AD247BDC9D54}"/>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0313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183F19C-2A17-5263-AEA3-CFD0FC1488DD}"/>
              </a:ext>
            </a:extLst>
          </p:cNvPr>
          <p:cNvSpPr>
            <a:spLocks noGrp="1"/>
          </p:cNvSpPr>
          <p:nvPr>
            <p:ph type="ftr" sz="quarter" idx="11"/>
          </p:nvPr>
        </p:nvSpPr>
        <p:spPr/>
        <p:txBody>
          <a:bodyPr/>
          <a:lstStyle/>
          <a:p>
            <a:r>
              <a:rPr lang="en-US"/>
              <a:t>ThS. Lê Nhật Tùng</a:t>
            </a:r>
          </a:p>
        </p:txBody>
      </p:sp>
      <p:pic>
        <p:nvPicPr>
          <p:cNvPr id="2050" name="Picture 2" descr="Kỹ năng học tập hiệu quả - Điểm 10+">
            <a:extLst>
              <a:ext uri="{FF2B5EF4-FFF2-40B4-BE49-F238E27FC236}">
                <a16:creationId xmlns:a16="http://schemas.microsoft.com/office/drawing/2014/main" id="{AD94F50C-141C-F8B1-4247-E2797E76B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6" y="952499"/>
            <a:ext cx="2667000" cy="183773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Khắc phục giấc ngủ chập chờn">
            <a:extLst>
              <a:ext uri="{FF2B5EF4-FFF2-40B4-BE49-F238E27FC236}">
                <a16:creationId xmlns:a16="http://schemas.microsoft.com/office/drawing/2014/main" id="{7BFB49D9-BF51-BD7B-652F-CA0BDB0311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5160" y="958515"/>
            <a:ext cx="2450305" cy="183772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ợi ích của tập thể dục thường xuyên là gì? - Ngôi sao">
            <a:extLst>
              <a:ext uri="{FF2B5EF4-FFF2-40B4-BE49-F238E27FC236}">
                <a16:creationId xmlns:a16="http://schemas.microsoft.com/office/drawing/2014/main" id="{50C85622-D009-3279-5B91-FDF7002A28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8964" y="952500"/>
            <a:ext cx="3263920" cy="1837729"/>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8" descr="Hình ảnh Học Sinh đạt điểm Cao Trong Các Kỳ Thi PNG , Bài Kiểm Tra, Làm  Việc Chăm Chỉ, Điểm Tối đa PNG miễn phí tải tập tin PSDComment và Vector">
            <a:extLst>
              <a:ext uri="{FF2B5EF4-FFF2-40B4-BE49-F238E27FC236}">
                <a16:creationId xmlns:a16="http://schemas.microsoft.com/office/drawing/2014/main" id="{9559EDCB-A162-457D-AA49-171365196EE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0" descr="Hình ảnh Học Sinh đạt điểm Cao Trong Các Kỳ Thi PNG , Bài Kiểm Tra, Làm  Việc Chăm Chỉ, Điểm Tối đa PNG miễn phí tải tập tin PSDComment và Vector">
            <a:extLst>
              <a:ext uri="{FF2B5EF4-FFF2-40B4-BE49-F238E27FC236}">
                <a16:creationId xmlns:a16="http://schemas.microsoft.com/office/drawing/2014/main" id="{36A16743-5A80-C71E-DF33-59E9F518051E}"/>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1AE8FC3C-1CDE-4094-CD82-4C7D96D0A9BC}"/>
              </a:ext>
            </a:extLst>
          </p:cNvPr>
          <p:cNvPicPr>
            <a:picLocks noChangeAspect="1"/>
          </p:cNvPicPr>
          <p:nvPr/>
        </p:nvPicPr>
        <p:blipFill>
          <a:blip r:embed="rId6"/>
          <a:stretch>
            <a:fillRect/>
          </a:stretch>
        </p:blipFill>
        <p:spPr>
          <a:xfrm>
            <a:off x="100326" y="3266574"/>
            <a:ext cx="2486399" cy="2314074"/>
          </a:xfrm>
          <a:prstGeom prst="rect">
            <a:avLst/>
          </a:prstGeom>
        </p:spPr>
      </p:pic>
    </p:spTree>
    <p:extLst>
      <p:ext uri="{BB962C8B-B14F-4D97-AF65-F5344CB8AC3E}">
        <p14:creationId xmlns:p14="http://schemas.microsoft.com/office/powerpoint/2010/main" val="2979812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BB3D8-DCD9-C7F0-E89F-1772DEDFB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55777-AAE3-2671-D550-C4F8D4D0B0D8}"/>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1CD67885-7A30-22E1-1FE5-0AAEBB7589AE}"/>
              </a:ext>
            </a:extLst>
          </p:cNvPr>
          <p:cNvSpPr>
            <a:spLocks noGrp="1"/>
          </p:cNvSpPr>
          <p:nvPr>
            <p:ph idx="1"/>
          </p:nvPr>
        </p:nvSpPr>
        <p:spPr/>
        <p:txBody>
          <a:bodyPr>
            <a:normAutofit/>
          </a:bodyPr>
          <a:lstStyle/>
          <a:p>
            <a:pPr marL="457200" marR="0" lvl="1" indent="0" algn="just">
              <a:lnSpc>
                <a:spcPct val="150000"/>
              </a:lnSpc>
              <a:spcBef>
                <a:spcPts val="600"/>
              </a:spcBef>
              <a:spcAft>
                <a:spcPts val="600"/>
              </a:spcAft>
              <a:buNone/>
            </a:pPr>
            <a:r>
              <a:rPr lang="en-US" sz="1800" b="1" i="1">
                <a:effectLst/>
                <a:latin typeface="Verdana" panose="020B0604030504040204" pitchFamily="34" charset="0"/>
                <a:ea typeface="Verdana" panose="020B0604030504040204" pitchFamily="34" charset="0"/>
                <a:cs typeface="Verdana" panose="020B0604030504040204" pitchFamily="34" charset="0"/>
              </a:rPr>
              <a:t>Kiểm soát các biến: </a:t>
            </a:r>
            <a:r>
              <a:rPr lang="en-US" sz="1800">
                <a:effectLst/>
                <a:latin typeface="Verdana" panose="020B0604030504040204" pitchFamily="34" charset="0"/>
                <a:ea typeface="Verdana" panose="020B0604030504040204" pitchFamily="34" charset="0"/>
                <a:cs typeface="Verdana" panose="020B0604030504040204" pitchFamily="34" charset="0"/>
              </a:rPr>
              <a:t>Trong mô hình hồi quy tuyến tính đa biến, có thể kiểm soát ảnh hưởng của các biến nhiễu để tập trung vào mối quan hệ cụ thể giữa một số biến chọn lọc.</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1FFE4354-E7E7-5FFD-8935-0FFCD37BB405}"/>
              </a:ext>
            </a:extLst>
          </p:cNvPr>
          <p:cNvSpPr>
            <a:spLocks noGrp="1"/>
          </p:cNvSpPr>
          <p:nvPr>
            <p:ph type="ftr" sz="quarter" idx="11"/>
          </p:nvPr>
        </p:nvSpPr>
        <p:spPr/>
        <p:txBody>
          <a:bodyPr/>
          <a:lstStyle/>
          <a:p>
            <a:r>
              <a:rPr lang="en-US"/>
              <a:t>ThS. Lê Nhật Tùng</a:t>
            </a:r>
          </a:p>
        </p:txBody>
      </p:sp>
      <p:pic>
        <p:nvPicPr>
          <p:cNvPr id="3074" name="Picture 2" descr="Education Income And Wealth | St. Louis Fed">
            <a:extLst>
              <a:ext uri="{FF2B5EF4-FFF2-40B4-BE49-F238E27FC236}">
                <a16:creationId xmlns:a16="http://schemas.microsoft.com/office/drawing/2014/main" id="{CC5CA4DB-4476-8B4B-B530-5D2F9CB33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7" y="3725969"/>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564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A5A7D-DC11-D2E4-636C-17A948AD49A4}"/>
              </a:ext>
            </a:extLst>
          </p:cNvPr>
          <p:cNvSpPr>
            <a:spLocks noGrp="1"/>
          </p:cNvSpPr>
          <p:nvPr>
            <p:ph type="title"/>
          </p:nvPr>
        </p:nvSpPr>
        <p:spPr/>
        <p:txBody>
          <a:bodyPr/>
          <a:lstStyle/>
          <a:p>
            <a:r>
              <a:rPr lang="en-US"/>
              <a:t>Mục đích của mô hình</a:t>
            </a:r>
          </a:p>
        </p:txBody>
      </p:sp>
      <p:sp>
        <p:nvSpPr>
          <p:cNvPr id="3" name="Content Placeholder 2">
            <a:extLst>
              <a:ext uri="{FF2B5EF4-FFF2-40B4-BE49-F238E27FC236}">
                <a16:creationId xmlns:a16="http://schemas.microsoft.com/office/drawing/2014/main" id="{6E716516-0FC1-EFB3-4A59-9A9DA7A98F31}"/>
              </a:ext>
            </a:extLst>
          </p:cNvPr>
          <p:cNvSpPr>
            <a:spLocks noGrp="1"/>
          </p:cNvSpPr>
          <p:nvPr>
            <p:ph idx="1"/>
          </p:nvPr>
        </p:nvSpPr>
        <p:spPr/>
        <p:txBody>
          <a:bodyPr/>
          <a:lstStyle/>
          <a:p>
            <a:r>
              <a:rPr lang="en-US" sz="1800" b="1" i="1">
                <a:effectLst/>
                <a:latin typeface="Verdana" panose="020B0604030504040204" pitchFamily="34" charset="0"/>
                <a:ea typeface="Verdana" panose="020B0604030504040204" pitchFamily="34" charset="0"/>
                <a:cs typeface="Verdana" panose="020B0604030504040204" pitchFamily="34" charset="0"/>
              </a:rPr>
              <a:t>Phân tích xu hướng và mẫu</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Hồi quy tuyến tính giúp phân tích xu hướng và mẫu trong dữ liệu, qua đó cung cấp thông tin hữu ích cho việc ra quyết định và lập kế hoạch.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p:sp>
        <p:nvSpPr>
          <p:cNvPr id="4" name="Footer Placeholder 3">
            <a:extLst>
              <a:ext uri="{FF2B5EF4-FFF2-40B4-BE49-F238E27FC236}">
                <a16:creationId xmlns:a16="http://schemas.microsoft.com/office/drawing/2014/main" id="{567EA5BB-04FD-FF1B-BA6F-D13A352E0036}"/>
              </a:ext>
            </a:extLst>
          </p:cNvPr>
          <p:cNvSpPr>
            <a:spLocks noGrp="1"/>
          </p:cNvSpPr>
          <p:nvPr>
            <p:ph type="ftr" sz="quarter" idx="11"/>
          </p:nvPr>
        </p:nvSpPr>
        <p:spPr/>
        <p:txBody>
          <a:bodyPr/>
          <a:lstStyle/>
          <a:p>
            <a:r>
              <a:rPr lang="en-US"/>
              <a:t>ThS. Lê Nhật Tùng</a:t>
            </a:r>
          </a:p>
        </p:txBody>
      </p:sp>
      <p:pic>
        <p:nvPicPr>
          <p:cNvPr id="4098" name="Picture 2" descr="Electronic Products Sales Analysis | Metricalist">
            <a:extLst>
              <a:ext uri="{FF2B5EF4-FFF2-40B4-BE49-F238E27FC236}">
                <a16:creationId xmlns:a16="http://schemas.microsoft.com/office/drawing/2014/main" id="{B3423753-A21B-7620-8DA8-7031E205A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0209" y="2892543"/>
            <a:ext cx="5829300" cy="3271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438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04AC2-A7E3-EEFC-9554-AA8B9BE14EB5}"/>
              </a:ext>
            </a:extLst>
          </p:cNvPr>
          <p:cNvSpPr>
            <a:spLocks noGrp="1"/>
          </p:cNvSpPr>
          <p:nvPr>
            <p:ph type="title"/>
          </p:nvPr>
        </p:nvSpPr>
        <p:spPr/>
        <p:txBody>
          <a:bodyPr/>
          <a:lstStyle/>
          <a:p>
            <a:r>
              <a:rPr lang="vi-VN"/>
              <a:t>Giả định cơ bản</a:t>
            </a:r>
            <a:r>
              <a:rPr lang="en-US"/>
              <a:t>:</a:t>
            </a:r>
          </a:p>
        </p:txBody>
      </p:sp>
      <p:sp>
        <p:nvSpPr>
          <p:cNvPr id="3" name="Content Placeholder 2">
            <a:extLst>
              <a:ext uri="{FF2B5EF4-FFF2-40B4-BE49-F238E27FC236}">
                <a16:creationId xmlns:a16="http://schemas.microsoft.com/office/drawing/2014/main" id="{EEC30E0B-CA20-63CB-5C25-131885CCA594}"/>
              </a:ext>
            </a:extLst>
          </p:cNvPr>
          <p:cNvSpPr>
            <a:spLocks noGrp="1"/>
          </p:cNvSpPr>
          <p:nvPr>
            <p:ph idx="1"/>
          </p:nvPr>
        </p:nvSpPr>
        <p:spPr/>
        <p:txBody>
          <a:bodyPr>
            <a:normAutofit fontScale="92500"/>
          </a:bodyPr>
          <a:lstStyle/>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Tính tuyến tính:</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Mối quan hệ giữa biến phụ thuộc và các biến độc lập được giả định là tuyến tính, tức là có thể được mô tả thông qua một đường thẳng.</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Độc lập của các sai số (Residuals):</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Các sai số từ mô hình được giả định là độc lập với nhau, không có sự phụ thuộc hoặc mẫu định hình nào.</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Phân phối chuẩn của sai số:</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Các sai số được giả định tuân theo một phân phối chuẩn.</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Homoscedasticity:</a:t>
            </a:r>
            <a:r>
              <a:rPr lang="en-US" sz="1400">
                <a:effectLst/>
                <a:latin typeface="Verdana" panose="020B0604030504040204" pitchFamily="34" charset="0"/>
                <a:ea typeface="Verdana" panose="020B0604030504040204" pitchFamily="34" charset="0"/>
                <a:cs typeface="Verdana" panose="020B0604030504040204" pitchFamily="34" charset="0"/>
              </a:rPr>
              <a:t> Phương sai của sai số được giả định là nhất quán qua tất cả các giá trị của biến độc lập, không biến đổi theo mức độ của biến dự đoán.</a:t>
            </a:r>
            <a:endParaRPr lang="en-US" sz="1400">
              <a:latin typeface="Verdana" panose="020B0604030504040204" pitchFamily="34" charset="0"/>
              <a:ea typeface="Verdana" panose="020B0604030504040204" pitchFamily="34"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b="1" i="1">
                <a:effectLst/>
                <a:latin typeface="Verdana" panose="020B0604030504040204" pitchFamily="34" charset="0"/>
                <a:ea typeface="Verdana" panose="020B0604030504040204" pitchFamily="34" charset="0"/>
                <a:cs typeface="Verdana" panose="020B0604030504040204" pitchFamily="34" charset="0"/>
              </a:rPr>
              <a:t>Không có hoặc hạn chế đa cộng tuyến:</a:t>
            </a:r>
            <a:r>
              <a:rPr lang="en-US" sz="1400" b="1">
                <a:effectLst/>
                <a:latin typeface="Verdana" panose="020B0604030504040204" pitchFamily="34" charset="0"/>
                <a:ea typeface="Verdana" panose="020B0604030504040204" pitchFamily="34" charset="0"/>
                <a:cs typeface="Verdana" panose="020B0604030504040204" pitchFamily="34" charset="0"/>
              </a:rPr>
              <a:t> </a:t>
            </a:r>
            <a:r>
              <a:rPr lang="en-US" sz="1400">
                <a:effectLst/>
                <a:latin typeface="Verdana" panose="020B0604030504040204" pitchFamily="34" charset="0"/>
                <a:ea typeface="Verdana" panose="020B0604030504040204" pitchFamily="34" charset="0"/>
                <a:cs typeface="Verdana" panose="020B0604030504040204" pitchFamily="34" charset="0"/>
              </a:rPr>
              <a:t>Giả định rằng không có mối quan hệ tương quan cao giữa các biến độc lập, hay nói cách khác, các biến độc lập không được phụ thuộc lẫn nhau một cách mạnh mẽ.</a:t>
            </a:r>
            <a:endParaRPr lang="en-US" sz="2400"/>
          </a:p>
        </p:txBody>
      </p:sp>
      <p:sp>
        <p:nvSpPr>
          <p:cNvPr id="4" name="Footer Placeholder 3">
            <a:extLst>
              <a:ext uri="{FF2B5EF4-FFF2-40B4-BE49-F238E27FC236}">
                <a16:creationId xmlns:a16="http://schemas.microsoft.com/office/drawing/2014/main" id="{76E25D1C-7710-CCB3-DE95-C984B5D8363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181368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839D-1943-5E8A-C8C2-1D338CE327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830B67-820F-8CEA-4C83-8B75BE30CF0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D086179-FB6A-E927-B4EC-42D4B442CB2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72965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9F412-59D2-ED71-83A5-2ACC26A10C8B}"/>
              </a:ext>
            </a:extLst>
          </p:cNvPr>
          <p:cNvSpPr>
            <a:spLocks noGrp="1"/>
          </p:cNvSpPr>
          <p:nvPr>
            <p:ph type="title"/>
          </p:nvPr>
        </p:nvSpPr>
        <p:spPr/>
        <p:txBody>
          <a:bodyPr/>
          <a:lstStyle/>
          <a:p>
            <a:r>
              <a:rPr lang="en-US" b="1"/>
              <a:t>Tham số</a:t>
            </a:r>
          </a:p>
        </p:txBody>
      </p:sp>
      <p:sp>
        <p:nvSpPr>
          <p:cNvPr id="3" name="Content Placeholder 2">
            <a:extLst>
              <a:ext uri="{FF2B5EF4-FFF2-40B4-BE49-F238E27FC236}">
                <a16:creationId xmlns:a16="http://schemas.microsoft.com/office/drawing/2014/main" id="{9547D739-4019-9262-3C41-1254346C5D1D}"/>
              </a:ext>
            </a:extLst>
          </p:cNvPr>
          <p:cNvSpPr>
            <a:spLocks noGrp="1"/>
          </p:cNvSpPr>
          <p:nvPr>
            <p:ph idx="1"/>
          </p:nvPr>
        </p:nvSpPr>
        <p:spPr/>
        <p:txBody>
          <a:bodyPr>
            <a:normAutofit fontScale="925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Hệ số hồi quy (regression coefficients)</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Đây là các trọng số được gán cho mỗi biến độc lập. Chúng xác định mức độ mà mỗi biến độc lập ảnh hưởng đến biến phụ thuộc.</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Điểm chặn (intercept)</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Đây là giá trị của biến phụ thuộc khi tất cả các biến độc lập bằng 0. Nói cách khác, đây là điểm bắt đầu của đường hồi quy trên trục tung.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Lỗi (error term)</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Còn được gọi là dư lượng, lỗi là phần của dữ liệu mà không được giải thích bởi mô hình hồi quy. Nó bao gồm cả ảnh hưởng của các yếu tố ngoại lai và sai số ngẫu nhiên.</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a:p>
        </p:txBody>
      </p:sp>
      <p:sp>
        <p:nvSpPr>
          <p:cNvPr id="4" name="Footer Placeholder 3">
            <a:extLst>
              <a:ext uri="{FF2B5EF4-FFF2-40B4-BE49-F238E27FC236}">
                <a16:creationId xmlns:a16="http://schemas.microsoft.com/office/drawing/2014/main" id="{8123DC9F-B742-55E7-9D58-2513EAE030D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386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63AE-06CE-1E95-785E-E4BCDDBCED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9A561B-32B7-8BEE-2F7C-B0989E729C4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7FC4545-CB44-88E7-DFF8-9C9714C6B13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066018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C199-E3BB-D9E6-3E9C-725B31C3D9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40A57D-0DFF-432A-2600-C685D318E11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400EDE6-7A6C-1DBC-9AB3-C8BAB876827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681572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6486B-13CC-2AAC-8C5F-BD234452EC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E4D023-3B17-7CCA-6B27-FFB7196E5F0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C4F13B1-F28D-5A8B-2CAC-67336A34CA7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13064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71FD-683E-A22F-4040-8E0E27069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F4635-3D05-570A-84A4-C2373B019BD7}"/>
              </a:ext>
            </a:extLst>
          </p:cNvPr>
          <p:cNvSpPr>
            <a:spLocks noGrp="1"/>
          </p:cNvSpPr>
          <p:nvPr>
            <p:ph type="title"/>
          </p:nvPr>
        </p:nvSpPr>
        <p:spPr/>
        <p:txBody>
          <a:bodyPr/>
          <a:lstStyle/>
          <a:p>
            <a:r>
              <a:rPr lang="en-US" b="1"/>
              <a:t>Tham số</a:t>
            </a:r>
          </a:p>
        </p:txBody>
      </p:sp>
      <p:sp>
        <p:nvSpPr>
          <p:cNvPr id="3" name="Content Placeholder 2">
            <a:extLst>
              <a:ext uri="{FF2B5EF4-FFF2-40B4-BE49-F238E27FC236}">
                <a16:creationId xmlns:a16="http://schemas.microsoft.com/office/drawing/2014/main" id="{D6B55C3B-F23F-B373-C27D-BE97682B1A01}"/>
              </a:ext>
            </a:extLst>
          </p:cNvPr>
          <p:cNvSpPr>
            <a:spLocks noGrp="1"/>
          </p:cNvSpPr>
          <p:nvPr>
            <p:ph idx="1"/>
          </p:nvPr>
        </p:nvSpPr>
        <p:spPr/>
        <p:txBody>
          <a:bodyPr>
            <a:normAutofit fontScale="775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Hệ số xác định (R-squared): </a:t>
            </a:r>
            <a:r>
              <a:rPr lang="en-US" sz="1800">
                <a:effectLst/>
                <a:latin typeface="Verdana" panose="020B0604030504040204" pitchFamily="34" charset="0"/>
                <a:ea typeface="Verdana" panose="020B0604030504040204" pitchFamily="34" charset="0"/>
                <a:cs typeface="Verdana" panose="020B0604030504040204" pitchFamily="34" charset="0"/>
              </a:rPr>
              <a:t>Mặc dù không phải là một tham số cần thiết lập trước khi xây dựng mô hình, R-squared là một chỉ số quan trọng để đánh giá mức độ phù hợp của mô hình với dữ liệu. Nó thể hiện tỷ lệ phần trăm biến thiên của biến phụ thuộc được giải thích bởi mô hình.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Tham số chuẩn hóa (Regularization parameters):</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Đối với các biến thể của hồi quy tuyến tính như Ridge (L2 regularization) hoặc Lasso (L1 regularization), tham số chuẩn hóa được sử dụng để kiểm soát mức độ phạt đối với độ lớn của hệ số hồi quy, nhằm giảm overfitting.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Tiêu chí dừng (stopping criteria): </a:t>
            </a:r>
            <a:r>
              <a:rPr lang="en-US" sz="1800">
                <a:effectLst/>
                <a:latin typeface="Verdana" panose="020B0604030504040204" pitchFamily="34" charset="0"/>
                <a:ea typeface="Verdana" panose="020B0604030504040204" pitchFamily="34" charset="0"/>
                <a:cs typeface="Verdana" panose="020B0604030504040204" pitchFamily="34" charset="0"/>
              </a:rPr>
              <a:t>Trong các phương pháp học máy, tiêu chí dừng xác định khi nào quá trình tối ưu hóa nên dừng lại, thường dựa trên sự cải thiện của hàm mất mát hoặc số lần lặp tối đa.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89275701-9B94-1B50-700C-FFEAAE78B3A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99488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51767-ACD6-771B-F731-85F288A4B9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1361F8-5B2B-3834-3E33-93CE8AF7FC1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2B3982A-90A0-BC72-B663-2A79BF848E92}"/>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85230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36603-4510-4EA7-F0CA-A69A10EEA1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4CB0DE-3917-9D82-9AD8-FAA886C27FE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A9F63FB-0437-41F5-802F-B27574806C4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154249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D978-A289-2118-3B4E-123D30175529}"/>
              </a:ext>
            </a:extLst>
          </p:cNvPr>
          <p:cNvSpPr>
            <a:spLocks noGrp="1"/>
          </p:cNvSpPr>
          <p:nvPr>
            <p:ph type="title"/>
          </p:nvPr>
        </p:nvSpPr>
        <p:spPr/>
        <p:txBody>
          <a:bodyPr>
            <a:normAutofit/>
          </a:bodyPr>
          <a:lstStyle/>
          <a:p>
            <a:r>
              <a:rPr lang="vi-VN"/>
              <a:t>Mô hình hồi quy tuyến tính đơn giản (một biến độc lập)</a:t>
            </a: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C265E8-2BEF-C98D-C7BB-0539830F2615}"/>
                  </a:ext>
                </a:extLst>
              </p:cNvPr>
              <p:cNvSpPr>
                <a:spLocks noGrp="1"/>
              </p:cNvSpPr>
              <p:nvPr>
                <p:ph idx="1"/>
              </p:nvPr>
            </p:nvSpPr>
            <p:spPr/>
            <p:txBody>
              <a:bodyPr>
                <a:normAutofit lnSpcReduction="10000"/>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Trong trường hợp đơn giản nhất với chỉ một biến độc lập, mô hình hồi quy tuyến tính có dạng:</a:t>
                </a:r>
              </a:p>
              <a:p>
                <a:pPr algn="just">
                  <a:lnSpc>
                    <a:spcPct val="150000"/>
                  </a:lnSpc>
                </a:pPr>
                <a:r>
                  <a:rPr lang="en-US" sz="2400">
                    <a:effectLst/>
                    <a:ea typeface="Verdana" panose="020B0604030504040204" pitchFamily="34" charset="0"/>
                    <a:cs typeface="Verdana" panose="020B0604030504040204" pitchFamily="34" charset="0"/>
                  </a:rPr>
                  <a:t>                                    </a:t>
                </a:r>
                <a14:m>
                  <m:oMath xmlns:m="http://schemas.openxmlformats.org/officeDocument/2006/math">
                    <m:r>
                      <a:rPr lang="en-US" sz="2400" i="1" smtClean="0">
                        <a:effectLst/>
                        <a:latin typeface="Cambria Math" panose="02040503050406030204" pitchFamily="18" charset="0"/>
                        <a:ea typeface="Verdana" panose="020B0604030504040204" pitchFamily="34" charset="0"/>
                        <a:cs typeface="Verdana" panose="020B0604030504040204" pitchFamily="34" charset="0"/>
                      </a:rPr>
                      <m:t>𝑦</m:t>
                    </m:r>
                    <m:r>
                      <a:rPr lang="en-US" sz="2400" i="1" smtClean="0">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400" i="1">
                            <a:effectLst/>
                            <a:latin typeface="Cambria Math" panose="02040503050406030204" pitchFamily="18" charset="0"/>
                            <a:ea typeface="Verdana" panose="020B0604030504040204" pitchFamily="34" charset="0"/>
                            <a:cs typeface="Verdana" panose="020B0604030504040204" pitchFamily="34" charset="0"/>
                          </a:rPr>
                        </m:ctrlPr>
                      </m:sSubPr>
                      <m:e>
                        <m:r>
                          <a:rPr lang="en-US" sz="24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400" i="1">
                            <a:effectLst/>
                            <a:latin typeface="Cambria Math" panose="02040503050406030204" pitchFamily="18" charset="0"/>
                            <a:ea typeface="Verdana" panose="020B0604030504040204" pitchFamily="34" charset="0"/>
                            <a:cs typeface="Verdana" panose="020B0604030504040204" pitchFamily="34" charset="0"/>
                          </a:rPr>
                          <m:t>0</m:t>
                        </m:r>
                      </m:sub>
                    </m:sSub>
                    <m:r>
                      <a:rPr lang="en-US" sz="24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400" i="1">
                            <a:effectLst/>
                            <a:latin typeface="Cambria Math" panose="02040503050406030204" pitchFamily="18" charset="0"/>
                            <a:ea typeface="Verdana" panose="020B0604030504040204" pitchFamily="34" charset="0"/>
                            <a:cs typeface="Verdana" panose="020B0604030504040204" pitchFamily="34" charset="0"/>
                          </a:rPr>
                        </m:ctrlPr>
                      </m:sSubPr>
                      <m:e>
                        <m:r>
                          <a:rPr lang="en-US" sz="24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4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400" i="1">
                        <a:effectLst/>
                        <a:latin typeface="Cambria Math" panose="02040503050406030204" pitchFamily="18" charset="0"/>
                        <a:ea typeface="Verdana" panose="020B0604030504040204" pitchFamily="34" charset="0"/>
                        <a:cs typeface="Verdana" panose="020B0604030504040204" pitchFamily="34" charset="0"/>
                      </a:rPr>
                      <m:t>𝑥</m:t>
                    </m:r>
                    <m:r>
                      <a:rPr lang="en-US" sz="2400" i="1">
                        <a:effectLst/>
                        <a:latin typeface="Cambria Math" panose="02040503050406030204" pitchFamily="18" charset="0"/>
                        <a:ea typeface="Verdana" panose="020B0604030504040204" pitchFamily="34" charset="0"/>
                        <a:cs typeface="Verdana" panose="020B0604030504040204" pitchFamily="34" charset="0"/>
                      </a:rPr>
                      <m:t>+</m:t>
                    </m:r>
                    <m:r>
                      <a:rPr lang="en-US" sz="2400" i="1">
                        <a:effectLst/>
                        <a:latin typeface="Cambria Math" panose="02040503050406030204" pitchFamily="18" charset="0"/>
                        <a:ea typeface="Verdana" panose="020B0604030504040204" pitchFamily="34" charset="0"/>
                        <a:cs typeface="Verdana" panose="020B0604030504040204" pitchFamily="34" charset="0"/>
                      </a:rPr>
                      <m:t>𝜖</m:t>
                    </m:r>
                  </m:oMath>
                </a14:m>
                <a:endParaRPr lang="en-US" sz="2400">
                  <a:effectLst/>
                  <a:latin typeface="Verdana" panose="020B0604030504040204" pitchFamily="34" charset="0"/>
                  <a:ea typeface="Times New Roman" panose="02020603050405020304" pitchFamily="18" charset="0"/>
                  <a:cs typeface="Verdana" panose="020B0604030504040204" pitchFamily="34" charset="0"/>
                </a:endParaRPr>
              </a:p>
              <a:p>
                <a:pPr marL="0" marR="0" indent="226695" algn="just">
                  <a:lnSpc>
                    <a:spcPct val="150000"/>
                  </a:lnSpc>
                  <a:spcBef>
                    <a:spcPts val="600"/>
                  </a:spcBef>
                  <a:spcAft>
                    <a:spcPts val="600"/>
                  </a:spcAft>
                </a:pPr>
                <a:r>
                  <a:rPr lang="en-US" sz="1150">
                    <a:effectLst/>
                    <a:latin typeface="Verdana" panose="020B0604030504040204" pitchFamily="34" charset="0"/>
                    <a:ea typeface="Verdana" panose="020B0604030504040204" pitchFamily="34" charset="0"/>
                    <a:cs typeface="Verdana" panose="020B0604030504040204" pitchFamily="34" charset="0"/>
                  </a:rPr>
                  <a:t>trong đó:</a:t>
                </a:r>
                <a:endParaRPr lang="en-US" sz="115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150" i="1">
                        <a:effectLst/>
                        <a:latin typeface="Cambria Math" panose="02040503050406030204" pitchFamily="18" charset="0"/>
                        <a:ea typeface="Times New Roman" panose="02020603050405020304" pitchFamily="18" charset="0"/>
                        <a:cs typeface="Verdana" panose="020B0604030504040204" pitchFamily="34" charset="0"/>
                      </a:rPr>
                      <m:t>𝑦</m:t>
                    </m:r>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biến phụ thuộc.</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150" i="1">
                        <a:effectLst/>
                        <a:latin typeface="Cambria Math" panose="02040503050406030204" pitchFamily="18" charset="0"/>
                        <a:ea typeface="Times New Roman" panose="02020603050405020304" pitchFamily="18" charset="0"/>
                        <a:cs typeface="Verdana" panose="020B0604030504040204" pitchFamily="34" charset="0"/>
                      </a:rPr>
                      <m:t>𝑥</m:t>
                    </m:r>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biến độc lập.</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sSub>
                      <m:sSubPr>
                        <m:ctrlPr>
                          <a:rPr lang="en-US" sz="115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15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150">
                            <a:effectLst/>
                            <a:latin typeface="Cambria Math" panose="02040503050406030204" pitchFamily="18" charset="0"/>
                            <a:ea typeface="Times New Roman" panose="02020603050405020304" pitchFamily="18" charset="0"/>
                            <a:cs typeface="Verdana" panose="020B0604030504040204" pitchFamily="34" charset="0"/>
                          </a:rPr>
                          <m:t>0</m:t>
                        </m:r>
                      </m:sub>
                    </m:sSub>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hệ số chặn (intercept).</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sSub>
                      <m:sSubPr>
                        <m:ctrlPr>
                          <a:rPr lang="en-US" sz="115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15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150">
                            <a:effectLst/>
                            <a:latin typeface="Cambria Math" panose="02040503050406030204" pitchFamily="18" charset="0"/>
                            <a:ea typeface="Times New Roman" panose="02020603050405020304" pitchFamily="18" charset="0"/>
                            <a:cs typeface="Verdana" panose="020B0604030504040204" pitchFamily="34" charset="0"/>
                          </a:rPr>
                          <m:t>1</m:t>
                        </m:r>
                      </m:sub>
                    </m:sSub>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hệ số hướng (slope).</a:t>
                </a: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150" i="1">
                        <a:effectLst/>
                        <a:latin typeface="Cambria Math" panose="02040503050406030204" pitchFamily="18" charset="0"/>
                        <a:ea typeface="Times New Roman" panose="02020603050405020304" pitchFamily="18" charset="0"/>
                        <a:cs typeface="Verdana" panose="020B0604030504040204" pitchFamily="34" charset="0"/>
                      </a:rPr>
                      <m:t>𝜖</m:t>
                    </m:r>
                  </m:oMath>
                </a14:m>
                <a:r>
                  <a:rPr lang="en-US" sz="1150">
                    <a:effectLst/>
                    <a:latin typeface="Verdana" panose="020B0604030504040204" pitchFamily="34" charset="0"/>
                    <a:ea typeface="Times New Roman" panose="02020603050405020304" pitchFamily="18" charset="0"/>
                    <a:cs typeface="Verdana" panose="020B0604030504040204" pitchFamily="34" charset="0"/>
                  </a:rPr>
                  <a:t> là sai số ngẫu nhiên (không quan sát được).</a:t>
                </a:r>
              </a:p>
              <a:p>
                <a:pPr algn="just">
                  <a:lnSpc>
                    <a:spcPct val="150000"/>
                  </a:lnSpc>
                </a:pPr>
                <a:endParaRPr lang="en-US" sz="24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mc:Choice>
        <mc:Fallback xmlns="">
          <p:sp>
            <p:nvSpPr>
              <p:cNvPr id="3" name="Content Placeholder 2">
                <a:extLst>
                  <a:ext uri="{FF2B5EF4-FFF2-40B4-BE49-F238E27FC236}">
                    <a16:creationId xmlns:a16="http://schemas.microsoft.com/office/drawing/2014/main" id="{B0C265E8-2BEF-C98D-C7BB-0539830F2615}"/>
                  </a:ext>
                </a:extLst>
              </p:cNvPr>
              <p:cNvSpPr>
                <a:spLocks noGrp="1" noRot="1" noChangeAspect="1" noMove="1" noResize="1" noEditPoints="1" noAdjustHandles="1" noChangeArrowheads="1" noChangeShapeType="1" noTextEdit="1"/>
              </p:cNvSpPr>
              <p:nvPr>
                <p:ph idx="1"/>
              </p:nvPr>
            </p:nvSpPr>
            <p:spPr>
              <a:blipFill>
                <a:blip r:embed="rId2"/>
                <a:stretch>
                  <a:fillRect l="-646"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89A7B5B-5C76-C34C-326A-5ED3BD8AF08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51776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9B179-2E8F-064B-9EE6-F006B402237B}"/>
              </a:ext>
            </a:extLst>
          </p:cNvPr>
          <p:cNvSpPr>
            <a:spLocks noGrp="1"/>
          </p:cNvSpPr>
          <p:nvPr>
            <p:ph type="title"/>
          </p:nvPr>
        </p:nvSpPr>
        <p:spPr/>
        <p:txBody>
          <a:bodyPr>
            <a:normAutofit fontScale="90000"/>
          </a:bodyPr>
          <a:lstStyle/>
          <a:p>
            <a:r>
              <a:rPr lang="en-US" sz="5400" b="1"/>
              <a:t>Mô hình hồi quy tuyến tính đa biến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F8A823-0A1A-E3B9-A44F-8B016BBF9677}"/>
                  </a:ext>
                </a:extLst>
              </p:cNvPr>
              <p:cNvSpPr>
                <a:spLocks noGrp="1"/>
              </p:cNvSpPr>
              <p:nvPr>
                <p:ph idx="1"/>
              </p:nvPr>
            </p:nvSpPr>
            <p:spPr/>
            <p:txBody>
              <a:bodyPr/>
              <a:lstStyle/>
              <a:p>
                <a:pPr algn="just"/>
                <a:r>
                  <a:rPr lang="en-US" sz="1800">
                    <a:effectLst/>
                    <a:latin typeface="Verdana" panose="020B0604030504040204" pitchFamily="34" charset="0"/>
                    <a:ea typeface="Verdana" panose="020B0604030504040204" pitchFamily="34" charset="0"/>
                    <a:cs typeface="Verdana" panose="020B0604030504040204" pitchFamily="34" charset="0"/>
                  </a:rPr>
                  <a:t>Trong trường hợp có nhiều biến độc lập, mô hình mở rộng thành: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14:m>
                  <m:oMath xmlns:m="http://schemas.openxmlformats.org/officeDocument/2006/math">
                    <m:r>
                      <a:rPr lang="en-US" sz="2800" b="0" i="1" smtClean="0">
                        <a:effectLst/>
                        <a:latin typeface="Cambria Math" panose="02040503050406030204" pitchFamily="18" charset="0"/>
                        <a:ea typeface="Verdana" panose="020B0604030504040204" pitchFamily="34" charset="0"/>
                        <a:cs typeface="Verdana" panose="020B0604030504040204" pitchFamily="34" charset="0"/>
                      </a:rPr>
                      <m:t>            </m:t>
                    </m:r>
                    <m:r>
                      <a:rPr lang="en-US" sz="2800" i="1" smtClean="0">
                        <a:effectLst/>
                        <a:latin typeface="Cambria Math" panose="02040503050406030204" pitchFamily="18" charset="0"/>
                        <a:ea typeface="Verdana" panose="020B0604030504040204" pitchFamily="34" charset="0"/>
                        <a:cs typeface="Verdana" panose="020B0604030504040204" pitchFamily="34" charset="0"/>
                      </a:rPr>
                      <m:t>𝑦</m:t>
                    </m:r>
                    <m:r>
                      <a:rPr lang="en-US" sz="2800" i="1" smtClean="0">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0</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1</m:t>
                        </m:r>
                      </m:sub>
                    </m:sSub>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2800" i="1">
                            <a:effectLst/>
                            <a:latin typeface="Cambria Math" panose="02040503050406030204" pitchFamily="18" charset="0"/>
                            <a:ea typeface="Verdana" panose="020B0604030504040204" pitchFamily="34" charset="0"/>
                            <a:cs typeface="Verdana" panose="020B0604030504040204" pitchFamily="34" charset="0"/>
                          </a:rPr>
                          <m:t>1</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2</m:t>
                        </m:r>
                      </m:sub>
                    </m:sSub>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2800" i="1">
                            <a:effectLst/>
                            <a:latin typeface="Cambria Math" panose="02040503050406030204" pitchFamily="18" charset="0"/>
                            <a:ea typeface="Verdana" panose="020B0604030504040204" pitchFamily="34" charset="0"/>
                            <a:cs typeface="Verdana" panose="020B0604030504040204" pitchFamily="34" charset="0"/>
                          </a:rPr>
                          <m:t>2</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2800" i="1">
                            <a:effectLst/>
                            <a:latin typeface="Cambria Math" panose="02040503050406030204" pitchFamily="18" charset="0"/>
                            <a:ea typeface="Verdana" panose="020B0604030504040204" pitchFamily="34" charset="0"/>
                            <a:cs typeface="Verdana" panose="020B0604030504040204" pitchFamily="34" charset="0"/>
                          </a:rPr>
                          <m:t>𝑛</m:t>
                        </m:r>
                      </m:sub>
                    </m:sSub>
                    <m:sSub>
                      <m:sSubPr>
                        <m:ctrlPr>
                          <a:rPr lang="en-US" sz="2800" i="1">
                            <a:effectLst/>
                            <a:latin typeface="Cambria Math" panose="02040503050406030204" pitchFamily="18" charset="0"/>
                            <a:ea typeface="Verdana" panose="020B0604030504040204" pitchFamily="34" charset="0"/>
                            <a:cs typeface="Verdana" panose="020B0604030504040204" pitchFamily="34" charset="0"/>
                          </a:rPr>
                        </m:ctrlPr>
                      </m:sSubPr>
                      <m:e>
                        <m:r>
                          <a:rPr lang="en-US" sz="2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2800" i="1">
                            <a:effectLst/>
                            <a:latin typeface="Cambria Math" panose="02040503050406030204" pitchFamily="18" charset="0"/>
                            <a:ea typeface="Verdana" panose="020B0604030504040204" pitchFamily="34" charset="0"/>
                            <a:cs typeface="Verdana" panose="020B0604030504040204" pitchFamily="34" charset="0"/>
                          </a:rPr>
                          <m:t>𝑛</m:t>
                        </m:r>
                      </m:sub>
                    </m:sSub>
                    <m:r>
                      <a:rPr lang="en-US" sz="2800" i="1">
                        <a:effectLst/>
                        <a:latin typeface="Cambria Math" panose="02040503050406030204" pitchFamily="18" charset="0"/>
                        <a:ea typeface="Verdana" panose="020B0604030504040204" pitchFamily="34" charset="0"/>
                        <a:cs typeface="Verdana" panose="020B0604030504040204" pitchFamily="34" charset="0"/>
                      </a:rPr>
                      <m:t>+</m:t>
                    </m:r>
                    <m:r>
                      <a:rPr lang="en-US" sz="2800" i="1">
                        <a:effectLst/>
                        <a:latin typeface="Cambria Math" panose="02040503050406030204" pitchFamily="18" charset="0"/>
                        <a:ea typeface="Verdana" panose="020B0604030504040204" pitchFamily="34" charset="0"/>
                        <a:cs typeface="Verdana" panose="020B0604030504040204" pitchFamily="34" charset="0"/>
                      </a:rPr>
                      <m:t>𝜖</m:t>
                    </m:r>
                  </m:oMath>
                </a14:m>
                <a:endParaRPr lang="en-US" sz="2800">
                  <a:effectLst/>
                  <a:latin typeface="Verdana" panose="020B0604030504040204" pitchFamily="34" charset="0"/>
                  <a:ea typeface="Verdana" panose="020B0604030504040204" pitchFamily="34" charset="0"/>
                  <a:cs typeface="Verdana" panose="020B0604030504040204" pitchFamily="34" charset="0"/>
                </a:endParaRPr>
              </a:p>
              <a:p>
                <a:pPr algn="just"/>
                <a:endParaRPr lang="en-US" sz="2800">
                  <a:effectLst/>
                  <a:latin typeface="Verdana" panose="020B0604030504040204" pitchFamily="34" charset="0"/>
                  <a:ea typeface="Times New Roman" panose="02020603050405020304" pitchFamily="18" charset="0"/>
                  <a:cs typeface="Verdana" panose="020B0604030504040204" pitchFamily="34" charset="0"/>
                </a:endParaRPr>
              </a:p>
              <a:p>
                <a:pPr algn="just"/>
                <a:r>
                  <a:rPr lang="en-US" sz="1800">
                    <a:effectLst/>
                    <a:latin typeface="Verdana" panose="020B0604030504040204" pitchFamily="34" charset="0"/>
                    <a:ea typeface="Verdana" panose="020B0604030504040204" pitchFamily="34" charset="0"/>
                    <a:cs typeface="Verdana" panose="020B0604030504040204" pitchFamily="34" charset="0"/>
                  </a:rPr>
                  <a:t>trong đó, mỗi </a:t>
                </a:r>
                <a14:m>
                  <m:oMath xmlns:m="http://schemas.openxmlformats.org/officeDocument/2006/math">
                    <m:sSub>
                      <m:sSubPr>
                        <m:ctrlPr>
                          <a:rPr lang="en-US" sz="1800" i="1">
                            <a:effectLst/>
                            <a:latin typeface="Cambria Math" panose="02040503050406030204" pitchFamily="18" charset="0"/>
                            <a:ea typeface="Verdana" panose="020B0604030504040204" pitchFamily="34" charset="0"/>
                            <a:cs typeface="Verdana" panose="020B0604030504040204" pitchFamily="34" charset="0"/>
                          </a:rPr>
                        </m:ctrlPr>
                      </m:sSubPr>
                      <m:e>
                        <m:r>
                          <a:rPr lang="en-US" sz="1800" i="1">
                            <a:effectLst/>
                            <a:latin typeface="Cambria Math" panose="02040503050406030204" pitchFamily="18" charset="0"/>
                            <a:ea typeface="Verdana" panose="020B0604030504040204" pitchFamily="34" charset="0"/>
                            <a:cs typeface="Verdana" panose="020B0604030504040204" pitchFamily="34" charset="0"/>
                          </a:rPr>
                          <m:t>𝑥</m:t>
                        </m:r>
                      </m:e>
                      <m:sub>
                        <m:r>
                          <a:rPr lang="en-US" sz="1800" i="1">
                            <a:effectLst/>
                            <a:latin typeface="Cambria Math" panose="02040503050406030204" pitchFamily="18" charset="0"/>
                            <a:ea typeface="Verdana" panose="020B0604030504040204" pitchFamily="34" charset="0"/>
                            <a:cs typeface="Verdana" panose="020B0604030504040204" pitchFamily="34" charset="0"/>
                          </a:rPr>
                          <m:t>𝑖</m:t>
                        </m:r>
                      </m:sub>
                    </m:sSub>
                  </m:oMath>
                </a14:m>
                <a:r>
                  <a:rPr lang="en-US" sz="1800">
                    <a:effectLst/>
                    <a:latin typeface="Verdana" panose="020B0604030504040204" pitchFamily="34" charset="0"/>
                    <a:ea typeface="Verdana" panose="020B0604030504040204" pitchFamily="34" charset="0"/>
                    <a:cs typeface="Verdana" panose="020B0604030504040204" pitchFamily="34" charset="0"/>
                  </a:rPr>
                  <a:t> đại diện cho một biến độc lập khác nhau, và </a:t>
                </a:r>
                <a14:m>
                  <m:oMath xmlns:m="http://schemas.openxmlformats.org/officeDocument/2006/math">
                    <m:sSub>
                      <m:sSubPr>
                        <m:ctrlPr>
                          <a:rPr lang="en-US" sz="1800" i="1">
                            <a:effectLst/>
                            <a:latin typeface="Cambria Math" panose="02040503050406030204" pitchFamily="18" charset="0"/>
                            <a:ea typeface="Verdana" panose="020B0604030504040204" pitchFamily="34" charset="0"/>
                            <a:cs typeface="Verdana" panose="020B0604030504040204" pitchFamily="34" charset="0"/>
                          </a:rPr>
                        </m:ctrlPr>
                      </m:sSubPr>
                      <m:e>
                        <m:r>
                          <a:rPr lang="en-US" sz="1800" i="1">
                            <a:effectLst/>
                            <a:latin typeface="Cambria Math" panose="02040503050406030204" pitchFamily="18" charset="0"/>
                            <a:ea typeface="Verdana" panose="020B0604030504040204" pitchFamily="34" charset="0"/>
                            <a:cs typeface="Verdana" panose="020B0604030504040204" pitchFamily="34" charset="0"/>
                          </a:rPr>
                          <m:t>𝛽</m:t>
                        </m:r>
                      </m:e>
                      <m:sub>
                        <m:r>
                          <a:rPr lang="en-US" sz="1800" i="1">
                            <a:effectLst/>
                            <a:latin typeface="Cambria Math" panose="02040503050406030204" pitchFamily="18" charset="0"/>
                            <a:ea typeface="Verdana" panose="020B0604030504040204" pitchFamily="34" charset="0"/>
                            <a:cs typeface="Verdana" panose="020B0604030504040204" pitchFamily="34" charset="0"/>
                          </a:rPr>
                          <m:t>𝑖</m:t>
                        </m:r>
                      </m:sub>
                    </m:sSub>
                  </m:oMath>
                </a14:m>
                <a:r>
                  <a:rPr lang="en-US" sz="1800">
                    <a:effectLst/>
                    <a:latin typeface="Verdana" panose="020B0604030504040204" pitchFamily="34" charset="0"/>
                    <a:ea typeface="Verdana" panose="020B0604030504040204" pitchFamily="34" charset="0"/>
                    <a:cs typeface="Verdana" panose="020B0604030504040204" pitchFamily="34" charset="0"/>
                  </a:rPr>
                  <a:t> là hệ số tương ứng với mỗi biến độc lập đó.</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sz="2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a:p>
            </p:txBody>
          </p:sp>
        </mc:Choice>
        <mc:Fallback xmlns="">
          <p:sp>
            <p:nvSpPr>
              <p:cNvPr id="3" name="Content Placeholder 2">
                <a:extLst>
                  <a:ext uri="{FF2B5EF4-FFF2-40B4-BE49-F238E27FC236}">
                    <a16:creationId xmlns:a16="http://schemas.microsoft.com/office/drawing/2014/main" id="{55F8A823-0A1A-E3B9-A44F-8B016BBF9677}"/>
                  </a:ext>
                </a:extLst>
              </p:cNvPr>
              <p:cNvSpPr>
                <a:spLocks noGrp="1" noRot="1" noChangeAspect="1" noMove="1" noResize="1" noEditPoints="1" noAdjustHandles="1" noChangeArrowheads="1" noChangeShapeType="1" noTextEdit="1"/>
              </p:cNvSpPr>
              <p:nvPr>
                <p:ph idx="1"/>
              </p:nvPr>
            </p:nvSpPr>
            <p:spPr>
              <a:blipFill>
                <a:blip r:embed="rId2"/>
                <a:stretch>
                  <a:fillRect l="-646" t="-1515"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95A0999-4D73-A52E-51CC-037A5F72E58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79037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4CE6-EA8A-6124-FCF0-D32506BB402D}"/>
              </a:ext>
            </a:extLst>
          </p:cNvPr>
          <p:cNvSpPr>
            <a:spLocks noGrp="1"/>
          </p:cNvSpPr>
          <p:nvPr>
            <p:ph type="title"/>
          </p:nvPr>
        </p:nvSpPr>
        <p:spPr/>
        <p:txBody>
          <a:bodyPr/>
          <a:lstStyle/>
          <a:p>
            <a:r>
              <a:rPr lang="en-US" b="1"/>
              <a:t>Tìm hệ số mô hình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3905BA-B436-FEC0-A8F5-DFD827CDED48}"/>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Mục tiêu của hồi quy tuyến tính là </a:t>
                </a:r>
                <a:r>
                  <a:rPr lang="en-US" sz="1800" b="1" i="1">
                    <a:effectLst/>
                    <a:latin typeface="Verdana" panose="020B0604030504040204" pitchFamily="34" charset="0"/>
                    <a:ea typeface="Verdana" panose="020B0604030504040204" pitchFamily="34" charset="0"/>
                    <a:cs typeface="Verdana" panose="020B0604030504040204" pitchFamily="34" charset="0"/>
                  </a:rPr>
                  <a:t>tìm ra các giá trị của hệ số </a:t>
                </a:r>
                <a14:m>
                  <m:oMath xmlns:m="http://schemas.openxmlformats.org/officeDocument/2006/math">
                    <m:r>
                      <a:rPr lang="en-US" sz="1800" b="1" i="1">
                        <a:effectLst/>
                        <a:latin typeface="Cambria Math" panose="02040503050406030204" pitchFamily="18" charset="0"/>
                        <a:ea typeface="Verdana" panose="020B0604030504040204" pitchFamily="34" charset="0"/>
                        <a:cs typeface="Verdana" panose="020B0604030504040204" pitchFamily="34" charset="0"/>
                      </a:rPr>
                      <m:t>𝜷</m:t>
                    </m:r>
                  </m:oMath>
                </a14:m>
                <a:r>
                  <a:rPr lang="en-US" sz="1800" b="1"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sao cho </a:t>
                </a:r>
                <a:r>
                  <a:rPr lang="en-US" sz="1800" b="1" i="1">
                    <a:effectLst/>
                    <a:latin typeface="Verdana" panose="020B0604030504040204" pitchFamily="34" charset="0"/>
                    <a:ea typeface="Verdana" panose="020B0604030504040204" pitchFamily="34" charset="0"/>
                    <a:cs typeface="Verdana" panose="020B0604030504040204" pitchFamily="34" charset="0"/>
                  </a:rPr>
                  <a:t>tổng bình phương sai số (sum of squared errors) </a:t>
                </a:r>
                <a:r>
                  <a:rPr lang="en-US" sz="1800">
                    <a:effectLst/>
                    <a:latin typeface="Verdana" panose="020B0604030504040204" pitchFamily="34" charset="0"/>
                    <a:ea typeface="Verdana" panose="020B0604030504040204" pitchFamily="34" charset="0"/>
                    <a:cs typeface="Verdana" panose="020B0604030504040204" pitchFamily="34" charset="0"/>
                  </a:rPr>
                  <a:t>giữa giá trị dự đoán và giá trị thực tế là nhỏ nhất. Phương pháp phổ biến để tìm ra các hệ số này là phương pháp bình phương tối thiểu (least squares method).</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mc:Choice>
        <mc:Fallback xmlns="">
          <p:sp>
            <p:nvSpPr>
              <p:cNvPr id="3" name="Content Placeholder 2">
                <a:extLst>
                  <a:ext uri="{FF2B5EF4-FFF2-40B4-BE49-F238E27FC236}">
                    <a16:creationId xmlns:a16="http://schemas.microsoft.com/office/drawing/2014/main" id="{3C3905BA-B436-FEC0-A8F5-DFD827CDED48}"/>
                  </a:ext>
                </a:extLst>
              </p:cNvPr>
              <p:cNvSpPr>
                <a:spLocks noGrp="1" noRot="1" noChangeAspect="1" noMove="1" noResize="1" noEditPoints="1" noAdjustHandles="1" noChangeArrowheads="1" noChangeShapeType="1" noTextEdit="1"/>
              </p:cNvSpPr>
              <p:nvPr>
                <p:ph idx="1"/>
              </p:nvPr>
            </p:nvSpPr>
            <p:spPr>
              <a:blipFill>
                <a:blip r:embed="rId2"/>
                <a:stretch>
                  <a:fillRect l="-646"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D1718E2-8F87-08A7-FCD2-F3E95904600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278656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665934-1689-F46A-CF1F-32C311DB4168}"/>
              </a:ext>
            </a:extLst>
          </p:cNvPr>
          <p:cNvSpPr>
            <a:spLocks noGrp="1"/>
          </p:cNvSpPr>
          <p:nvPr>
            <p:ph type="ftr" sz="quarter" idx="11"/>
          </p:nvPr>
        </p:nvSpPr>
        <p:spPr/>
        <p:txBody>
          <a:bodyPr/>
          <a:lstStyle/>
          <a:p>
            <a:r>
              <a:rPr lang="en-US"/>
              <a:t>ThS. Lê Nhật Tùng</a:t>
            </a:r>
          </a:p>
        </p:txBody>
      </p:sp>
      <p:sp>
        <p:nvSpPr>
          <p:cNvPr id="5" name="AutoShape 2" descr="Bài 3: Linear Regression (Hồi quy tuyến tính) - Trí tuệ nhân tạo">
            <a:extLst>
              <a:ext uri="{FF2B5EF4-FFF2-40B4-BE49-F238E27FC236}">
                <a16:creationId xmlns:a16="http://schemas.microsoft.com/office/drawing/2014/main" id="{081740B3-845B-4BA1-1B2F-92808F1F835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Linear regression ước lượng một đường thẳng qua các điểm để dự báo tốt nhất xu hướng.">
            <a:extLst>
              <a:ext uri="{FF2B5EF4-FFF2-40B4-BE49-F238E27FC236}">
                <a16:creationId xmlns:a16="http://schemas.microsoft.com/office/drawing/2014/main" id="{0BEDE358-6F4B-AF77-AE60-C1C66B0318F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701968DA-FDB1-CFD3-CE98-CF50C8E4A460}"/>
              </a:ext>
            </a:extLst>
          </p:cNvPr>
          <p:cNvPicPr>
            <a:picLocks noChangeAspect="1"/>
          </p:cNvPicPr>
          <p:nvPr/>
        </p:nvPicPr>
        <p:blipFill>
          <a:blip r:embed="rId2"/>
          <a:stretch>
            <a:fillRect/>
          </a:stretch>
        </p:blipFill>
        <p:spPr>
          <a:xfrm>
            <a:off x="294678" y="652075"/>
            <a:ext cx="8554644" cy="5553850"/>
          </a:xfrm>
          <a:prstGeom prst="rect">
            <a:avLst/>
          </a:prstGeom>
        </p:spPr>
      </p:pic>
    </p:spTree>
    <p:extLst>
      <p:ext uri="{BB962C8B-B14F-4D97-AF65-F5344CB8AC3E}">
        <p14:creationId xmlns:p14="http://schemas.microsoft.com/office/powerpoint/2010/main" val="2141372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4EE8-6224-37B5-3FFC-4EDFAC2D692B}"/>
              </a:ext>
            </a:extLst>
          </p:cNvPr>
          <p:cNvSpPr>
            <a:spLocks noGrp="1"/>
          </p:cNvSpPr>
          <p:nvPr>
            <p:ph type="title"/>
          </p:nvPr>
        </p:nvSpPr>
        <p:spPr/>
        <p:txBody>
          <a:bodyPr/>
          <a:lstStyle/>
          <a:p>
            <a:r>
              <a:rPr lang="en-US" b="1"/>
              <a:t>Đánh giá mô hình</a:t>
            </a:r>
          </a:p>
        </p:txBody>
      </p:sp>
      <p:sp>
        <p:nvSpPr>
          <p:cNvPr id="3" name="Content Placeholder 2">
            <a:extLst>
              <a:ext uri="{FF2B5EF4-FFF2-40B4-BE49-F238E27FC236}">
                <a16:creationId xmlns:a16="http://schemas.microsoft.com/office/drawing/2014/main" id="{3489378A-882B-3102-5702-E993ECC2BD66}"/>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Mô hình hồi quy tuyến tính thường được đánh giá dựa trên các chỉ số:</a:t>
            </a:r>
          </a:p>
          <a:p>
            <a:pPr algn="just">
              <a:lnSpc>
                <a:spcPct val="150000"/>
              </a:lnSpc>
              <a:buFont typeface="Wingdings" panose="05000000000000000000" pitchFamily="2" charset="2"/>
              <a:buChar char="§"/>
            </a:pPr>
            <a:r>
              <a:rPr lang="en-US" sz="1800" b="1">
                <a:latin typeface="Verdana" panose="020B0604030504040204" pitchFamily="34" charset="0"/>
                <a:ea typeface="Verdana" panose="020B0604030504040204" pitchFamily="34" charset="0"/>
                <a:cs typeface="Verdana" panose="020B0604030504040204" pitchFamily="34" charset="0"/>
              </a:rPr>
              <a:t> R</a:t>
            </a:r>
            <a:r>
              <a:rPr lang="en-US" sz="1800" b="1">
                <a:effectLst/>
                <a:latin typeface="Verdana" panose="020B0604030504040204" pitchFamily="34" charset="0"/>
                <a:ea typeface="Verdana" panose="020B0604030504040204" pitchFamily="34" charset="0"/>
                <a:cs typeface="Verdana" panose="020B0604030504040204" pitchFamily="34" charset="0"/>
              </a:rPr>
              <a:t>-squared</a:t>
            </a:r>
            <a:r>
              <a:rPr lang="en-US" sz="1800">
                <a:effectLst/>
                <a:latin typeface="Verdana" panose="020B0604030504040204" pitchFamily="34" charset="0"/>
                <a:ea typeface="Verdana" panose="020B0604030504040204" pitchFamily="34" charset="0"/>
                <a:cs typeface="Verdana" panose="020B0604030504040204" pitchFamily="34" charset="0"/>
              </a:rPr>
              <a:t>, </a:t>
            </a:r>
          </a:p>
          <a:p>
            <a:pPr algn="just">
              <a:lnSpc>
                <a:spcPct val="150000"/>
              </a:lnSpc>
              <a:buFont typeface="Wingdings" panose="05000000000000000000" pitchFamily="2" charset="2"/>
              <a:buChar char="§"/>
            </a:pPr>
            <a:r>
              <a:rPr lang="en-US" sz="1800" b="1">
                <a:effectLst/>
                <a:latin typeface="Verdana" panose="020B0604030504040204" pitchFamily="34" charset="0"/>
                <a:ea typeface="Verdana" panose="020B0604030504040204" pitchFamily="34" charset="0"/>
                <a:cs typeface="Verdana" panose="020B0604030504040204" pitchFamily="34" charset="0"/>
              </a:rPr>
              <a:t> Root Mean Squared Error (RMSE)</a:t>
            </a:r>
            <a:r>
              <a:rPr lang="en-US" sz="1800">
                <a:effectLst/>
                <a:latin typeface="Verdana" panose="020B0604030504040204" pitchFamily="34" charset="0"/>
                <a:ea typeface="Verdana" panose="020B0604030504040204" pitchFamily="34" charset="0"/>
                <a:cs typeface="Verdana" panose="020B0604030504040204" pitchFamily="34" charset="0"/>
              </a:rPr>
              <a:t>, hoặc </a:t>
            </a:r>
          </a:p>
          <a:p>
            <a:pPr algn="just">
              <a:lnSpc>
                <a:spcPct val="150000"/>
              </a:lnSpc>
              <a:buFont typeface="Wingdings" panose="05000000000000000000" pitchFamily="2" charset="2"/>
              <a:buChar char="§"/>
            </a:pPr>
            <a:r>
              <a:rPr lang="en-US" sz="1800" b="1">
                <a:effectLst/>
                <a:latin typeface="Verdana" panose="020B0604030504040204" pitchFamily="34" charset="0"/>
                <a:ea typeface="Verdana" panose="020B0604030504040204" pitchFamily="34" charset="0"/>
                <a:cs typeface="Verdana" panose="020B0604030504040204" pitchFamily="34" charset="0"/>
              </a:rPr>
              <a:t> Mean Absolute Error (MAE)</a:t>
            </a:r>
            <a:r>
              <a:rPr lang="en-US" sz="1800">
                <a:effectLst/>
                <a:latin typeface="Verdana" panose="020B0604030504040204" pitchFamily="34" charset="0"/>
                <a:ea typeface="Verdana" panose="020B0604030504040204" pitchFamily="34" charset="0"/>
                <a:cs typeface="Verdana" panose="020B0604030504040204" pitchFamily="34" charset="0"/>
              </a:rPr>
              <a:t>, cho biết mức độ chính xác của mô hình trong việc dự đoán dữ liệu.</a:t>
            </a:r>
            <a:endParaRPr lang="en-US"/>
          </a:p>
        </p:txBody>
      </p:sp>
      <p:sp>
        <p:nvSpPr>
          <p:cNvPr id="4" name="Footer Placeholder 3">
            <a:extLst>
              <a:ext uri="{FF2B5EF4-FFF2-40B4-BE49-F238E27FC236}">
                <a16:creationId xmlns:a16="http://schemas.microsoft.com/office/drawing/2014/main" id="{59A8EAB3-8010-766F-E2F6-CAC92BDAEAA3}"/>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486155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102AC-388C-E45D-D36B-B6A06844A4BE}"/>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4A8BF7C1-4CFF-D324-4BD8-9CFB51D6B7E7}"/>
              </a:ext>
            </a:extLst>
          </p:cNvPr>
          <p:cNvSpPr>
            <a:spLocks noGrp="1"/>
          </p:cNvSpPr>
          <p:nvPr>
            <p:ph idx="1"/>
          </p:nvPr>
        </p:nvSpPr>
        <p:spPr/>
        <p:txBody>
          <a:bodyPr/>
          <a:lstStyle/>
          <a:p>
            <a:pPr marL="0" indent="0" algn="just">
              <a:lnSpc>
                <a:spcPct val="150000"/>
              </a:lnSpc>
              <a:buNone/>
            </a:pPr>
            <a:r>
              <a:rPr lang="en-US" sz="3200" b="1"/>
              <a:t>Bước 1:</a:t>
            </a:r>
          </a:p>
          <a:p>
            <a:pPr algn="just">
              <a:lnSpc>
                <a:spcPct val="150000"/>
              </a:lnSpc>
            </a:pPr>
            <a:r>
              <a:rPr lang="en-US" sz="1800" b="1">
                <a:effectLst/>
                <a:latin typeface="Verdana" panose="020B0604030504040204" pitchFamily="34" charset="0"/>
                <a:ea typeface="Verdana" panose="020B0604030504040204" pitchFamily="34" charset="0"/>
                <a:cs typeface="Verdana" panose="020B0604030504040204" pitchFamily="34" charset="0"/>
              </a:rPr>
              <a:t>Thu thập dữ liệu:</a:t>
            </a:r>
            <a:r>
              <a:rPr lang="en-US" sz="1800">
                <a:effectLst/>
                <a:latin typeface="Verdana" panose="020B0604030504040204" pitchFamily="34" charset="0"/>
                <a:ea typeface="Verdana" panose="020B0604030504040204" pitchFamily="34" charset="0"/>
                <a:cs typeface="Verdana" panose="020B0604030504040204" pitchFamily="34" charset="0"/>
              </a:rPr>
              <a:t> Bước đầu tiên trong quá trình hồi quy tuyến tính là thu thập dữ liệu. Dữ liệu này có thể đến từ nhiều nguồn khác nhau như khảo sát, ghi chép, cơ sở dữ liệu, v.v. Dữ liệu phải bao gồm cả biến độc lập (predictors) và biến phụ thuộc (target) muốn dự đoán.</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8846A57B-3A8D-C217-D578-281C01B1BEA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545201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7F4649A-18C7-A025-1A7C-C9EB02FB7104}"/>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64A66C15-CE2D-4D9A-394B-F21177B58E30}"/>
              </a:ext>
            </a:extLst>
          </p:cNvPr>
          <p:cNvPicPr>
            <a:picLocks noChangeAspect="1"/>
          </p:cNvPicPr>
          <p:nvPr/>
        </p:nvPicPr>
        <p:blipFill>
          <a:blip r:embed="rId2"/>
          <a:stretch>
            <a:fillRect/>
          </a:stretch>
        </p:blipFill>
        <p:spPr>
          <a:xfrm>
            <a:off x="381000" y="876300"/>
            <a:ext cx="8413598" cy="4838700"/>
          </a:xfrm>
          <a:prstGeom prst="rect">
            <a:avLst/>
          </a:prstGeom>
        </p:spPr>
      </p:pic>
    </p:spTree>
    <p:extLst>
      <p:ext uri="{BB962C8B-B14F-4D97-AF65-F5344CB8AC3E}">
        <p14:creationId xmlns:p14="http://schemas.microsoft.com/office/powerpoint/2010/main" val="1229374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857F-A1F5-20DB-27A0-D1A04F88A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735EE-A715-CAB6-23C6-FF4CF3F1F031}"/>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51390227-6E72-7E5B-AB11-FF590483AA78}"/>
              </a:ext>
            </a:extLst>
          </p:cNvPr>
          <p:cNvSpPr>
            <a:spLocks noGrp="1"/>
          </p:cNvSpPr>
          <p:nvPr>
            <p:ph idx="1"/>
          </p:nvPr>
        </p:nvSpPr>
        <p:spPr/>
        <p:txBody>
          <a:bodyPr/>
          <a:lstStyle/>
          <a:p>
            <a:pPr marL="0" indent="0" algn="just">
              <a:lnSpc>
                <a:spcPct val="150000"/>
              </a:lnSpc>
              <a:buNone/>
            </a:pPr>
            <a:r>
              <a:rPr lang="en-US" sz="3200" b="1"/>
              <a:t>Bước 2:</a:t>
            </a:r>
          </a:p>
          <a:p>
            <a:pPr algn="just">
              <a:lnSpc>
                <a:spcPct val="150000"/>
              </a:lnSpc>
            </a:pPr>
            <a:r>
              <a:rPr lang="en-US" sz="1800" b="1">
                <a:effectLst/>
                <a:latin typeface="Verdana" panose="020B0604030504040204" pitchFamily="34" charset="0"/>
                <a:ea typeface="Verdana" panose="020B0604030504040204" pitchFamily="34" charset="0"/>
                <a:cs typeface="Verdana" panose="020B0604030504040204" pitchFamily="34" charset="0"/>
              </a:rPr>
              <a:t>Chuẩn bị dữ liệu:</a:t>
            </a:r>
            <a:r>
              <a:rPr lang="en-US" sz="1800">
                <a:effectLst/>
                <a:latin typeface="Verdana" panose="020B0604030504040204" pitchFamily="34" charset="0"/>
                <a:ea typeface="Verdana" panose="020B0604030504040204" pitchFamily="34" charset="0"/>
                <a:cs typeface="Verdana" panose="020B0604030504040204" pitchFamily="34" charset="0"/>
              </a:rPr>
              <a:t> Sau khi thu thập, dữ liệu cần được làm sạch và chuẩn bị. Điều này bao gồm việc loại bỏ hoặc xử lý dữ liệu thiếu hoặc nhiễu, chuẩn hóa hoặc tiêu chuẩn hóa các biến độc lập, và chuyển đổi dữ liệu (nếu cần).</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B35B743E-5B37-E99E-1173-0F3E355AAA8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704049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A3887-DF0F-AEE4-6D08-B2DE61F18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65F02-B204-93F4-6BF5-4D26D848CA5A}"/>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55B2C548-D2D0-C1AD-DC95-4A2E1C0955A6}"/>
              </a:ext>
            </a:extLst>
          </p:cNvPr>
          <p:cNvSpPr>
            <a:spLocks noGrp="1"/>
          </p:cNvSpPr>
          <p:nvPr>
            <p:ph idx="1"/>
          </p:nvPr>
        </p:nvSpPr>
        <p:spPr/>
        <p:txBody>
          <a:bodyPr/>
          <a:lstStyle/>
          <a:p>
            <a:pPr marL="0" indent="0" algn="just">
              <a:lnSpc>
                <a:spcPct val="150000"/>
              </a:lnSpc>
              <a:buNone/>
            </a:pPr>
            <a:r>
              <a:rPr lang="en-US" sz="3200" b="1"/>
              <a:t>Bước 3:</a:t>
            </a:r>
          </a:p>
          <a:p>
            <a:pPr mar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Huấn luyện mô hình:</a:t>
            </a:r>
            <a:r>
              <a:rPr lang="en-US" sz="1800">
                <a:effectLst/>
                <a:latin typeface="Verdana" panose="020B0604030504040204" pitchFamily="34" charset="0"/>
                <a:ea typeface="Verdana" panose="020B0604030504040204" pitchFamily="34" charset="0"/>
                <a:cs typeface="Verdana" panose="020B0604030504040204" pitchFamily="34" charset="0"/>
              </a:rPr>
              <a:t> Dựa trên dữ liệu huấn luyện, mô hình hồi quy tuyến tính được xây dựng bằng cách ước lượng các hệ số cho mỗi biến độc lập. Quá trình này thường bao gồm việc sử dụng phương pháp bình phương nhỏ nhất (least squares method) để tìm ra đường thẳng (hoặc mặt phẳng, siêu phẳng) phù hợp nhất với dữ liệu.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4E222537-5614-9826-5638-A0A176CC592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09267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5D6C-AF34-666A-AD90-F691D8AD0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91EB4-8ECE-0BE7-A920-FA91AD7B40C0}"/>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BA1E579C-3F23-07E9-09F2-494BBAE962D3}"/>
              </a:ext>
            </a:extLst>
          </p:cNvPr>
          <p:cNvSpPr>
            <a:spLocks noGrp="1"/>
          </p:cNvSpPr>
          <p:nvPr>
            <p:ph idx="1"/>
          </p:nvPr>
        </p:nvSpPr>
        <p:spPr/>
        <p:txBody>
          <a:bodyPr/>
          <a:lstStyle/>
          <a:p>
            <a:pPr marL="0" indent="0" algn="just">
              <a:lnSpc>
                <a:spcPct val="150000"/>
              </a:lnSpc>
              <a:buNone/>
            </a:pPr>
            <a:r>
              <a:rPr lang="en-US" sz="3200" b="1"/>
              <a:t>Bước 4:</a:t>
            </a:r>
          </a:p>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Đánh giá mô hình:</a:t>
            </a:r>
            <a:r>
              <a:rPr lang="en-US" sz="1800">
                <a:effectLst/>
                <a:latin typeface="Verdana" panose="020B0604030504040204" pitchFamily="34" charset="0"/>
                <a:ea typeface="Verdana" panose="020B0604030504040204" pitchFamily="34" charset="0"/>
                <a:cs typeface="Verdana" panose="020B0604030504040204" pitchFamily="34" charset="0"/>
              </a:rPr>
              <a:t> Mô hình được đánh giá dựa trên hiệu suất của nó trên dữ liệu kiểm thử. Các chỉ số đánh giá thường dùng bao gồm R-squared (đo lường mức độ “phù hợp” của mô hình với dữ liệu), Mean Squared Error (MSE), hoặc Root Mean Squared Error (RMSE).</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81C1D603-3B1E-40F9-C3C8-72EBCE66619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502670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64D23-6AE8-89D3-8424-3272443D5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8CED9-BA38-E569-C377-5F62F7EB85AE}"/>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10E2117A-42A7-110A-10A1-EC5C1FEB70B9}"/>
              </a:ext>
            </a:extLst>
          </p:cNvPr>
          <p:cNvSpPr>
            <a:spLocks noGrp="1"/>
          </p:cNvSpPr>
          <p:nvPr>
            <p:ph idx="1"/>
          </p:nvPr>
        </p:nvSpPr>
        <p:spPr/>
        <p:txBody>
          <a:bodyPr/>
          <a:lstStyle/>
          <a:p>
            <a:pPr marL="0" indent="0" algn="just">
              <a:lnSpc>
                <a:spcPct val="150000"/>
              </a:lnSpc>
              <a:buNone/>
            </a:pPr>
            <a:r>
              <a:rPr lang="en-US" sz="3200" b="1"/>
              <a:t>Bước 5:</a:t>
            </a:r>
          </a:p>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Tinh chỉnh mô hình:</a:t>
            </a:r>
            <a:r>
              <a:rPr lang="en-US" sz="1800">
                <a:effectLst/>
                <a:latin typeface="Verdana" panose="020B0604030504040204" pitchFamily="34" charset="0"/>
                <a:ea typeface="Verdana" panose="020B0604030504040204" pitchFamily="34" charset="0"/>
                <a:cs typeface="Verdana" panose="020B0604030504040204" pitchFamily="34" charset="0"/>
              </a:rPr>
              <a:t> Dựa trên kết quả đánh giá, mô hình có thể cần được tinh chỉnh để cải thiện hiệu suất. Điều này có thể bao gồm việc điều chỉnh các biến đầu vào, sử dụng các kỹ thuật regularization (như Ridge hoặc Lasso), hoặc thử nghiệm các mô hình hồi quy khác nhau.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9BED3337-7012-CA12-70D8-21EE47857A4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960612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0CCB8-5509-6A04-4658-1C72B2A45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A0259-4CA9-BED8-1129-F40B8AD8B5CD}"/>
              </a:ext>
            </a:extLst>
          </p:cNvPr>
          <p:cNvSpPr>
            <a:spLocks noGrp="1"/>
          </p:cNvSpPr>
          <p:nvPr>
            <p:ph type="title"/>
          </p:nvPr>
        </p:nvSpPr>
        <p:spPr/>
        <p:txBody>
          <a:bodyPr/>
          <a:lstStyle/>
          <a:p>
            <a:r>
              <a:rPr lang="en-US" sz="4400" b="1"/>
              <a:t>Quy trình thực hiện của mô hình</a:t>
            </a:r>
            <a:endParaRPr lang="en-US" b="1"/>
          </a:p>
        </p:txBody>
      </p:sp>
      <p:sp>
        <p:nvSpPr>
          <p:cNvPr id="3" name="Content Placeholder 2">
            <a:extLst>
              <a:ext uri="{FF2B5EF4-FFF2-40B4-BE49-F238E27FC236}">
                <a16:creationId xmlns:a16="http://schemas.microsoft.com/office/drawing/2014/main" id="{0A451296-CEC5-678A-7B74-34C43E9825E9}"/>
              </a:ext>
            </a:extLst>
          </p:cNvPr>
          <p:cNvSpPr>
            <a:spLocks noGrp="1"/>
          </p:cNvSpPr>
          <p:nvPr>
            <p:ph idx="1"/>
          </p:nvPr>
        </p:nvSpPr>
        <p:spPr/>
        <p:txBody>
          <a:bodyPr/>
          <a:lstStyle/>
          <a:p>
            <a:pPr marL="0" indent="0" algn="just">
              <a:lnSpc>
                <a:spcPct val="150000"/>
              </a:lnSpc>
              <a:buNone/>
            </a:pPr>
            <a:r>
              <a:rPr lang="en-US" sz="3200" b="1"/>
              <a:t>Bước 6:</a:t>
            </a:r>
          </a:p>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Sử dụng mô hình:</a:t>
            </a:r>
            <a:r>
              <a:rPr lang="en-US" sz="1800">
                <a:effectLst/>
                <a:latin typeface="Verdana" panose="020B0604030504040204" pitchFamily="34" charset="0"/>
                <a:ea typeface="Verdana" panose="020B0604030504040204" pitchFamily="34" charset="0"/>
                <a:cs typeface="Verdana" panose="020B0604030504040204" pitchFamily="34" charset="0"/>
              </a:rPr>
              <a:t> Cuối cùng, mô hình được sử dụng để thực hiện dự đoán trên dữ liệu mới. Kết quả của quá trình này cho phép ta ứng dụng những phát hiện từ mô hình hồi quy vào thực tế, dự đoán kết quả hoặc hiểu rõ hơn về mối quan hệ giữa các biến. Mỗi bước trong quá trình này đều quan trọng và cần được thực hiện cẩn thận để đảm bảo tính chính xác và hiệu quả của mô hình hồi quy tuyến tính.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lvl="0" indent="0" algn="just">
              <a:lnSpc>
                <a:spcPct val="150000"/>
              </a:lnSpc>
              <a:spcBef>
                <a:spcPts val="600"/>
              </a:spcBef>
              <a:spcAft>
                <a:spcPts val="600"/>
              </a:spcAft>
              <a:buNone/>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lnSpc>
                <a:spcPct val="150000"/>
              </a:lnSpc>
            </a:pPr>
            <a:endParaRPr lang="en-US"/>
          </a:p>
        </p:txBody>
      </p:sp>
      <p:sp>
        <p:nvSpPr>
          <p:cNvPr id="4" name="Footer Placeholder 3">
            <a:extLst>
              <a:ext uri="{FF2B5EF4-FFF2-40B4-BE49-F238E27FC236}">
                <a16:creationId xmlns:a16="http://schemas.microsoft.com/office/drawing/2014/main" id="{E424406D-F631-C8A7-C6F8-6F1A58FAB24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63881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2415-F491-90BD-2EE1-AA78F6D0CF7F}"/>
              </a:ext>
            </a:extLst>
          </p:cNvPr>
          <p:cNvSpPr>
            <a:spLocks noGrp="1"/>
          </p:cNvSpPr>
          <p:nvPr>
            <p:ph type="title"/>
          </p:nvPr>
        </p:nvSpPr>
        <p:spPr/>
        <p:txBody>
          <a:bodyPr/>
          <a:lstStyle/>
          <a:p>
            <a:r>
              <a:rPr lang="en-US"/>
              <a:t>Ví dụ</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9BD0BB-AF4A-CCE8-E4E8-AA279BD172A9}"/>
                  </a:ext>
                </a:extLst>
              </p:cNvPr>
              <p:cNvSpPr>
                <a:spLocks noGrp="1"/>
              </p:cNvSpPr>
              <p:nvPr>
                <p:ph idx="1"/>
              </p:nvPr>
            </p:nvSpPr>
            <p:spPr/>
            <p:txBody>
              <a:bodyPr/>
              <a:lstStyle/>
              <a:p>
                <a:pPr algn="just"/>
                <a:r>
                  <a:rPr lang="en-US" sz="1800">
                    <a:effectLst/>
                    <a:latin typeface="Verdana" panose="020B0604030504040204" pitchFamily="34" charset="0"/>
                    <a:ea typeface="Verdana" panose="020B0604030504040204" pitchFamily="34" charset="0"/>
                    <a:cs typeface="Verdana" panose="020B0604030504040204" pitchFamily="34" charset="0"/>
                  </a:rPr>
                  <a:t>Giả sử muốn dự đoán giá nhà dựa trên diện tích (m²) của nó. Trong trường hợp này, giá nhà là biến phụ thuộc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𝑦</m:t>
                    </m:r>
                  </m:oMath>
                </a14:m>
                <a:r>
                  <a:rPr lang="en-US" sz="1800">
                    <a:effectLst/>
                    <a:latin typeface="Verdana" panose="020B0604030504040204" pitchFamily="34" charset="0"/>
                    <a:ea typeface="Verdana" panose="020B0604030504040204" pitchFamily="34" charset="0"/>
                    <a:cs typeface="Verdana" panose="020B0604030504040204" pitchFamily="34" charset="0"/>
                  </a:rPr>
                  <a:t>), và diện tích nhà là biến độc lập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𝑥</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r>
                  <a:rPr lang="en-US" sz="1800" b="1">
                    <a:effectLst/>
                    <a:latin typeface="Verdana" panose="020B0604030504040204" pitchFamily="34" charset="0"/>
                    <a:ea typeface="Verdana" panose="020B0604030504040204" pitchFamily="34" charset="0"/>
                    <a:cs typeface="Verdana" panose="020B0604030504040204" pitchFamily="34" charset="0"/>
                  </a:rPr>
                  <a:t>Bước 1 (Thu thập dữ liệu): </a:t>
                </a:r>
                <a:r>
                  <a:rPr lang="en-US" sz="1800">
                    <a:effectLst/>
                    <a:latin typeface="Verdana" panose="020B0604030504040204" pitchFamily="34" charset="0"/>
                    <a:ea typeface="Verdana" panose="020B0604030504040204" pitchFamily="34" charset="0"/>
                    <a:cs typeface="Verdana" panose="020B0604030504040204" pitchFamily="34" charset="0"/>
                  </a:rPr>
                  <a:t>Thu thập dữ liệu về các ngôi nhà bao gồm giá bán và diện tích của chúng như sau: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algn="just"/>
                <a:endParaRPr lang="en-US"/>
              </a:p>
            </p:txBody>
          </p:sp>
        </mc:Choice>
        <mc:Fallback xmlns="">
          <p:sp>
            <p:nvSpPr>
              <p:cNvPr id="3" name="Content Placeholder 2">
                <a:extLst>
                  <a:ext uri="{FF2B5EF4-FFF2-40B4-BE49-F238E27FC236}">
                    <a16:creationId xmlns:a16="http://schemas.microsoft.com/office/drawing/2014/main" id="{E89BD0BB-AF4A-CCE8-E4E8-AA279BD172A9}"/>
                  </a:ext>
                </a:extLst>
              </p:cNvPr>
              <p:cNvSpPr>
                <a:spLocks noGrp="1" noRot="1" noChangeAspect="1" noMove="1" noResize="1" noEditPoints="1" noAdjustHandles="1" noChangeArrowheads="1" noChangeShapeType="1" noTextEdit="1"/>
              </p:cNvSpPr>
              <p:nvPr>
                <p:ph idx="1"/>
              </p:nvPr>
            </p:nvSpPr>
            <p:spPr>
              <a:blipFill>
                <a:blip r:embed="rId2"/>
                <a:stretch>
                  <a:fillRect l="-646" t="-1515"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BC8CB08-8B39-66C8-652D-7AF3F1C5C459}"/>
              </a:ext>
            </a:extLst>
          </p:cNvPr>
          <p:cNvSpPr>
            <a:spLocks noGrp="1"/>
          </p:cNvSpPr>
          <p:nvPr>
            <p:ph type="ftr" sz="quarter" idx="11"/>
          </p:nvPr>
        </p:nvSpPr>
        <p:spPr/>
        <p:txBody>
          <a:bodyPr/>
          <a:lstStyle/>
          <a:p>
            <a:r>
              <a:rPr lang="en-US"/>
              <a:t>ThS. Lê Nhật Tùng</a:t>
            </a:r>
          </a:p>
        </p:txBody>
      </p:sp>
      <p:pic>
        <p:nvPicPr>
          <p:cNvPr id="7" name="Picture 6">
            <a:extLst>
              <a:ext uri="{FF2B5EF4-FFF2-40B4-BE49-F238E27FC236}">
                <a16:creationId xmlns:a16="http://schemas.microsoft.com/office/drawing/2014/main" id="{5EC3450E-985A-2BDF-558B-130A39824FE4}"/>
              </a:ext>
            </a:extLst>
          </p:cNvPr>
          <p:cNvPicPr>
            <a:picLocks noChangeAspect="1"/>
          </p:cNvPicPr>
          <p:nvPr/>
        </p:nvPicPr>
        <p:blipFill>
          <a:blip r:embed="rId3"/>
          <a:stretch>
            <a:fillRect/>
          </a:stretch>
        </p:blipFill>
        <p:spPr>
          <a:xfrm>
            <a:off x="2857500" y="3429000"/>
            <a:ext cx="3762900" cy="2257740"/>
          </a:xfrm>
          <a:prstGeom prst="rect">
            <a:avLst/>
          </a:prstGeom>
        </p:spPr>
      </p:pic>
    </p:spTree>
    <p:extLst>
      <p:ext uri="{BB962C8B-B14F-4D97-AF65-F5344CB8AC3E}">
        <p14:creationId xmlns:p14="http://schemas.microsoft.com/office/powerpoint/2010/main" val="421899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67D1F-611F-30CA-B6BB-8A512229D2FB}"/>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8F72F6FC-531B-4525-95A0-220D0F802378}"/>
              </a:ext>
            </a:extLst>
          </p:cNvPr>
          <p:cNvSpPr>
            <a:spLocks noGrp="1"/>
          </p:cNvSpPr>
          <p:nvPr>
            <p:ph idx="1"/>
          </p:nvPr>
        </p:nvSpPr>
        <p:spPr/>
        <p:txBody>
          <a:bodyPr>
            <a:noAutofit/>
          </a:bodyPr>
          <a:lstStyle/>
          <a:p>
            <a:r>
              <a:rPr lang="vi-VN" sz="1600" b="1"/>
              <a:t>Bước 2 (Chuẩn bị dữ liệu): </a:t>
            </a:r>
            <a:r>
              <a:rPr lang="vi-VN" sz="1600"/>
              <a:t>Trong trường hợp này, dữ liệu đã khá sạch và không cần xử lý nhiều.</a:t>
            </a:r>
          </a:p>
          <a:p>
            <a:r>
              <a:rPr lang="vi-VN" sz="1600" b="1"/>
              <a:t>Bước 3 (Phân chia dữ liệu): </a:t>
            </a:r>
            <a:r>
              <a:rPr lang="vi-VN" sz="1600"/>
              <a:t>Sử dụng 80% dữ liệu để huấn luyện mô hình và 20% còn lại để kiểm thử mô hình.</a:t>
            </a:r>
          </a:p>
          <a:p>
            <a:r>
              <a:rPr lang="vi-VN" sz="1600" b="1"/>
              <a:t>Bước 4 (Huấn luyện mô hình): </a:t>
            </a:r>
            <a:r>
              <a:rPr lang="vi-VN" sz="1600"/>
              <a:t>Sử dụng phương pháp bình phương nhỏ nhất để tìm ra hệ số cho mô hình hồi quy tuyến tính. Giả sử mô hình tìm được là:</a:t>
            </a:r>
          </a:p>
          <a:p>
            <a:r>
              <a:rPr lang="vi-VN" sz="1600"/>
              <a:t>Giá = 50+3×Diện tích</a:t>
            </a:r>
          </a:p>
          <a:p>
            <a:r>
              <a:rPr lang="vi-VN" sz="1600" b="1"/>
              <a:t>Bước 5 (Đánh giá mô hình): </a:t>
            </a:r>
            <a:r>
              <a:rPr lang="vi-VN" sz="1600"/>
              <a:t>Kiểm tra mô hình với 20% dữ liệu còn lại và tính toán các chỉ số như R-squared, MSE để đánh giá hiệu suất.</a:t>
            </a:r>
          </a:p>
          <a:p>
            <a:r>
              <a:rPr lang="vi-VN" sz="1600" b="1"/>
              <a:t>Bước 6 (Tinh chỉnh mô hình):</a:t>
            </a:r>
            <a:r>
              <a:rPr lang="vi-VN" sz="1600"/>
              <a:t> Điều chỉnh mô hình dựa trên kết quả đánh giá.</a:t>
            </a:r>
          </a:p>
          <a:p>
            <a:r>
              <a:rPr lang="vi-VN" sz="1600" b="1"/>
              <a:t>Bước 7 (Sử dụng mô hình): </a:t>
            </a:r>
            <a:r>
              <a:rPr lang="vi-VN" sz="1600"/>
              <a:t>Sử dụng mô hình để dự đoán giá của nhà dựa trên diện tích. Chẳng hạn, với một ngôi nhà có diện tích 85 m², mô hình sẽ dự đoán giá là: 50 + 3 × 85 = 305 (nghìn USD).</a:t>
            </a:r>
          </a:p>
          <a:p>
            <a:endParaRPr lang="vi-VN" sz="1600"/>
          </a:p>
          <a:p>
            <a:endParaRPr lang="en-US" sz="1600"/>
          </a:p>
        </p:txBody>
      </p:sp>
      <p:sp>
        <p:nvSpPr>
          <p:cNvPr id="4" name="Footer Placeholder 3">
            <a:extLst>
              <a:ext uri="{FF2B5EF4-FFF2-40B4-BE49-F238E27FC236}">
                <a16:creationId xmlns:a16="http://schemas.microsoft.com/office/drawing/2014/main" id="{500F222B-D770-0253-BB7A-3C8D9C1BCF1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24616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8E6FB-1C1F-E632-43B7-7909F53E50F2}"/>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CD244104-57DF-A390-8102-F1BC5EA49CB1}"/>
              </a:ext>
            </a:extLst>
          </p:cNvPr>
          <p:cNvSpPr>
            <a:spLocks noGrp="1"/>
          </p:cNvSpPr>
          <p:nvPr>
            <p:ph idx="1"/>
          </p:nvPr>
        </p:nvSpPr>
        <p:spPr/>
        <p:txBody>
          <a:bodyPr/>
          <a:lstStyle/>
          <a:p>
            <a:r>
              <a:rPr lang="en-US"/>
              <a:t>- Thực hành với bộ dữ liệu giả định</a:t>
            </a:r>
          </a:p>
          <a:p>
            <a:r>
              <a:rPr lang="en-US"/>
              <a:t>- Phân tích dữ liệu bằng mô hình hồi quy tuyến tính trên bộ dữ liệu thực IRIS</a:t>
            </a:r>
          </a:p>
          <a:p>
            <a:r>
              <a:rPr lang="en-US"/>
              <a:t>- Phân tích dữ liệu bằng mô hình hồi quy tuyến tính trên bộ dữ liệu giả định MTCARS</a:t>
            </a:r>
          </a:p>
        </p:txBody>
      </p:sp>
      <p:sp>
        <p:nvSpPr>
          <p:cNvPr id="4" name="Footer Placeholder 3">
            <a:extLst>
              <a:ext uri="{FF2B5EF4-FFF2-40B4-BE49-F238E27FC236}">
                <a16:creationId xmlns:a16="http://schemas.microsoft.com/office/drawing/2014/main" id="{A0841DE4-9405-DC9A-1A72-BD0EB949CE9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362591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618B-5611-29A8-4B0D-BF2917FD10DB}"/>
              </a:ext>
            </a:extLst>
          </p:cNvPr>
          <p:cNvSpPr>
            <a:spLocks noGrp="1"/>
          </p:cNvSpPr>
          <p:nvPr>
            <p:ph type="title"/>
          </p:nvPr>
        </p:nvSpPr>
        <p:spPr/>
        <p:txBody>
          <a:bodyPr/>
          <a:lstStyle/>
          <a:p>
            <a:r>
              <a:rPr lang="en-US" b="1"/>
              <a:t>MÔ HÌNH HỒI QUY LOGISTIC</a:t>
            </a:r>
          </a:p>
        </p:txBody>
      </p:sp>
      <p:sp>
        <p:nvSpPr>
          <p:cNvPr id="3" name="Content Placeholder 2">
            <a:extLst>
              <a:ext uri="{FF2B5EF4-FFF2-40B4-BE49-F238E27FC236}">
                <a16:creationId xmlns:a16="http://schemas.microsoft.com/office/drawing/2014/main" id="{A846286C-D6DC-3B44-1BA2-8A741939E16B}"/>
              </a:ext>
            </a:extLst>
          </p:cNvPr>
          <p:cNvSpPr>
            <a:spLocks noGrp="1"/>
          </p:cNvSpPr>
          <p:nvPr>
            <p:ph idx="1"/>
          </p:nvPr>
        </p:nvSpPr>
        <p:spPr/>
        <p:txBody>
          <a:bodyPr>
            <a:normAutofit fontScale="92500" lnSpcReduction="10000"/>
          </a:bodyPr>
          <a:lstStyle/>
          <a:p>
            <a:pPr algn="just">
              <a:lnSpc>
                <a:spcPct val="150000"/>
              </a:lnSpc>
            </a:pPr>
            <a:r>
              <a:rPr lang="en-US" sz="2800" b="1" i="1">
                <a:effectLst/>
                <a:latin typeface="Verdana" panose="020B0604030504040204" pitchFamily="34" charset="0"/>
                <a:ea typeface="Verdana" panose="020B0604030504040204" pitchFamily="34" charset="0"/>
                <a:cs typeface="Verdana" panose="020B0604030504040204" pitchFamily="34" charset="0"/>
              </a:rPr>
              <a:t>Hồi quy logistic</a:t>
            </a:r>
            <a:r>
              <a:rPr lang="en-US" sz="2800">
                <a:effectLst/>
                <a:latin typeface="Verdana" panose="020B0604030504040204" pitchFamily="34" charset="0"/>
                <a:ea typeface="Verdana" panose="020B0604030504040204" pitchFamily="34" charset="0"/>
                <a:cs typeface="Verdana" panose="020B0604030504040204" pitchFamily="34" charset="0"/>
              </a:rPr>
              <a:t> là một phương pháp thống kê được sử dụng rộng rãi trong việc phân tích và dự đoán dữ liệu phân lớp. Đặc biệt hiệu quả với dữ liệu có biến phụ thuộc nhị phân, hồi quy logistic mô hình hóa xác suất của một sự kiện dựa trên một hoặc nhiều biến độc lập.</a:t>
            </a:r>
            <a:endParaRPr lang="en-US" sz="2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A7B42A5F-B23D-75EF-E6B6-E7D4908047A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36052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4FF1C-FC42-FD51-C83C-CCFABF659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9EC04-5DC4-FC85-95E9-41E4806F0967}"/>
              </a:ext>
            </a:extLst>
          </p:cNvPr>
          <p:cNvSpPr>
            <a:spLocks noGrp="1"/>
          </p:cNvSpPr>
          <p:nvPr>
            <p:ph type="title"/>
          </p:nvPr>
        </p:nvSpPr>
        <p:spPr/>
        <p:txBody>
          <a:bodyPr/>
          <a:lstStyle/>
          <a:p>
            <a:r>
              <a:rPr lang="en-US" b="1"/>
              <a:t>MÔ HÌNH HỒI QUY LOGISTIC</a:t>
            </a:r>
          </a:p>
        </p:txBody>
      </p:sp>
      <p:sp>
        <p:nvSpPr>
          <p:cNvPr id="3" name="Content Placeholder 2">
            <a:extLst>
              <a:ext uri="{FF2B5EF4-FFF2-40B4-BE49-F238E27FC236}">
                <a16:creationId xmlns:a16="http://schemas.microsoft.com/office/drawing/2014/main" id="{8C9D40FB-F9F6-26B0-A3D6-44F1C65F7673}"/>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Phương pháp này </a:t>
            </a:r>
            <a:r>
              <a:rPr lang="en-US" sz="1800" b="1">
                <a:effectLst/>
                <a:latin typeface="Verdana" panose="020B0604030504040204" pitchFamily="34" charset="0"/>
                <a:ea typeface="Verdana" panose="020B0604030504040204" pitchFamily="34" charset="0"/>
                <a:cs typeface="Verdana" panose="020B0604030504040204" pitchFamily="34" charset="0"/>
              </a:rPr>
              <a:t>sử dụng hàm logistic </a:t>
            </a:r>
            <a:r>
              <a:rPr lang="en-US" sz="1800">
                <a:effectLst/>
                <a:latin typeface="Verdana" panose="020B0604030504040204" pitchFamily="34" charset="0"/>
                <a:ea typeface="Verdana" panose="020B0604030504040204" pitchFamily="34" charset="0"/>
                <a:cs typeface="Verdana" panose="020B0604030504040204" pitchFamily="34" charset="0"/>
              </a:rPr>
              <a:t>để chuyển đổi các giá trị dự đoán thành xác suất, giúp dễ dàng diễn giải và áp dụng trong nhiều lĩnh vực như y học, kinh tế, khoa học xã hội và nhiều ngành khác. Hồi quy logistic không chỉ giúp xác định các yếu tố ảnh hưởng đến một kết quả nhất định mà còn cung cấp khả năng hiểu rõ mối quan hệ giữa các biến và kết quả, làm cho nó trở thành công cụ quan trọng trong việc phân tích dữ liệu và ra quyết định.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D863952-2FD9-1D6C-FEB7-0C918E31E1B9}"/>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8836725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489304C-0816-08FD-5A7B-7A974D7DDD38}"/>
              </a:ext>
            </a:extLst>
          </p:cNvPr>
          <p:cNvSpPr>
            <a:spLocks noGrp="1"/>
          </p:cNvSpPr>
          <p:nvPr>
            <p:ph type="ftr" sz="quarter" idx="11"/>
          </p:nvPr>
        </p:nvSpPr>
        <p:spPr/>
        <p:txBody>
          <a:bodyPr/>
          <a:lstStyle/>
          <a:p>
            <a:r>
              <a:rPr lang="en-US"/>
              <a:t>ThS. Lê Nhật Tùng</a:t>
            </a:r>
          </a:p>
        </p:txBody>
      </p:sp>
      <p:pic>
        <p:nvPicPr>
          <p:cNvPr id="7170" name="Picture 2" descr="Logistic Function |">
            <a:extLst>
              <a:ext uri="{FF2B5EF4-FFF2-40B4-BE49-F238E27FC236}">
                <a16:creationId xmlns:a16="http://schemas.microsoft.com/office/drawing/2014/main" id="{28C2E298-CF5C-FB3B-68CE-825B29015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609600"/>
            <a:ext cx="4914900" cy="520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986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7D1F-BF62-DABD-7A56-95ED403F6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118CD-D3D6-1037-83C7-31463E4A6D7E}"/>
              </a:ext>
            </a:extLst>
          </p:cNvPr>
          <p:cNvSpPr>
            <a:spLocks noGrp="1"/>
          </p:cNvSpPr>
          <p:nvPr>
            <p:ph type="title"/>
          </p:nvPr>
        </p:nvSpPr>
        <p:spPr/>
        <p:txBody>
          <a:bodyPr/>
          <a:lstStyle/>
          <a:p>
            <a:r>
              <a:rPr lang="en-US" b="1"/>
              <a:t>MÔ HÌNH HỒI QUY LOGISTIC</a:t>
            </a:r>
          </a:p>
        </p:txBody>
      </p:sp>
      <p:sp>
        <p:nvSpPr>
          <p:cNvPr id="3" name="Content Placeholder 2">
            <a:extLst>
              <a:ext uri="{FF2B5EF4-FFF2-40B4-BE49-F238E27FC236}">
                <a16:creationId xmlns:a16="http://schemas.microsoft.com/office/drawing/2014/main" id="{B8A511B9-9235-B9E9-7217-8BE5E1E1C0D6}"/>
              </a:ext>
            </a:extLst>
          </p:cNvPr>
          <p:cNvSpPr>
            <a:spLocks noGrp="1"/>
          </p:cNvSpPr>
          <p:nvPr>
            <p:ph idx="1"/>
          </p:nvPr>
        </p:nvSpPr>
        <p:spPr/>
        <p:txBody>
          <a:bodyPr/>
          <a:lstStyle/>
          <a:p>
            <a:pPr algn="just">
              <a:lnSpc>
                <a:spcPct val="150000"/>
              </a:lnSpc>
            </a:pPr>
            <a:r>
              <a:rPr lang="en-US" sz="1800">
                <a:effectLst/>
                <a:latin typeface="Verdana" panose="020B0604030504040204" pitchFamily="34" charset="0"/>
                <a:ea typeface="Verdana" panose="020B0604030504040204" pitchFamily="34" charset="0"/>
                <a:cs typeface="Verdana" panose="020B0604030504040204" pitchFamily="34" charset="0"/>
              </a:rPr>
              <a:t>Phương pháp này </a:t>
            </a:r>
            <a:r>
              <a:rPr lang="en-US" sz="1800" b="1">
                <a:effectLst/>
                <a:latin typeface="Verdana" panose="020B0604030504040204" pitchFamily="34" charset="0"/>
                <a:ea typeface="Verdana" panose="020B0604030504040204" pitchFamily="34" charset="0"/>
                <a:cs typeface="Verdana" panose="020B0604030504040204" pitchFamily="34" charset="0"/>
              </a:rPr>
              <a:t>sử dụng hàm logistic </a:t>
            </a:r>
            <a:r>
              <a:rPr lang="en-US" sz="1800">
                <a:effectLst/>
                <a:latin typeface="Verdana" panose="020B0604030504040204" pitchFamily="34" charset="0"/>
                <a:ea typeface="Verdana" panose="020B0604030504040204" pitchFamily="34" charset="0"/>
                <a:cs typeface="Verdana" panose="020B0604030504040204" pitchFamily="34" charset="0"/>
              </a:rPr>
              <a:t>để chuyển đổi các giá trị dự đoán thành xác suất, giúp dễ dàng diễn giải và áp dụng trong nhiều lĩnh vực như y học, kinh tế, khoa học xã hội và nhiều ngành khác. Hồi quy logistic không chỉ giúp xác định các yếu tố ảnh hưởng đến một kết quả nhất định mà còn cung cấp khả năng hiểu rõ mối quan hệ giữa các biến và kết quả, làm cho nó trở thành công cụ quan trọng trong việc phân tích dữ liệu và ra quyết định.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DCF829DB-03F4-20BD-033F-D08DC227F93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973571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E952-7B48-B863-B052-DCCD9F14A38D}"/>
              </a:ext>
            </a:extLst>
          </p:cNvPr>
          <p:cNvSpPr>
            <a:spLocks noGrp="1"/>
          </p:cNvSpPr>
          <p:nvPr>
            <p:ph type="title"/>
          </p:nvPr>
        </p:nvSpPr>
        <p:spPr/>
        <p:txBody>
          <a:bodyPr/>
          <a:lstStyle/>
          <a:p>
            <a:r>
              <a:rPr lang="en-US" b="1"/>
              <a:t>Đặc điểm của mô hình</a:t>
            </a:r>
          </a:p>
        </p:txBody>
      </p:sp>
      <p:sp>
        <p:nvSpPr>
          <p:cNvPr id="3" name="Content Placeholder 2">
            <a:extLst>
              <a:ext uri="{FF2B5EF4-FFF2-40B4-BE49-F238E27FC236}">
                <a16:creationId xmlns:a16="http://schemas.microsoft.com/office/drawing/2014/main" id="{EE50F552-C4D7-1553-15F0-8E7427692AFE}"/>
              </a:ext>
            </a:extLst>
          </p:cNvPr>
          <p:cNvSpPr>
            <a:spLocks noGrp="1"/>
          </p:cNvSpPr>
          <p:nvPr>
            <p:ph idx="1"/>
          </p:nvPr>
        </p:nvSpPr>
        <p:spPr/>
        <p:txBody>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Phân lớp và dự đoán:</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Dự đoán biến phụ thuộc nhị phân hoặc danh mục từ một hoặc nhiều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Xác định mức độ ảnh hưởng của biến độc lập:</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Xác định cách thức và mức độ mà các biến độc lập ảnh hưởng đến xác suất của sự kiện hoặc lớp mục tiêu.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Tính toán xác suất sự kiện:</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Cung cấp ước lượng xác suất cho một sự kiện xảy ra dựa trên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ABFEE414-CF59-62A1-15DF-343B2164637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54897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F0631-3012-863B-9750-C827167D3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FB3AB-853B-1199-EE83-8D7A6204B70C}"/>
              </a:ext>
            </a:extLst>
          </p:cNvPr>
          <p:cNvSpPr>
            <a:spLocks noGrp="1"/>
          </p:cNvSpPr>
          <p:nvPr>
            <p:ph type="title"/>
          </p:nvPr>
        </p:nvSpPr>
        <p:spPr/>
        <p:txBody>
          <a:bodyPr/>
          <a:lstStyle/>
          <a:p>
            <a:r>
              <a:rPr lang="en-US" b="1"/>
              <a:t>Đặc điểm của mô hình</a:t>
            </a:r>
          </a:p>
        </p:txBody>
      </p:sp>
      <p:sp>
        <p:nvSpPr>
          <p:cNvPr id="3" name="Content Placeholder 2">
            <a:extLst>
              <a:ext uri="{FF2B5EF4-FFF2-40B4-BE49-F238E27FC236}">
                <a16:creationId xmlns:a16="http://schemas.microsoft.com/office/drawing/2014/main" id="{174717D7-9F59-0ED3-2C73-503CD011246E}"/>
              </a:ext>
            </a:extLst>
          </p:cNvPr>
          <p:cNvSpPr>
            <a:spLocks noGrp="1"/>
          </p:cNvSpPr>
          <p:nvPr>
            <p:ph idx="1"/>
          </p:nvPr>
        </p:nvSpPr>
        <p:spPr/>
        <p:txBody>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Đánh giá rủi ro và khả năng xảy ra:</a:t>
            </a:r>
            <a:r>
              <a:rPr lang="en-US" sz="1800" i="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Đánh giá rủi ro hoặc khả năng xảy ra của một sự kiện cụ thể trong các lĩnh vực như y học, tài chính, nghiên cứu xã hội, và hơn thế nữa.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Phân tích mối quan hệ tuyến tính giữa logit của kết quả và biến độc lập: </a:t>
            </a:r>
            <a:r>
              <a:rPr lang="en-US" sz="1800">
                <a:effectLst/>
                <a:latin typeface="Verdana" panose="020B0604030504040204" pitchFamily="34" charset="0"/>
                <a:ea typeface="Verdana" panose="020B0604030504040204" pitchFamily="34" charset="0"/>
                <a:cs typeface="Verdana" panose="020B0604030504040204" pitchFamily="34" charset="0"/>
              </a:rPr>
              <a:t>Phân tích mối quan hệ tuyến tính giữa logit của kết quả (log odds) và các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4924EEF2-ADB1-8301-1AF2-6C6D002E86F6}"/>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951726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295A-E324-1B04-3D4C-55DFBE6128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95537A-318F-3CA6-4C3B-2D62C638087B}"/>
              </a:ext>
            </a:extLst>
          </p:cNvPr>
          <p:cNvSpPr>
            <a:spLocks noGrp="1"/>
          </p:cNvSpPr>
          <p:nvPr>
            <p:ph idx="1"/>
          </p:nvPr>
        </p:nvSpPr>
        <p:spPr/>
        <p:txBody>
          <a:bodyPr>
            <a:normAutofit/>
          </a:bodyPr>
          <a:lstStyle/>
          <a:p>
            <a:pPr algn="just">
              <a:lnSpc>
                <a:spcPct val="150000"/>
              </a:lnSpc>
            </a:pPr>
            <a:r>
              <a:rPr lang="en-US" sz="2400">
                <a:effectLst/>
                <a:latin typeface="Verdana" panose="020B0604030504040204" pitchFamily="34" charset="0"/>
                <a:ea typeface="Verdana" panose="020B0604030504040204" pitchFamily="34" charset="0"/>
                <a:cs typeface="Verdana" panose="020B0604030504040204" pitchFamily="34" charset="0"/>
              </a:rPr>
              <a:t>Hồi quy logistic thường được ưu tiên sử dụng trong các bài toán phân lớp và dự đoán nơi mà biến phụ thuộc không liên tục mà là nhị phân hoặc danh mục, giúp cung cấp cái nhìn sâu sắc và chính xác về mối quan hệ giữa các biến.</a:t>
            </a:r>
            <a:endParaRPr lang="en-US" sz="24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1BB1F28D-A0D1-713E-CEFD-9E7961A24F1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7899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9944-143B-0A5A-4303-057A1C86086C}"/>
              </a:ext>
            </a:extLst>
          </p:cNvPr>
          <p:cNvSpPr>
            <a:spLocks noGrp="1"/>
          </p:cNvSpPr>
          <p:nvPr>
            <p:ph type="title"/>
          </p:nvPr>
        </p:nvSpPr>
        <p:spPr/>
        <p:txBody>
          <a:bodyPr/>
          <a:lstStyle/>
          <a:p>
            <a:r>
              <a:rPr lang="vi-VN"/>
              <a:t>Giả định cơ bản</a:t>
            </a:r>
            <a:endParaRPr lang="en-US"/>
          </a:p>
        </p:txBody>
      </p:sp>
      <p:sp>
        <p:nvSpPr>
          <p:cNvPr id="3" name="Content Placeholder 2">
            <a:extLst>
              <a:ext uri="{FF2B5EF4-FFF2-40B4-BE49-F238E27FC236}">
                <a16:creationId xmlns:a16="http://schemas.microsoft.com/office/drawing/2014/main" id="{159F76F4-5C41-C53C-281C-AEAA229F4603}"/>
              </a:ext>
            </a:extLst>
          </p:cNvPr>
          <p:cNvSpPr>
            <a:spLocks noGrp="1"/>
          </p:cNvSpPr>
          <p:nvPr>
            <p:ph idx="1"/>
          </p:nvPr>
        </p:nvSpPr>
        <p:spPr/>
        <p:txBody>
          <a:bodyPr>
            <a:normAutofit fontScale="700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Biến phụ thuộc nhị phân hoặc danh mục:</a:t>
            </a:r>
            <a:r>
              <a:rPr lang="en-US" sz="1800">
                <a:effectLst/>
                <a:latin typeface="Verdana" panose="020B0604030504040204" pitchFamily="34" charset="0"/>
                <a:ea typeface="Verdana" panose="020B0604030504040204" pitchFamily="34" charset="0"/>
                <a:cs typeface="Verdana" panose="020B0604030504040204" pitchFamily="34" charset="0"/>
              </a:rPr>
              <a:t> Biến phụ thuộc phải là nhị phân (ví dụ: có/không, thành công/thất bại) hoặc danh mục.</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Mối quan hệ tuyến tính giữa logit và các biến độc lập:</a:t>
            </a:r>
            <a:r>
              <a:rPr lang="en-US" sz="1800">
                <a:effectLst/>
                <a:latin typeface="Verdana" panose="020B0604030504040204" pitchFamily="34" charset="0"/>
                <a:ea typeface="Verdana" panose="020B0604030504040204" pitchFamily="34" charset="0"/>
                <a:cs typeface="Verdana" panose="020B0604030504040204" pitchFamily="34" charset="0"/>
              </a:rPr>
              <a:t> Cần có mối quan hệ tuyến tính giữa logit của kết quả (log của tỷ lệ xác suất) và các biến độc lập.</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Không có đa cộng tuyến:</a:t>
            </a:r>
            <a:r>
              <a:rPr lang="en-US" sz="1800">
                <a:effectLst/>
                <a:latin typeface="Verdana" panose="020B0604030504040204" pitchFamily="34" charset="0"/>
                <a:ea typeface="Verdana" panose="020B0604030504040204" pitchFamily="34" charset="0"/>
                <a:cs typeface="Verdana" panose="020B0604030504040204" pitchFamily="34" charset="0"/>
              </a:rPr>
              <a:t> Các biến độc lập không nên có mối quan hệ tuyến tính mạnh mẽ với nhau.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Không có nhiễu đặc biệt trong biến phụ thuộc:</a:t>
            </a:r>
            <a:r>
              <a:rPr lang="en-US" sz="1800">
                <a:effectLst/>
                <a:latin typeface="Verdana" panose="020B0604030504040204" pitchFamily="34" charset="0"/>
                <a:ea typeface="Verdana" panose="020B0604030504040204" pitchFamily="34" charset="0"/>
                <a:cs typeface="Verdana" panose="020B0604030504040204" pitchFamily="34" charset="0"/>
              </a:rPr>
              <a:t> Mỗi trường hợp trong dữ liệu phải rõ ràng thuộc về một trong hai danh mục của biến phụ thuộc, không có trường hợp nhiễu.</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Kích thước mẫu đủ lớn:</a:t>
            </a:r>
            <a:r>
              <a:rPr lang="en-US" sz="1800">
                <a:effectLst/>
                <a:latin typeface="Verdana" panose="020B0604030504040204" pitchFamily="34" charset="0"/>
                <a:ea typeface="Verdana" panose="020B0604030504040204" pitchFamily="34" charset="0"/>
                <a:cs typeface="Verdana" panose="020B0604030504040204" pitchFamily="34" charset="0"/>
              </a:rPr>
              <a:t> Cần một kích thước mẫu đủ lớn để đảm bảo độ tin cậy của các ước lượng.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p:sp>
        <p:nvSpPr>
          <p:cNvPr id="4" name="Footer Placeholder 3">
            <a:extLst>
              <a:ext uri="{FF2B5EF4-FFF2-40B4-BE49-F238E27FC236}">
                <a16:creationId xmlns:a16="http://schemas.microsoft.com/office/drawing/2014/main" id="{F65ACF2D-CCDD-0421-9E9C-8155BBD8081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717857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E60C-73B0-E30E-03A1-1A097E64B25B}"/>
              </a:ext>
            </a:extLst>
          </p:cNvPr>
          <p:cNvSpPr>
            <a:spLocks noGrp="1"/>
          </p:cNvSpPr>
          <p:nvPr>
            <p:ph type="title"/>
          </p:nvPr>
        </p:nvSpPr>
        <p:spPr/>
        <p:txBody>
          <a:bodyPr/>
          <a:lstStyle/>
          <a:p>
            <a:r>
              <a:rPr lang="en-US"/>
              <a:t>Tham số</a:t>
            </a:r>
          </a:p>
        </p:txBody>
      </p:sp>
      <p:sp>
        <p:nvSpPr>
          <p:cNvPr id="3" name="Content Placeholder 2">
            <a:extLst>
              <a:ext uri="{FF2B5EF4-FFF2-40B4-BE49-F238E27FC236}">
                <a16:creationId xmlns:a16="http://schemas.microsoft.com/office/drawing/2014/main" id="{C584E87D-2381-74C0-1252-6B99495B321D}"/>
              </a:ext>
            </a:extLst>
          </p:cNvPr>
          <p:cNvSpPr>
            <a:spLocks noGrp="1"/>
          </p:cNvSpPr>
          <p:nvPr>
            <p:ph idx="1"/>
          </p:nvPr>
        </p:nvSpPr>
        <p:spPr/>
        <p:txBody>
          <a:bodyPr>
            <a:normAutofit lnSpcReduction="1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Hệ số hồi quy (coefficients):</a:t>
            </a:r>
            <a:r>
              <a:rPr lang="en-US" sz="1800">
                <a:effectLst/>
                <a:latin typeface="Verdana" panose="020B0604030504040204" pitchFamily="34" charset="0"/>
                <a:ea typeface="Verdana" panose="020B0604030504040204" pitchFamily="34" charset="0"/>
                <a:cs typeface="Verdana" panose="020B0604030504040204" pitchFamily="34" charset="0"/>
              </a:rPr>
              <a:t> Các hệ số hồi quy, hay trọng số, xác định mức độ ảnh hưởng của mỗi đặc trưng (feature) đối với xác suất dự đoán của mô hình.</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Điểm chặn (intercept): </a:t>
            </a:r>
            <a:r>
              <a:rPr lang="en-US" sz="1800">
                <a:effectLst/>
                <a:latin typeface="Verdana" panose="020B0604030504040204" pitchFamily="34" charset="0"/>
                <a:ea typeface="Verdana" panose="020B0604030504040204" pitchFamily="34" charset="0"/>
                <a:cs typeface="Verdana" panose="020B0604030504040204" pitchFamily="34" charset="0"/>
              </a:rPr>
              <a:t>Điểm chặn là hệ số hằng số trong mô hình, điều chỉnh xác suất dự đoán khi tất cả các đặc trưng có giá trị bằng không.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Hàm liên kết (link function): </a:t>
            </a:r>
            <a:r>
              <a:rPr lang="en-US" sz="1800">
                <a:effectLst/>
                <a:latin typeface="Verdana" panose="020B0604030504040204" pitchFamily="34" charset="0"/>
                <a:ea typeface="Verdana" panose="020B0604030504040204" pitchFamily="34" charset="0"/>
                <a:cs typeface="Verdana" panose="020B0604030504040204" pitchFamily="34" charset="0"/>
              </a:rPr>
              <a:t>Trong hồi quy logistic, hàm sigmoid (hoặc hàm logit) được sử dụng làm hàm liên kết để chuyển đổi giá trị dự đoán sang dạng xác suất.</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p:sp>
        <p:nvSpPr>
          <p:cNvPr id="4" name="Footer Placeholder 3">
            <a:extLst>
              <a:ext uri="{FF2B5EF4-FFF2-40B4-BE49-F238E27FC236}">
                <a16:creationId xmlns:a16="http://schemas.microsoft.com/office/drawing/2014/main" id="{0DB43569-4049-3919-A327-CE764F0F90E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692683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5B79-2617-895B-6918-8E6D16F0189D}"/>
              </a:ext>
            </a:extLst>
          </p:cNvPr>
          <p:cNvSpPr>
            <a:spLocks noGrp="1"/>
          </p:cNvSpPr>
          <p:nvPr>
            <p:ph type="title"/>
          </p:nvPr>
        </p:nvSpPr>
        <p:spPr/>
        <p:txBody>
          <a:bodyPr/>
          <a:lstStyle/>
          <a:p>
            <a:r>
              <a:rPr lang="en-US"/>
              <a:t>Tham số</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A9E02E-5BAF-067D-5716-1B690164E308}"/>
                  </a:ext>
                </a:extLst>
              </p:cNvPr>
              <p:cNvSpPr>
                <a:spLocks noGrp="1"/>
              </p:cNvSpPr>
              <p:nvPr>
                <p:ph idx="1"/>
              </p:nvPr>
            </p:nvSpPr>
            <p:spPr/>
            <p:txBody>
              <a:bodyPr>
                <a:normAutofit fontScale="85000" lnSpcReduction="1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Chuẩn hóa (regularization): </a:t>
                </a:r>
                <a:r>
                  <a:rPr lang="en-US" sz="1800">
                    <a:effectLst/>
                    <a:latin typeface="Verdana" panose="020B0604030504040204" pitchFamily="34" charset="0"/>
                    <a:ea typeface="Verdana" panose="020B0604030504040204" pitchFamily="34" charset="0"/>
                    <a:cs typeface="Verdana" panose="020B0604030504040204" pitchFamily="34" charset="0"/>
                  </a:rPr>
                  <a:t>Các phương pháp như L1 (lasso), L2 (ridge), hoặc kết hợp của cả hai (elastic net) được sử dụng để chuẩn hóa mô hình, giúp tránh overfitting và cải thiện khả năng tổng quát hóa.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14:m>
                  <m:oMath xmlns:m="http://schemas.openxmlformats.org/officeDocument/2006/math">
                    <m:r>
                      <a:rPr lang="en-US" sz="1800" b="1" i="1">
                        <a:effectLst/>
                        <a:latin typeface="Cambria Math" panose="02040503050406030204" pitchFamily="18" charset="0"/>
                        <a:ea typeface="Verdana" panose="020B0604030504040204" pitchFamily="34" charset="0"/>
                        <a:cs typeface="Verdana" panose="020B0604030504040204" pitchFamily="34" charset="0"/>
                      </a:rPr>
                      <m:t>𝑪</m:t>
                    </m:r>
                  </m:oMath>
                </a14:m>
                <a:r>
                  <a:rPr lang="en-US" sz="1800" b="1" i="1">
                    <a:effectLst/>
                    <a:latin typeface="Verdana" panose="020B0604030504040204" pitchFamily="34" charset="0"/>
                    <a:ea typeface="Verdana" panose="020B0604030504040204" pitchFamily="34" charset="0"/>
                    <a:cs typeface="Verdana" panose="020B0604030504040204" pitchFamily="34" charset="0"/>
                  </a:rPr>
                  <a:t> (penalty parameter trong chuẩn hóa): </a:t>
                </a:r>
                <a:r>
                  <a:rPr lang="en-US" sz="1800">
                    <a:effectLst/>
                    <a:latin typeface="Verdana" panose="020B0604030504040204" pitchFamily="34" charset="0"/>
                    <a:ea typeface="Verdana" panose="020B0604030504040204" pitchFamily="34" charset="0"/>
                    <a:cs typeface="Verdana" panose="020B0604030504040204" pitchFamily="34" charset="0"/>
                  </a:rPr>
                  <a:t>Đối với mô hình có chuẩn hóa,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𝐶</m:t>
                    </m:r>
                  </m:oMath>
                </a14:m>
                <a:r>
                  <a:rPr lang="en-US" sz="1800">
                    <a:effectLst/>
                    <a:latin typeface="Verdana" panose="020B0604030504040204" pitchFamily="34" charset="0"/>
                    <a:ea typeface="Verdana" panose="020B0604030504040204" pitchFamily="34" charset="0"/>
                    <a:cs typeface="Verdana" panose="020B0604030504040204" pitchFamily="34" charset="0"/>
                  </a:rPr>
                  <a:t> là tham số điều chỉnh mức độ mạnh của chuẩn hóa. Một giá trị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𝐶</m:t>
                    </m:r>
                  </m:oMath>
                </a14:m>
                <a:r>
                  <a:rPr lang="en-US" sz="1800">
                    <a:effectLst/>
                    <a:latin typeface="Verdana" panose="020B0604030504040204" pitchFamily="34" charset="0"/>
                    <a:ea typeface="Verdana" panose="020B0604030504040204" pitchFamily="34" charset="0"/>
                    <a:cs typeface="Verdana" panose="020B0604030504040204" pitchFamily="34" charset="0"/>
                  </a:rPr>
                  <a:t> thấp tăng cường hiệu ứng của chuẩn hóa, trong khi một giá trị </a:t>
                </a:r>
                <a14:m>
                  <m:oMath xmlns:m="http://schemas.openxmlformats.org/officeDocument/2006/math">
                    <m:r>
                      <a:rPr lang="en-US" sz="1800" i="1">
                        <a:effectLst/>
                        <a:latin typeface="Cambria Math" panose="02040503050406030204" pitchFamily="18" charset="0"/>
                        <a:ea typeface="Verdana" panose="020B0604030504040204" pitchFamily="34" charset="0"/>
                        <a:cs typeface="Verdana" panose="020B0604030504040204" pitchFamily="34" charset="0"/>
                      </a:rPr>
                      <m:t>𝐶</m:t>
                    </m:r>
                  </m:oMath>
                </a14:m>
                <a:r>
                  <a:rPr lang="en-US" sz="1800">
                    <a:effectLst/>
                    <a:latin typeface="Verdana" panose="020B0604030504040204" pitchFamily="34" charset="0"/>
                    <a:ea typeface="Verdana" panose="020B0604030504040204" pitchFamily="34" charset="0"/>
                    <a:cs typeface="Verdana" panose="020B0604030504040204" pitchFamily="34" charset="0"/>
                  </a:rPr>
                  <a:t> cao giảm bớt hiệu ứng đó.</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Verdana" panose="020B0604030504040204" pitchFamily="34" charset="0"/>
                    <a:cs typeface="Verdana" panose="020B0604030504040204" pitchFamily="34" charset="0"/>
                  </a:rPr>
                  <a:t>Tiêu chí dừng (stopping criteria):</a:t>
                </a:r>
                <a:r>
                  <a:rPr lang="en-US" sz="1800" b="1">
                    <a:effectLst/>
                    <a:latin typeface="Verdana" panose="020B0604030504040204" pitchFamily="34" charset="0"/>
                    <a:ea typeface="Verdana" panose="020B0604030504040204" pitchFamily="34" charset="0"/>
                    <a:cs typeface="Verdana" panose="020B0604030504040204" pitchFamily="34" charset="0"/>
                  </a:rPr>
                  <a:t> </a:t>
                </a:r>
                <a:r>
                  <a:rPr lang="en-US" sz="1800">
                    <a:effectLst/>
                    <a:latin typeface="Verdana" panose="020B0604030504040204" pitchFamily="34" charset="0"/>
                    <a:ea typeface="Verdana" panose="020B0604030504040204" pitchFamily="34" charset="0"/>
                    <a:cs typeface="Verdana" panose="020B0604030504040204" pitchFamily="34" charset="0"/>
                  </a:rPr>
                  <a:t>Điều kiện để dừng quá trình học của mô hình, thường dựa trên sự cải thiện của hàm mất mát hoặc đạt đến số lượng lần lặp tối đa.</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endParaRPr lang="en-US"/>
              </a:p>
            </p:txBody>
          </p:sp>
        </mc:Choice>
        <mc:Fallback xmlns="">
          <p:sp>
            <p:nvSpPr>
              <p:cNvPr id="3" name="Content Placeholder 2">
                <a:extLst>
                  <a:ext uri="{FF2B5EF4-FFF2-40B4-BE49-F238E27FC236}">
                    <a16:creationId xmlns:a16="http://schemas.microsoft.com/office/drawing/2014/main" id="{B2A9E02E-5BAF-067D-5716-1B690164E308}"/>
                  </a:ext>
                </a:extLst>
              </p:cNvPr>
              <p:cNvSpPr>
                <a:spLocks noGrp="1" noRot="1" noChangeAspect="1" noMove="1" noResize="1" noEditPoints="1" noAdjustHandles="1" noChangeArrowheads="1" noChangeShapeType="1" noTextEdit="1"/>
              </p:cNvSpPr>
              <p:nvPr>
                <p:ph idx="1"/>
              </p:nvPr>
            </p:nvSpPr>
            <p:spPr>
              <a:blipFill>
                <a:blip r:embed="rId2"/>
                <a:stretch>
                  <a:fillRect r="-15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7C15171-3966-12AF-AB4B-CB3C95D348A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328143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E2CA7-F284-D491-DD8A-1EE3A281B2D8}"/>
              </a:ext>
            </a:extLst>
          </p:cNvPr>
          <p:cNvSpPr>
            <a:spLocks noGrp="1"/>
          </p:cNvSpPr>
          <p:nvPr>
            <p:ph type="title"/>
          </p:nvPr>
        </p:nvSpPr>
        <p:spPr/>
        <p:txBody>
          <a:bodyPr>
            <a:normAutofit/>
          </a:bodyPr>
          <a:lstStyle/>
          <a:p>
            <a:r>
              <a:rPr lang="en-US" sz="4000"/>
              <a:t>Cách thức hoạt động của mô hình</a:t>
            </a:r>
          </a:p>
        </p:txBody>
      </p:sp>
      <p:sp>
        <p:nvSpPr>
          <p:cNvPr id="4" name="Footer Placeholder 3">
            <a:extLst>
              <a:ext uri="{FF2B5EF4-FFF2-40B4-BE49-F238E27FC236}">
                <a16:creationId xmlns:a16="http://schemas.microsoft.com/office/drawing/2014/main" id="{1FA54511-E0BF-F11E-AAEE-9782BB7D96B7}"/>
              </a:ext>
            </a:extLst>
          </p:cNvPr>
          <p:cNvSpPr>
            <a:spLocks noGrp="1"/>
          </p:cNvSpPr>
          <p:nvPr>
            <p:ph type="ftr" sz="quarter" idx="11"/>
          </p:nvPr>
        </p:nvSpPr>
        <p:spPr/>
        <p:txBody>
          <a:bodyPr/>
          <a:lstStyle/>
          <a:p>
            <a:r>
              <a:rPr lang="en-US"/>
              <a:t>ThS. Lê Nhật Tùng</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01F966F-6D56-5586-62ED-4CCE2859E286}"/>
                  </a:ext>
                </a:extLst>
              </p:cNvPr>
              <p:cNvSpPr txBox="1"/>
              <p:nvPr/>
            </p:nvSpPr>
            <p:spPr>
              <a:xfrm>
                <a:off x="777240" y="1737361"/>
                <a:ext cx="7429500" cy="4341445"/>
              </a:xfrm>
              <a:prstGeom prst="rect">
                <a:avLst/>
              </a:prstGeom>
              <a:noFill/>
            </p:spPr>
            <p:txBody>
              <a:bodyPr wrap="square">
                <a:spAutoFit/>
              </a:bodyPr>
              <a:lstStyle/>
              <a:p>
                <a:pPr marR="0" lvl="0" algn="l">
                  <a:lnSpc>
                    <a:spcPct val="150000"/>
                  </a:lnSpc>
                  <a:spcBef>
                    <a:spcPts val="600"/>
                  </a:spcBef>
                  <a:spcAft>
                    <a:spcPts val="600"/>
                  </a:spcAft>
                </a:pPr>
                <a:r>
                  <a:rPr lang="en-US" sz="1800" b="1">
                    <a:effectLst/>
                    <a:latin typeface="Verdana" panose="020B0604030504040204" pitchFamily="34" charset="0"/>
                    <a:ea typeface="Times New Roman" panose="02020603050405020304" pitchFamily="18" charset="0"/>
                    <a:cs typeface="Verdana" panose="020B0604030504040204" pitchFamily="34" charset="0"/>
                  </a:rPr>
                  <a:t>Xác định hàm logistic: </a:t>
                </a:r>
                <a:r>
                  <a:rPr lang="en-US" sz="1800">
                    <a:effectLst/>
                    <a:latin typeface="Verdana" panose="020B0604030504040204" pitchFamily="34" charset="0"/>
                    <a:ea typeface="Times New Roman" panose="02020603050405020304" pitchFamily="18" charset="0"/>
                    <a:cs typeface="Verdana" panose="020B0604030504040204" pitchFamily="34" charset="0"/>
                  </a:rPr>
                  <a:t>Hồi quy logistic sử dụng hàm logistic (còn gọi là hàm sigmoid) để chuyển đổi giá trị dự đoán thành xác suất. Hàm logistic có dạng:</a:t>
                </a:r>
              </a:p>
              <a:p>
                <a:pPr marL="0" marR="0" indent="226695" algn="just">
                  <a:lnSpc>
                    <a:spcPct val="150000"/>
                  </a:lnSpc>
                  <a:spcBef>
                    <a:spcPts val="600"/>
                  </a:spcBef>
                  <a:spcAft>
                    <a:spcPts val="12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f>
                        <m:f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fPr>
                        <m:num>
                          <m:r>
                            <a:rPr lang="en-US" sz="1800">
                              <a:effectLst/>
                              <a:latin typeface="Cambria Math" panose="02040503050406030204" pitchFamily="18" charset="0"/>
                              <a:ea typeface="Times New Roman" panose="02020603050405020304" pitchFamily="18" charset="0"/>
                              <a:cs typeface="Verdana" panose="020B0604030504040204" pitchFamily="34" charset="0"/>
                            </a:rPr>
                            <m:t>1</m:t>
                          </m:r>
                        </m:num>
                        <m:den>
                          <m:r>
                            <a:rPr lang="en-US" sz="1800">
                              <a:effectLst/>
                              <a:latin typeface="Cambria Math" panose="02040503050406030204" pitchFamily="18" charset="0"/>
                              <a:ea typeface="Times New Roman" panose="02020603050405020304" pitchFamily="18" charset="0"/>
                              <a:cs typeface="Verdana" panose="020B0604030504040204" pitchFamily="34" charset="0"/>
                            </a:rPr>
                            <m:t>1+</m:t>
                          </m:r>
                          <m:sSup>
                            <m:sSup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p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𝑒</m:t>
                              </m:r>
                            </m:e>
                            <m:sup>
                              <m:r>
                                <a:rPr lang="en-US" sz="1800" i="1">
                                  <a:effectLst/>
                                  <a:latin typeface="Cambria Math" panose="02040503050406030204" pitchFamily="18" charset="0"/>
                                  <a:ea typeface="Times New Roman" panose="02020603050405020304" pitchFamily="18" charset="0"/>
                                  <a:cs typeface="Verdana" panose="020B0604030504040204" pitchFamily="34" charset="0"/>
                                </a:rPr>
                                <m:t>−</m:t>
                              </m:r>
                              <m:d>
                                <m:d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dPr>
                                <m:e>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0</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e>
                              </m:d>
                            </m:sup>
                          </m:sSup>
                        </m:den>
                      </m:f>
                    </m:oMath>
                  </m:oMathPara>
                </a14:m>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0" marR="0" indent="226695" algn="just">
                  <a:lnSpc>
                    <a:spcPct val="150000"/>
                  </a:lnSpc>
                  <a:spcBef>
                    <a:spcPts val="600"/>
                  </a:spcBef>
                  <a:spcAft>
                    <a:spcPts val="1200"/>
                  </a:spcAft>
                </a:pPr>
                <a:r>
                  <a:rPr lang="en-US" sz="1800">
                    <a:effectLst/>
                    <a:latin typeface="Verdana" panose="020B0604030504040204" pitchFamily="34" charset="0"/>
                    <a:ea typeface="Times New Roman" panose="02020603050405020304" pitchFamily="18" charset="0"/>
                    <a:cs typeface="Verdana" panose="020B0604030504040204" pitchFamily="34" charset="0"/>
                  </a:rPr>
                  <a:t>trong đó,</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xác suất để sự kiện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xảy ra (ví dụ: sự kiện thành công, lớp 1, …).</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2</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𝑋</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các biến độc lập.</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0</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i="1">
                            <a:effectLst/>
                            <a:latin typeface="Cambria Math" panose="02040503050406030204" pitchFamily="18" charset="0"/>
                            <a:ea typeface="Times New Roman" panose="02020603050405020304" pitchFamily="18" charset="0"/>
                            <a:cs typeface="Verdana" panose="020B0604030504040204" pitchFamily="34" charset="0"/>
                          </a:rPr>
                          <m:t>𝑘</m:t>
                        </m:r>
                      </m:sub>
                    </m:sSub>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hệ số mô hình cần được ước lượng.</a:t>
                </a:r>
              </a:p>
              <a:p>
                <a:pPr marL="342900" marR="0" lvl="0" indent="-342900" algn="l">
                  <a:lnSpc>
                    <a:spcPts val="1200"/>
                  </a:lnSpc>
                  <a:spcBef>
                    <a:spcPts val="600"/>
                  </a:spcBef>
                  <a:spcAft>
                    <a:spcPts val="600"/>
                  </a:spcAft>
                  <a:buFont typeface="Symbol" panose="05050102010706020507" pitchFamily="18" charset="2"/>
                  <a:buChar char=""/>
                  <a:tabLst>
                    <a:tab pos="457200" algn="l"/>
                  </a:tabLs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𝑒</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là cơ số của logarit tự nhiên.</a:t>
                </a:r>
              </a:p>
            </p:txBody>
          </p:sp>
        </mc:Choice>
        <mc:Fallback xmlns="">
          <p:sp>
            <p:nvSpPr>
              <p:cNvPr id="6" name="TextBox 5">
                <a:extLst>
                  <a:ext uri="{FF2B5EF4-FFF2-40B4-BE49-F238E27FC236}">
                    <a16:creationId xmlns:a16="http://schemas.microsoft.com/office/drawing/2014/main" id="{B01F966F-6D56-5586-62ED-4CCE2859E286}"/>
                  </a:ext>
                </a:extLst>
              </p:cNvPr>
              <p:cNvSpPr txBox="1">
                <a:spLocks noRot="1" noChangeAspect="1" noMove="1" noResize="1" noEditPoints="1" noAdjustHandles="1" noChangeArrowheads="1" noChangeShapeType="1" noTextEdit="1"/>
              </p:cNvSpPr>
              <p:nvPr/>
            </p:nvSpPr>
            <p:spPr>
              <a:xfrm>
                <a:off x="777240" y="1737361"/>
                <a:ext cx="7429500" cy="4341445"/>
              </a:xfrm>
              <a:prstGeom prst="rect">
                <a:avLst/>
              </a:prstGeom>
              <a:blipFill>
                <a:blip r:embed="rId2"/>
                <a:stretch>
                  <a:fillRect l="-739" r="-411" b="-1264"/>
                </a:stretch>
              </a:blipFill>
            </p:spPr>
            <p:txBody>
              <a:bodyPr/>
              <a:lstStyle/>
              <a:p>
                <a:r>
                  <a:rPr lang="en-US">
                    <a:noFill/>
                  </a:rPr>
                  <a:t> </a:t>
                </a:r>
              </a:p>
            </p:txBody>
          </p:sp>
        </mc:Fallback>
      </mc:AlternateContent>
    </p:spTree>
    <p:extLst>
      <p:ext uri="{BB962C8B-B14F-4D97-AF65-F5344CB8AC3E}">
        <p14:creationId xmlns:p14="http://schemas.microsoft.com/office/powerpoint/2010/main" val="1589333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57782-40D6-A2EF-8ACD-2F0AEC80F5E3}"/>
              </a:ext>
            </a:extLst>
          </p:cNvPr>
          <p:cNvSpPr>
            <a:spLocks noGrp="1"/>
          </p:cNvSpPr>
          <p:nvPr>
            <p:ph type="title"/>
          </p:nvPr>
        </p:nvSpPr>
        <p:spPr/>
        <p:txBody>
          <a:bodyPr>
            <a:normAutofit/>
          </a:bodyPr>
          <a:lstStyle/>
          <a:p>
            <a:r>
              <a:rPr lang="en-US" sz="4000"/>
              <a:t>Cách thức hoạt động của mô hình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A11B3D-6592-3DC4-36D2-B9F019D1C6BC}"/>
                  </a:ext>
                </a:extLst>
              </p:cNvPr>
              <p:cNvSpPr>
                <a:spLocks noGrp="1"/>
              </p:cNvSpPr>
              <p:nvPr>
                <p:ph idx="1"/>
              </p:nvPr>
            </p:nvSpPr>
            <p:spPr/>
            <p:txBody>
              <a:bodyPr>
                <a:normAutofit fontScale="85000" lnSpcReduction="10000"/>
              </a:bodyPr>
              <a:lstStyle/>
              <a:p>
                <a:pPr marL="342900" marR="0" lvl="0" indent="-342900" algn="just">
                  <a:lnSpc>
                    <a:spcPct val="150000"/>
                  </a:lnSpc>
                  <a:spcBef>
                    <a:spcPts val="600"/>
                  </a:spcBef>
                  <a:spcAft>
                    <a:spcPts val="600"/>
                  </a:spcAft>
                  <a:buFont typeface="Symbol" panose="05050102010706020507" pitchFamily="18" charset="2"/>
                  <a:buChar char="-"/>
                </a:pPr>
                <a:r>
                  <a:rPr lang="en-US" sz="1800" b="1">
                    <a:effectLst/>
                    <a:latin typeface="Verdana" panose="020B0604030504040204" pitchFamily="34" charset="0"/>
                    <a:ea typeface="Times New Roman" panose="02020603050405020304" pitchFamily="18" charset="0"/>
                    <a:cs typeface="Verdana" panose="020B0604030504040204" pitchFamily="34" charset="0"/>
                  </a:rPr>
                  <a:t>Ước lượng hệ số mô hình: </a:t>
                </a:r>
                <a:r>
                  <a:rPr lang="en-US" sz="1800">
                    <a:effectLst/>
                    <a:latin typeface="Verdana" panose="020B0604030504040204" pitchFamily="34" charset="0"/>
                    <a:ea typeface="Times New Roman" panose="02020603050405020304" pitchFamily="18" charset="0"/>
                    <a:cs typeface="Verdana" panose="020B0604030504040204" pitchFamily="34" charset="0"/>
                  </a:rPr>
                  <a:t>Hệ số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của mô hình được ước lượng thông qua quy trình tối ưu hóa, thường là phương pháp Maximum Likelihood Estimation (MLE). MLE tìm cách tối đa hóa xác suất của dữ liệu quan sát dựa trên hệ số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a:t>
                </a:r>
              </a:p>
              <a:p>
                <a:pPr marL="342900" marR="0" lvl="0" indent="-342900" algn="just">
                  <a:lnSpc>
                    <a:spcPct val="150000"/>
                  </a:lnSpc>
                  <a:spcBef>
                    <a:spcPts val="600"/>
                  </a:spcBef>
                  <a:spcAft>
                    <a:spcPts val="600"/>
                  </a:spcAft>
                  <a:buFont typeface="Symbol" panose="05050102010706020507" pitchFamily="18" charset="2"/>
                  <a:buChar char="-"/>
                </a:pPr>
                <a:r>
                  <a:rPr lang="en-US" sz="1800" b="1">
                    <a:effectLst/>
                    <a:latin typeface="Verdana" panose="020B0604030504040204" pitchFamily="34" charset="0"/>
                    <a:ea typeface="Times New Roman" panose="02020603050405020304" pitchFamily="18" charset="0"/>
                    <a:cs typeface="Verdana" panose="020B0604030504040204" pitchFamily="34" charset="0"/>
                  </a:rPr>
                  <a:t>Phân lớp: </a:t>
                </a:r>
                <a:r>
                  <a:rPr lang="en-US" sz="1800">
                    <a:effectLst/>
                    <a:latin typeface="Verdana" panose="020B0604030504040204" pitchFamily="34" charset="0"/>
                    <a:ea typeface="Times New Roman" panose="02020603050405020304" pitchFamily="18" charset="0"/>
                    <a:cs typeface="Verdana" panose="020B0604030504040204" pitchFamily="34" charset="0"/>
                  </a:rPr>
                  <a:t>Dựa vào xác suất được dự đoán từ hàm logistic, quyết định phân loại một quan sát vào lớp 1 nếu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a:t>
                </a:r>
                <a:r>
                  <a:rPr lang="en-US" sz="1800" b="1">
                    <a:effectLst/>
                    <a:latin typeface="Verdana" panose="020B0604030504040204" pitchFamily="34" charset="0"/>
                    <a:ea typeface="Times New Roman" panose="02020603050405020304" pitchFamily="18" charset="0"/>
                    <a:cs typeface="Verdana" panose="020B0604030504040204" pitchFamily="34" charset="0"/>
                  </a:rPr>
                  <a:t>vượt quá một ngưỡng cụ thể </a:t>
                </a:r>
                <a:r>
                  <a:rPr lang="en-US" sz="1800">
                    <a:effectLst/>
                    <a:latin typeface="Verdana" panose="020B0604030504040204" pitchFamily="34" charset="0"/>
                    <a:ea typeface="Times New Roman" panose="02020603050405020304" pitchFamily="18" charset="0"/>
                    <a:cs typeface="Verdana" panose="020B0604030504040204" pitchFamily="34" charset="0"/>
                  </a:rPr>
                  <a:t>(thường là 0.5 ) và ngược lại là lớp 0. Ví dụ: Nếu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=1)&gt;0.5</m:t>
                    </m:r>
                  </m:oMath>
                </a14:m>
                <a:r>
                  <a:rPr lang="en-US" sz="1800">
                    <a:effectLst/>
                    <a:latin typeface="Verdana" panose="020B0604030504040204" pitchFamily="34" charset="0"/>
                    <a:ea typeface="Times New Roman" panose="02020603050405020304" pitchFamily="18" charset="0"/>
                    <a:cs typeface="Verdana" panose="020B0604030504040204" pitchFamily="34" charset="0"/>
                  </a:rPr>
                  <a:t>, quan sát được phân loại là lớp 1.</a:t>
                </a:r>
              </a:p>
              <a:p>
                <a:pPr marL="342900" marR="0" lvl="0" indent="-342900" algn="just">
                  <a:lnSpc>
                    <a:spcPct val="150000"/>
                  </a:lnSpc>
                  <a:spcBef>
                    <a:spcPts val="600"/>
                  </a:spcBef>
                  <a:spcAft>
                    <a:spcPts val="600"/>
                  </a:spcAft>
                  <a:buFont typeface="Symbol" panose="05050102010706020507" pitchFamily="18" charset="2"/>
                  <a:buChar char="-"/>
                </a:pPr>
                <a:r>
                  <a:rPr lang="en-US" sz="1800" b="1">
                    <a:effectLst/>
                    <a:latin typeface="Verdana" panose="020B0604030504040204" pitchFamily="34" charset="0"/>
                    <a:ea typeface="Times New Roman" panose="02020603050405020304" pitchFamily="18" charset="0"/>
                    <a:cs typeface="Verdana" panose="020B0604030504040204" pitchFamily="34" charset="0"/>
                  </a:rPr>
                  <a:t>Đánh giá mô hình: </a:t>
                </a:r>
                <a:r>
                  <a:rPr lang="en-US" sz="1800">
                    <a:effectLst/>
                    <a:latin typeface="Verdana" panose="020B0604030504040204" pitchFamily="34" charset="0"/>
                    <a:ea typeface="Times New Roman" panose="02020603050405020304" pitchFamily="18" charset="0"/>
                    <a:cs typeface="Verdana" panose="020B0604030504040204" pitchFamily="34" charset="0"/>
                  </a:rPr>
                  <a:t>Mô hình hồi quy logistic thường được đánh giá thông qua các chỉ số như độ chính xác (accuracy), precision, recall, điểm số F1, hoặc thông qua ROC và AUC.</a:t>
                </a:r>
              </a:p>
              <a:p>
                <a:endParaRPr lang="en-US"/>
              </a:p>
            </p:txBody>
          </p:sp>
        </mc:Choice>
        <mc:Fallback xmlns="">
          <p:sp>
            <p:nvSpPr>
              <p:cNvPr id="3" name="Content Placeholder 2">
                <a:extLst>
                  <a:ext uri="{FF2B5EF4-FFF2-40B4-BE49-F238E27FC236}">
                    <a16:creationId xmlns:a16="http://schemas.microsoft.com/office/drawing/2014/main" id="{0BA11B3D-6592-3DC4-36D2-B9F019D1C6BC}"/>
                  </a:ext>
                </a:extLst>
              </p:cNvPr>
              <p:cNvSpPr>
                <a:spLocks noGrp="1" noRot="1" noChangeAspect="1" noMove="1" noResize="1" noEditPoints="1" noAdjustHandles="1" noChangeArrowheads="1" noChangeShapeType="1" noTextEdit="1"/>
              </p:cNvSpPr>
              <p:nvPr>
                <p:ph idx="1"/>
              </p:nvPr>
            </p:nvSpPr>
            <p:spPr>
              <a:blipFill>
                <a:blip r:embed="rId2"/>
                <a:stretch>
                  <a:fillRect l="-1535" r="-15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D7267C6F-E771-6604-EE55-2D9EB861900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430339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FD80F-E27A-81D8-6B90-034E0882A844}"/>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91829D11-DC9D-49E1-68DB-4C8D5A81685C}"/>
              </a:ext>
            </a:extLst>
          </p:cNvPr>
          <p:cNvSpPr>
            <a:spLocks noGrp="1"/>
          </p:cNvSpPr>
          <p:nvPr>
            <p:ph idx="1"/>
          </p:nvPr>
        </p:nvSpPr>
        <p:spPr/>
        <p:txBody>
          <a:bodyPr/>
          <a:lstStyle/>
          <a:p>
            <a:pPr algn="just">
              <a:lnSpc>
                <a:spcPct val="150000"/>
              </a:lnSpc>
            </a:pPr>
            <a:r>
              <a:rPr lang="en-US" sz="1800" b="1">
                <a:effectLst/>
                <a:latin typeface="Verdana" panose="020B0604030504040204" pitchFamily="34" charset="0"/>
                <a:ea typeface="Times New Roman" panose="02020603050405020304" pitchFamily="18" charset="0"/>
                <a:cs typeface="Verdana" panose="020B0604030504040204" pitchFamily="34" charset="0"/>
              </a:rPr>
              <a:t>Ví dụ: </a:t>
            </a:r>
            <a:r>
              <a:rPr lang="en-US" sz="1800">
                <a:effectLst/>
                <a:latin typeface="Verdana" panose="020B0604030504040204" pitchFamily="34" charset="0"/>
                <a:ea typeface="Times New Roman" panose="02020603050405020304" pitchFamily="18" charset="0"/>
                <a:cs typeface="Verdana" panose="020B0604030504040204" pitchFamily="34" charset="0"/>
              </a:rPr>
              <a:t>Giả sử bạn là một nhà phân tích tại một ngân hàng và muốn sử dụng hồi quy logistic để dự đoán liệu một khách hàng có khả năng vay vốn thành công hay không. Bộ dữ liệu bao gồm các đặc trưng như "Thu nhập hàng năm", "Điểm tín dụng", và "Số năm làm việc".</a:t>
            </a:r>
          </a:p>
          <a:p>
            <a:pPr algn="just"/>
            <a:endParaRPr lang="en-US"/>
          </a:p>
        </p:txBody>
      </p:sp>
      <p:sp>
        <p:nvSpPr>
          <p:cNvPr id="4" name="Footer Placeholder 3">
            <a:extLst>
              <a:ext uri="{FF2B5EF4-FFF2-40B4-BE49-F238E27FC236}">
                <a16:creationId xmlns:a16="http://schemas.microsoft.com/office/drawing/2014/main" id="{C1332A42-FA30-9617-4FE7-7DDC30E2252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87248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7178-CD17-E361-51D7-B40C64D7A280}"/>
              </a:ext>
            </a:extLst>
          </p:cNvPr>
          <p:cNvSpPr>
            <a:spLocks noGrp="1"/>
          </p:cNvSpPr>
          <p:nvPr>
            <p:ph type="title"/>
          </p:nvPr>
        </p:nvSpPr>
        <p:spPr/>
        <p:txBody>
          <a:bodyPr/>
          <a:lstStyle/>
          <a:p>
            <a:r>
              <a:rPr lang="en-US"/>
              <a:t>Ví dụ</a:t>
            </a:r>
          </a:p>
        </p:txBody>
      </p:sp>
      <p:sp>
        <p:nvSpPr>
          <p:cNvPr id="3" name="Content Placeholder 2">
            <a:extLst>
              <a:ext uri="{FF2B5EF4-FFF2-40B4-BE49-F238E27FC236}">
                <a16:creationId xmlns:a16="http://schemas.microsoft.com/office/drawing/2014/main" id="{A06C53BF-D884-FF22-FD90-C79123E25A14}"/>
              </a:ext>
            </a:extLst>
          </p:cNvPr>
          <p:cNvSpPr>
            <a:spLocks noGrp="1"/>
          </p:cNvSpPr>
          <p:nvPr>
            <p:ph idx="1"/>
          </p:nvPr>
        </p:nvSpPr>
        <p:spPr/>
        <p:txBody>
          <a:bodyPr>
            <a:normAutofit/>
          </a:bodyPr>
          <a:lstStyle/>
          <a:p>
            <a:pPr marL="342900" marR="0" lvl="0" indent="-342900" algn="just">
              <a:lnSpc>
                <a:spcPct val="150000"/>
              </a:lnSpc>
              <a:spcBef>
                <a:spcPts val="600"/>
              </a:spcBef>
              <a:spcAft>
                <a:spcPts val="600"/>
              </a:spcAft>
              <a:buFont typeface="Symbol" panose="05050102010706020507" pitchFamily="18" charset="2"/>
              <a:buChar char="-"/>
            </a:pPr>
            <a:r>
              <a:rPr lang="en-US" sz="1400" i="1">
                <a:effectLst/>
                <a:latin typeface="Verdana" panose="020B0604030504040204" pitchFamily="34" charset="0"/>
                <a:ea typeface="Times New Roman" panose="02020603050405020304" pitchFamily="18" charset="0"/>
                <a:cs typeface="Verdana" panose="020B0604030504040204" pitchFamily="34" charset="0"/>
              </a:rPr>
              <a:t>Xác định biến độc lập và phụ thuộc:</a:t>
            </a:r>
            <a:endParaRPr lang="en-US" sz="14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sz="1400">
                <a:effectLst/>
                <a:latin typeface="Verdana" panose="020B0604030504040204" pitchFamily="34" charset="0"/>
                <a:ea typeface="Times New Roman" panose="02020603050405020304" pitchFamily="18" charset="0"/>
                <a:cs typeface="Verdana" panose="020B0604030504040204" pitchFamily="34" charset="0"/>
              </a:rPr>
              <a:t>Biến phụ thuộc (Y): Khả năng vay vốn (1: Thành công, 0: Thất bại).</a:t>
            </a:r>
          </a:p>
          <a:p>
            <a:pPr marL="742950" marR="0" lvl="1" indent="-285750" algn="just">
              <a:lnSpc>
                <a:spcPct val="150000"/>
              </a:lnSpc>
              <a:spcBef>
                <a:spcPts val="600"/>
              </a:spcBef>
              <a:spcAft>
                <a:spcPts val="600"/>
              </a:spcAft>
              <a:buFont typeface="Symbol" panose="05050102010706020507" pitchFamily="18" charset="2"/>
              <a:buChar char=""/>
            </a:pPr>
            <a:r>
              <a:rPr lang="en-US" sz="1400">
                <a:effectLst/>
                <a:latin typeface="Verdana" panose="020B0604030504040204" pitchFamily="34" charset="0"/>
                <a:ea typeface="Times New Roman" panose="02020603050405020304" pitchFamily="18" charset="0"/>
                <a:cs typeface="Verdana" panose="020B0604030504040204" pitchFamily="34" charset="0"/>
              </a:rPr>
              <a:t>Biến độc lập (X): "Thu nhập hàng năm", "Điểm tín dụng", "Số năm làm việc".</a:t>
            </a:r>
          </a:p>
        </p:txBody>
      </p:sp>
      <p:sp>
        <p:nvSpPr>
          <p:cNvPr id="4" name="Footer Placeholder 3">
            <a:extLst>
              <a:ext uri="{FF2B5EF4-FFF2-40B4-BE49-F238E27FC236}">
                <a16:creationId xmlns:a16="http://schemas.microsoft.com/office/drawing/2014/main" id="{71BC6663-46E0-E660-E6BC-2B8EAEA142A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1388483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726C-90B7-742D-61B1-BB5EE9A7F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0D5FB-67EB-5E0D-15A3-EE1F1BB193D1}"/>
              </a:ext>
            </a:extLst>
          </p:cNvPr>
          <p:cNvSpPr>
            <a:spLocks noGrp="1"/>
          </p:cNvSpPr>
          <p:nvPr>
            <p:ph type="title"/>
          </p:nvPr>
        </p:nvSpPr>
        <p:spPr/>
        <p:txBody>
          <a:bodyPr/>
          <a:lstStyle/>
          <a:p>
            <a:r>
              <a:rPr lang="en-US"/>
              <a:t>Ví dụ</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9EADDC-7A19-EB3C-E5CB-6E3D8160065F}"/>
                  </a:ext>
                </a:extLst>
              </p:cNvPr>
              <p:cNvSpPr>
                <a:spLocks noGrp="1"/>
              </p:cNvSpPr>
              <p:nvPr>
                <p:ph idx="1"/>
              </p:nvPr>
            </p:nvSpPr>
            <p:spPr/>
            <p:txBody>
              <a:bodyPr>
                <a:normAutofit/>
              </a:bodyPr>
              <a:lstStyle/>
              <a:p>
                <a:pPr marL="342900" marR="0" lvl="0" indent="-342900" algn="just">
                  <a:lnSpc>
                    <a:spcPct val="150000"/>
                  </a:lnSpc>
                  <a:spcBef>
                    <a:spcPts val="600"/>
                  </a:spcBef>
                  <a:spcAft>
                    <a:spcPts val="600"/>
                  </a:spcAft>
                  <a:buFont typeface="Symbol" panose="05050102010706020507" pitchFamily="18" charset="2"/>
                  <a:buChar char="-"/>
                </a:pPr>
                <a:r>
                  <a:rPr lang="en-US" sz="1800">
                    <a:effectLst/>
                    <a:latin typeface="Verdana" panose="020B0604030504040204" pitchFamily="34" charset="0"/>
                    <a:ea typeface="Times New Roman" panose="02020603050405020304" pitchFamily="18" charset="0"/>
                    <a:cs typeface="Verdana" panose="020B0604030504040204" pitchFamily="34" charset="0"/>
                  </a:rPr>
                  <a:t>Xây dựng mô hình hồi quy logistic: Sử dụng dữ liệu để ước lượng hệ số của mô hình:</a:t>
                </a:r>
              </a:p>
              <a:p>
                <a:pPr marL="228600" marR="0" indent="0" algn="just">
                  <a:lnSpc>
                    <a:spcPct val="150000"/>
                  </a:lnSpc>
                  <a:spcBef>
                    <a:spcPts val="600"/>
                  </a:spcBef>
                  <a:spcAft>
                    <a:spcPts val="60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Verdana" panose="020B0604030504040204" pitchFamily="34" charset="0"/>
                      </a:rPr>
                      <m:t>𝑃</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𝑌</m:t>
                    </m:r>
                    <m:r>
                      <a:rPr lang="en-US" sz="1800">
                        <a:effectLst/>
                        <a:latin typeface="Cambria Math" panose="02040503050406030204" pitchFamily="18" charset="0"/>
                        <a:ea typeface="Times New Roman" panose="02020603050405020304" pitchFamily="18" charset="0"/>
                        <a:cs typeface="Verdana" panose="020B0604030504040204" pitchFamily="34" charset="0"/>
                      </a:rPr>
                      <m:t>=1)=</m:t>
                    </m:r>
                    <m:f>
                      <m:f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fPr>
                      <m:num>
                        <m:r>
                          <a:rPr lang="en-US" sz="1800">
                            <a:effectLst/>
                            <a:latin typeface="Cambria Math" panose="02040503050406030204" pitchFamily="18" charset="0"/>
                            <a:ea typeface="Times New Roman" panose="02020603050405020304" pitchFamily="18" charset="0"/>
                            <a:cs typeface="Verdana" panose="020B0604030504040204" pitchFamily="34" charset="0"/>
                          </a:rPr>
                          <m:t>1</m:t>
                        </m:r>
                      </m:num>
                      <m:den>
                        <m:r>
                          <a:rPr lang="en-US" sz="1800">
                            <a:effectLst/>
                            <a:latin typeface="Cambria Math" panose="02040503050406030204" pitchFamily="18" charset="0"/>
                            <a:ea typeface="Times New Roman" panose="02020603050405020304" pitchFamily="18" charset="0"/>
                            <a:cs typeface="Verdana" panose="020B0604030504040204" pitchFamily="34" charset="0"/>
                          </a:rPr>
                          <m:t>1+</m:t>
                        </m:r>
                        <m:sSup>
                          <m:sSup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pPr>
                          <m:e>
                            <m:r>
                              <a:rPr lang="en-US" sz="1800" i="1">
                                <a:effectLst/>
                                <a:latin typeface="Cambria Math" panose="02040503050406030204" pitchFamily="18" charset="0"/>
                                <a:ea typeface="Times New Roman" panose="02020603050405020304" pitchFamily="18" charset="0"/>
                                <a:cs typeface="Verdana" panose="020B0604030504040204" pitchFamily="34" charset="0"/>
                              </a:rPr>
                              <m:t>𝑒</m:t>
                            </m:r>
                          </m:e>
                          <m:sup>
                            <m:r>
                              <a:rPr lang="en-US" sz="1800" i="1">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0</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1</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Th</m:t>
                            </m:r>
                            <m:d>
                              <m:d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dPr>
                              <m:e>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u</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Nh</m:t>
                                </m:r>
                                <m:r>
                                  <a:rPr lang="en-US" sz="1800">
                                    <a:effectLst/>
                                    <a:latin typeface="Cambria Math" panose="02040503050406030204" pitchFamily="18" charset="0"/>
                                    <a:ea typeface="Times New Roman" panose="02020603050405020304" pitchFamily="18" charset="0"/>
                                    <a:cs typeface="Verdana" panose="020B0604030504040204" pitchFamily="34" charset="0"/>
                                  </a:rPr>
                                  <m:t>ậ</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p</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2</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a:rPr lang="en-US" sz="1800">
                                    <a:effectLst/>
                                    <a:latin typeface="Cambria Math" panose="02040503050406030204" pitchFamily="18" charset="0"/>
                                    <a:ea typeface="Times New Roman" panose="02020603050405020304" pitchFamily="18" charset="0"/>
                                    <a:cs typeface="Verdana" panose="020B0604030504040204" pitchFamily="34" charset="0"/>
                                  </a:rPr>
                                  <m:t>Đ</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i</m:t>
                                </m:r>
                                <m:r>
                                  <a:rPr lang="en-US" sz="1800">
                                    <a:effectLst/>
                                    <a:latin typeface="Cambria Math" panose="02040503050406030204" pitchFamily="18" charset="0"/>
                                    <a:ea typeface="Times New Roman" panose="02020603050405020304" pitchFamily="18" charset="0"/>
                                    <a:cs typeface="Verdana" panose="020B0604030504040204" pitchFamily="34" charset="0"/>
                                  </a:rPr>
                                  <m:t>ể</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m</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T</m:t>
                                </m:r>
                                <m:r>
                                  <a:rPr lang="en-US" sz="1800">
                                    <a:effectLst/>
                                    <a:latin typeface="Cambria Math" panose="02040503050406030204" pitchFamily="18" charset="0"/>
                                    <a:ea typeface="Times New Roman" panose="02020603050405020304" pitchFamily="18" charset="0"/>
                                    <a:cs typeface="Verdana" panose="020B0604030504040204" pitchFamily="34" charset="0"/>
                                  </a:rPr>
                                  <m:t>í</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D</m:t>
                                </m:r>
                                <m:r>
                                  <a:rPr lang="en-US" sz="1800">
                                    <a:effectLst/>
                                    <a:latin typeface="Cambria Math" panose="02040503050406030204" pitchFamily="18" charset="0"/>
                                    <a:ea typeface="Times New Roman" panose="02020603050405020304" pitchFamily="18" charset="0"/>
                                    <a:cs typeface="Verdana" panose="020B0604030504040204" pitchFamily="34" charset="0"/>
                                  </a:rPr>
                                  <m:t>ụ</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ng</m:t>
                                </m:r>
                                <m:r>
                                  <a:rPr lang="en-US" sz="1800" i="1">
                                    <a:effectLst/>
                                    <a:latin typeface="Cambria Math" panose="02040503050406030204" pitchFamily="18" charset="0"/>
                                    <a:ea typeface="Times New Roman" panose="02020603050405020304" pitchFamily="18" charset="0"/>
                                    <a:cs typeface="Verdana" panose="020B0604030504040204" pitchFamily="34" charset="0"/>
                                  </a:rPr>
                                  <m:t> </m:t>
                                </m:r>
                                <m:r>
                                  <a:rPr lang="en-US" sz="1800">
                                    <a:effectLst/>
                                    <a:latin typeface="Cambria Math" panose="02040503050406030204" pitchFamily="18" charset="0"/>
                                    <a:ea typeface="Times New Roman" panose="02020603050405020304" pitchFamily="18" charset="0"/>
                                    <a:cs typeface="Verdana" panose="020B0604030504040204" pitchFamily="34" charset="0"/>
                                  </a:rPr>
                                  <m:t>+</m:t>
                                </m:r>
                                <m:sSub>
                                  <m:sSubPr>
                                    <m:ctrlPr>
                                      <a:rPr lang="en-US" sz="1800" i="1">
                                        <a:effectLst/>
                                        <a:latin typeface="Cambria Math" panose="02040503050406030204" pitchFamily="18" charset="0"/>
                                        <a:ea typeface="Times New Roman" panose="02020603050405020304" pitchFamily="18" charset="0"/>
                                        <a:cs typeface="Verdana" panose="020B0604030504040204" pitchFamily="34" charset="0"/>
                                      </a:rPr>
                                    </m:ctrlPr>
                                  </m:sSubPr>
                                  <m:e>
                                    <m:r>
                                      <a:rPr lang="en-US" sz="1800" i="1">
                                        <a:effectLst/>
                                        <a:latin typeface="Cambria Math" panose="02040503050406030204" pitchFamily="18" charset="0"/>
                                        <a:ea typeface="Times New Roman" panose="02020603050405020304" pitchFamily="18" charset="0"/>
                                        <a:cs typeface="Verdana" panose="020B0604030504040204" pitchFamily="34" charset="0"/>
                                      </a:rPr>
                                      <m:t>𝛽</m:t>
                                    </m:r>
                                  </m:e>
                                  <m:sub>
                                    <m:r>
                                      <a:rPr lang="en-US" sz="1800">
                                        <a:effectLst/>
                                        <a:latin typeface="Cambria Math" panose="02040503050406030204" pitchFamily="18" charset="0"/>
                                        <a:ea typeface="Times New Roman" panose="02020603050405020304" pitchFamily="18" charset="0"/>
                                        <a:cs typeface="Verdana" panose="020B0604030504040204" pitchFamily="34" charset="0"/>
                                      </a:rPr>
                                      <m:t>3</m:t>
                                    </m:r>
                                  </m:sub>
                                </m:sSub>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S</m:t>
                                </m:r>
                                <m:r>
                                  <a:rPr lang="en-US" sz="1800">
                                    <a:effectLst/>
                                    <a:latin typeface="Cambria Math" panose="02040503050406030204" pitchFamily="18" charset="0"/>
                                    <a:ea typeface="Times New Roman" panose="02020603050405020304" pitchFamily="18" charset="0"/>
                                    <a:cs typeface="Verdana" panose="020B0604030504040204" pitchFamily="34" charset="0"/>
                                  </a:rPr>
                                  <m:t>ố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N</m:t>
                                </m:r>
                                <m:r>
                                  <a:rPr lang="en-US" sz="1800">
                                    <a:effectLst/>
                                    <a:latin typeface="Cambria Math" panose="02040503050406030204" pitchFamily="18" charset="0"/>
                                    <a:ea typeface="Times New Roman" panose="02020603050405020304" pitchFamily="18" charset="0"/>
                                    <a:cs typeface="Verdana" panose="020B0604030504040204" pitchFamily="34" charset="0"/>
                                  </a:rPr>
                                  <m:t>ă</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m</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L</m:t>
                                </m:r>
                                <m:r>
                                  <a:rPr lang="en-US" sz="1800">
                                    <a:effectLst/>
                                    <a:latin typeface="Cambria Math" panose="02040503050406030204" pitchFamily="18" charset="0"/>
                                    <a:ea typeface="Times New Roman" panose="02020603050405020304" pitchFamily="18" charset="0"/>
                                    <a:cs typeface="Verdana" panose="020B0604030504040204" pitchFamily="34" charset="0"/>
                                  </a:rPr>
                                  <m:t>à</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m</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Vi</m:t>
                                </m:r>
                                <m:r>
                                  <a:rPr lang="en-US" sz="1800">
                                    <a:effectLst/>
                                    <a:latin typeface="Cambria Math" panose="02040503050406030204" pitchFamily="18" charset="0"/>
                                    <a:ea typeface="Times New Roman" panose="02020603050405020304" pitchFamily="18" charset="0"/>
                                    <a:cs typeface="Verdana" panose="020B0604030504040204" pitchFamily="34" charset="0"/>
                                  </a:rPr>
                                  <m:t>ệ</m:t>
                                </m:r>
                                <m:r>
                                  <m:rPr>
                                    <m:sty m:val="p"/>
                                  </m:rPr>
                                  <a:rPr lang="en-US" sz="1800">
                                    <a:effectLst/>
                                    <a:latin typeface="Cambria Math" panose="02040503050406030204" pitchFamily="18" charset="0"/>
                                    <a:ea typeface="Times New Roman" panose="02020603050405020304" pitchFamily="18" charset="0"/>
                                    <a:cs typeface="Verdana" panose="020B0604030504040204" pitchFamily="34" charset="0"/>
                                  </a:rPr>
                                  <m:t>c</m:t>
                                </m:r>
                                <m:r>
                                  <a:rPr lang="en-US" sz="1800">
                                    <a:effectLst/>
                                    <a:latin typeface="Cambria Math" panose="02040503050406030204" pitchFamily="18" charset="0"/>
                                    <a:ea typeface="Times New Roman" panose="02020603050405020304" pitchFamily="18" charset="0"/>
                                    <a:cs typeface="Verdana" panose="020B0604030504040204" pitchFamily="34" charset="0"/>
                                  </a:rPr>
                                  <m:t> </m:t>
                                </m:r>
                              </m:e>
                            </m:d>
                          </m:sup>
                        </m:sSup>
                      </m:den>
                    </m:f>
                  </m:oMath>
                </a14:m>
                <a:endParaRPr lang="en-US" sz="1800">
                  <a:effectLst/>
                  <a:latin typeface="Verdana" panose="020B0604030504040204" pitchFamily="34" charset="0"/>
                  <a:ea typeface="Times New Roman" panose="02020603050405020304" pitchFamily="18" charset="0"/>
                  <a:cs typeface="Verdana" panose="020B0604030504040204" pitchFamily="34" charset="0"/>
                </a:endParaRPr>
              </a:p>
            </p:txBody>
          </p:sp>
        </mc:Choice>
        <mc:Fallback xmlns="">
          <p:sp>
            <p:nvSpPr>
              <p:cNvPr id="3" name="Content Placeholder 2">
                <a:extLst>
                  <a:ext uri="{FF2B5EF4-FFF2-40B4-BE49-F238E27FC236}">
                    <a16:creationId xmlns:a16="http://schemas.microsoft.com/office/drawing/2014/main" id="{139EADDC-7A19-EB3C-E5CB-6E3D8160065F}"/>
                  </a:ext>
                </a:extLst>
              </p:cNvPr>
              <p:cNvSpPr>
                <a:spLocks noGrp="1" noRot="1" noChangeAspect="1" noMove="1" noResize="1" noEditPoints="1" noAdjustHandles="1" noChangeArrowheads="1" noChangeShapeType="1" noTextEdit="1"/>
              </p:cNvSpPr>
              <p:nvPr>
                <p:ph idx="1"/>
              </p:nvPr>
            </p:nvSpPr>
            <p:spPr>
              <a:blipFill>
                <a:blip r:embed="rId2"/>
                <a:stretch>
                  <a:fillRect l="-1858" r="-18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CD82A0A-7C8B-0DF3-1887-7E6A2349ECE5}"/>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42504025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B8B6-78E4-E43E-CC23-7CF9A370D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E19FC-43BD-70DC-CF71-5463FB175A58}"/>
              </a:ext>
            </a:extLst>
          </p:cNvPr>
          <p:cNvSpPr>
            <a:spLocks noGrp="1"/>
          </p:cNvSpPr>
          <p:nvPr>
            <p:ph type="title"/>
          </p:nvPr>
        </p:nvSpPr>
        <p:spPr/>
        <p:txBody>
          <a:bodyPr/>
          <a:lstStyle/>
          <a:p>
            <a:r>
              <a:rPr lang="en-US"/>
              <a:t>Ví dụ</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1C7B14-4961-736A-CC3E-D5086AE75731}"/>
                  </a:ext>
                </a:extLst>
              </p:cNvPr>
              <p:cNvSpPr>
                <a:spLocks noGrp="1"/>
              </p:cNvSpPr>
              <p:nvPr>
                <p:ph idx="1"/>
              </p:nvPr>
            </p:nvSpPr>
            <p:spPr/>
            <p:txBody>
              <a:bodyPr>
                <a:normAutofit lnSpcReduction="10000"/>
              </a:bodyPr>
              <a:lstStyle/>
              <a:p>
                <a:pPr marL="342900" marR="0" lvl="0" indent="-342900" algn="just">
                  <a:lnSpc>
                    <a:spcPct val="150000"/>
                  </a:lnSpc>
                  <a:spcBef>
                    <a:spcPts val="600"/>
                  </a:spcBef>
                  <a:spcAft>
                    <a:spcPts val="600"/>
                  </a:spcAft>
                  <a:buFont typeface="Symbol" panose="05050102010706020507" pitchFamily="18" charset="2"/>
                  <a:buChar char="-"/>
                </a:pPr>
                <a:r>
                  <a:rPr lang="en-US" sz="1800" i="1">
                    <a:effectLst/>
                    <a:latin typeface="Verdana" panose="020B0604030504040204" pitchFamily="34" charset="0"/>
                    <a:ea typeface="Times New Roman" panose="02020603050405020304" pitchFamily="18" charset="0"/>
                    <a:cs typeface="Verdana" panose="020B0604030504040204" pitchFamily="34" charset="0"/>
                  </a:rPr>
                  <a:t>Ước lượng và dự đoán</a:t>
                </a:r>
                <a:r>
                  <a:rPr lang="en-US" sz="1800" i="1">
                    <a:effectLst/>
                    <a:latin typeface="Cambria Math" panose="02040503050406030204" pitchFamily="18" charset="0"/>
                    <a:ea typeface="Times New Roman" panose="02020603050405020304" pitchFamily="18" charset="0"/>
                    <a:cs typeface="Cambria Math" panose="02040503050406030204" pitchFamily="18" charset="0"/>
                  </a:rPr>
                  <a:t>:</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Times New Roman" panose="02020603050405020304" pitchFamily="18" charset="0"/>
                    <a:cs typeface="Verdana" panose="020B0604030504040204" pitchFamily="34" charset="0"/>
                  </a:rPr>
                  <a:t>Ước lượng hệ số </a:t>
                </a:r>
                <a14:m>
                  <m:oMath xmlns:m="http://schemas.openxmlformats.org/officeDocument/2006/math">
                    <m:r>
                      <a:rPr lang="en-US" i="1">
                        <a:effectLst/>
                        <a:latin typeface="Cambria Math" panose="02040503050406030204" pitchFamily="18" charset="0"/>
                        <a:ea typeface="Times New Roman" panose="02020603050405020304" pitchFamily="18" charset="0"/>
                        <a:cs typeface="Verdana" panose="020B0604030504040204" pitchFamily="34" charset="0"/>
                      </a:rPr>
                      <m:t>𝛽</m:t>
                    </m:r>
                  </m:oMath>
                </a14:m>
                <a:r>
                  <a:rPr lang="en-US">
                    <a:effectLst/>
                    <a:latin typeface="Verdana" panose="020B0604030504040204" pitchFamily="34" charset="0"/>
                    <a:ea typeface="Times New Roman" panose="02020603050405020304" pitchFamily="18" charset="0"/>
                    <a:cs typeface="Verdana" panose="020B0604030504040204" pitchFamily="34" charset="0"/>
                  </a:rPr>
                  <a:t> thông qua quá trình huấn luyện mô hình.</a:t>
                </a: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Times New Roman" panose="02020603050405020304" pitchFamily="18" charset="0"/>
                    <a:cs typeface="Verdana" panose="020B0604030504040204" pitchFamily="34" charset="0"/>
                  </a:rPr>
                  <a:t>Dùng mô hình để dự đoán xác suất vay vốn thành công cho khách hàng mới dựa trên các đặc trưng của họ.</a:t>
                </a:r>
              </a:p>
              <a:p>
                <a:pPr marL="342900" marR="0" lvl="0" indent="-342900" algn="just">
                  <a:lnSpc>
                    <a:spcPct val="150000"/>
                  </a:lnSpc>
                  <a:spcBef>
                    <a:spcPts val="600"/>
                  </a:spcBef>
                  <a:spcAft>
                    <a:spcPts val="600"/>
                  </a:spcAft>
                  <a:buFont typeface="Symbol" panose="05050102010706020507" pitchFamily="18" charset="2"/>
                  <a:buChar char="-"/>
                </a:pPr>
                <a:r>
                  <a:rPr lang="en-US" sz="1800" i="1">
                    <a:effectLst/>
                    <a:latin typeface="Verdana" panose="020B0604030504040204" pitchFamily="34" charset="0"/>
                    <a:ea typeface="Times New Roman" panose="02020603050405020304" pitchFamily="18" charset="0"/>
                    <a:cs typeface="Verdana" panose="020B0604030504040204" pitchFamily="34" charset="0"/>
                  </a:rPr>
                  <a:t>Phân loại: </a:t>
                </a:r>
                <a:r>
                  <a:rPr lang="en-US" sz="1800">
                    <a:effectLst/>
                    <a:latin typeface="Verdana" panose="020B0604030504040204" pitchFamily="34" charset="0"/>
                    <a:ea typeface="Times New Roman" panose="02020603050405020304" pitchFamily="18" charset="0"/>
                    <a:cs typeface="Verdana" panose="020B0604030504040204" pitchFamily="34" charset="0"/>
                  </a:rPr>
                  <a:t>Đặt một ngưỡng xác suất, ví dụ 0.5. Nếu mô hình dự đoán xác suất vay thành công lớn hơn 0.5, phân loại khách hàng vào lớp "Vay thành công"; ngược lại, phân loại vào lớp “Vay thất bại”.</a:t>
                </a:r>
              </a:p>
            </p:txBody>
          </p:sp>
        </mc:Choice>
        <mc:Fallback xmlns="">
          <p:sp>
            <p:nvSpPr>
              <p:cNvPr id="3" name="Content Placeholder 2">
                <a:extLst>
                  <a:ext uri="{FF2B5EF4-FFF2-40B4-BE49-F238E27FC236}">
                    <a16:creationId xmlns:a16="http://schemas.microsoft.com/office/drawing/2014/main" id="{C41C7B14-4961-736A-CC3E-D5086AE75731}"/>
                  </a:ext>
                </a:extLst>
              </p:cNvPr>
              <p:cNvSpPr>
                <a:spLocks noGrp="1" noRot="1" noChangeAspect="1" noMove="1" noResize="1" noEditPoints="1" noAdjustHandles="1" noChangeArrowheads="1" noChangeShapeType="1" noTextEdit="1"/>
              </p:cNvSpPr>
              <p:nvPr>
                <p:ph idx="1"/>
              </p:nvPr>
            </p:nvSpPr>
            <p:spPr>
              <a:blipFill>
                <a:blip r:embed="rId2"/>
                <a:stretch>
                  <a:fillRect l="-1858" r="-1858" b="-75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BDCA25A-00FF-48EE-DAAE-CC3307B22F8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493955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662384-71B2-EFBC-0475-9E7D93DE4F6E}"/>
              </a:ext>
            </a:extLst>
          </p:cNvPr>
          <p:cNvPicPr>
            <a:picLocks noChangeAspect="1"/>
          </p:cNvPicPr>
          <p:nvPr/>
        </p:nvPicPr>
        <p:blipFill>
          <a:blip r:embed="rId2"/>
          <a:stretch>
            <a:fillRect/>
          </a:stretch>
        </p:blipFill>
        <p:spPr>
          <a:xfrm>
            <a:off x="228600" y="2286000"/>
            <a:ext cx="8162972" cy="2590800"/>
          </a:xfrm>
          <a:prstGeom prst="rect">
            <a:avLst/>
          </a:prstGeom>
        </p:spPr>
      </p:pic>
    </p:spTree>
    <p:extLst>
      <p:ext uri="{BB962C8B-B14F-4D97-AF65-F5344CB8AC3E}">
        <p14:creationId xmlns:p14="http://schemas.microsoft.com/office/powerpoint/2010/main" val="3135433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4F66-2F3C-6748-D613-07AC4C376B51}"/>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3AE31CCC-1FD9-AC24-ECB3-0CAA9F3EF5BE}"/>
              </a:ext>
            </a:extLst>
          </p:cNvPr>
          <p:cNvSpPr>
            <a:spLocks noGrp="1"/>
          </p:cNvSpPr>
          <p:nvPr>
            <p:ph idx="1"/>
          </p:nvPr>
        </p:nvSpPr>
        <p:spPr/>
        <p:txBody>
          <a:bodyPr/>
          <a:lstStyle/>
          <a:p>
            <a:pPr algn="just">
              <a:lnSpc>
                <a:spcPct val="150000"/>
              </a:lnSpc>
            </a:pPr>
            <a:r>
              <a:rPr lang="en-US" sz="1800" b="1">
                <a:effectLst/>
                <a:latin typeface="Verdana" panose="020B0604030504040204" pitchFamily="34" charset="0"/>
                <a:ea typeface="Verdana" panose="020B0604030504040204" pitchFamily="34" charset="0"/>
                <a:cs typeface="Verdana" panose="020B0604030504040204" pitchFamily="34" charset="0"/>
              </a:rPr>
              <a:t>Ưu điểm:</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Hồi quy logistic mang lại nhiều ưu điểm, làm cho nó trở thành một công cụ phân tích dữ liệu mạnh mẽ, đặc biệt khi xử lý với dữ liệu phân lớp</a:t>
            </a:r>
          </a:p>
        </p:txBody>
      </p:sp>
      <p:sp>
        <p:nvSpPr>
          <p:cNvPr id="4" name="Footer Placeholder 3">
            <a:extLst>
              <a:ext uri="{FF2B5EF4-FFF2-40B4-BE49-F238E27FC236}">
                <a16:creationId xmlns:a16="http://schemas.microsoft.com/office/drawing/2014/main" id="{348EE388-A6CE-56B7-F993-3F1B1E8DCEF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2075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E04F-EB5D-0E89-3A13-8A5B496723E4}"/>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0F51E2DF-9269-3EEB-C7D7-B843EDA19D3F}"/>
              </a:ext>
            </a:extLst>
          </p:cNvPr>
          <p:cNvSpPr>
            <a:spLocks noGrp="1"/>
          </p:cNvSpPr>
          <p:nvPr>
            <p:ph idx="1"/>
          </p:nvPr>
        </p:nvSpPr>
        <p:spPr/>
        <p:txBody>
          <a:bodyPr>
            <a:normAutofit lnSpcReduction="1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Phù hợp với biến phụ thuộc nhị phân hoặc danh mục:</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Hiệu quả trong việc mô hình hóa dữ liệu có biến phụ thuộc là nhị phân hoặc danh mục.</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Xác suất trong dự đoán:</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Cung cấp kết quả dưới dạng xác suất, giúp hiểu rõ hơn về khả năng xảy ra của một sự kiện.</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Khả năng xử lý biến độc lập không tuyến tính:</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Có khả năng xử lý mối quan hệ phi tuyến giữa các biến độc lập và biến phụ thuộc.</a:t>
            </a:r>
          </a:p>
          <a:p>
            <a:endParaRPr lang="en-US"/>
          </a:p>
        </p:txBody>
      </p:sp>
      <p:sp>
        <p:nvSpPr>
          <p:cNvPr id="4" name="Footer Placeholder 3">
            <a:extLst>
              <a:ext uri="{FF2B5EF4-FFF2-40B4-BE49-F238E27FC236}">
                <a16:creationId xmlns:a16="http://schemas.microsoft.com/office/drawing/2014/main" id="{9D4CAF15-2026-7E18-88ED-7AB3BCA50D0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5235417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265A5-E7D6-3103-B818-0F6C98F44919}"/>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041D6985-D715-F060-2585-6CCEF170F64E}"/>
              </a:ext>
            </a:extLst>
          </p:cNvPr>
          <p:cNvSpPr>
            <a:spLocks noGrp="1"/>
          </p:cNvSpPr>
          <p:nvPr>
            <p:ph idx="1"/>
          </p:nvPr>
        </p:nvSpPr>
        <p:spPr/>
        <p:txBody>
          <a:bodyPr>
            <a:normAutofit fontScale="92500" lnSpcReduction="20000"/>
          </a:bodyPr>
          <a:lstStyle/>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Không yêu cầu phân phối chuẩn của biến độc lập</a:t>
            </a:r>
            <a:r>
              <a:rPr lang="en-US" sz="1800" i="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Không cần biến độc lập tuân theo phân phối chuẩn.</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Đánh giá mức độ ảnh hưởng của biến độc lập: </a:t>
            </a:r>
            <a:r>
              <a:rPr lang="en-US" sz="1800">
                <a:effectLst/>
                <a:latin typeface="Verdana" panose="020B0604030504040204" pitchFamily="34" charset="0"/>
                <a:ea typeface="Times New Roman" panose="02020603050405020304" pitchFamily="18" charset="0"/>
                <a:cs typeface="Verdana" panose="020B0604030504040204" pitchFamily="34" charset="0"/>
              </a:rPr>
              <a:t>Cho phép đánh giá mức độ ảnh hưởng của từng biến độc lập đối với xác suất của sự kiện.</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Chống nhiễu và đa cộng tuyến:</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Kháng nhiễu tốt và ít bị ảnh hưởng bởi đa cộng tuyến so với hồi quy tuyến tính.</a:t>
            </a:r>
          </a:p>
          <a:p>
            <a:pPr marL="742950" marR="0" lvl="1" indent="-285750" algn="just">
              <a:lnSpc>
                <a:spcPct val="150000"/>
              </a:lnSpc>
              <a:spcBef>
                <a:spcPts val="600"/>
              </a:spcBef>
              <a:spcAft>
                <a:spcPts val="600"/>
              </a:spcAft>
              <a:buFont typeface="Symbol" panose="05050102010706020507" pitchFamily="18" charset="2"/>
              <a:buChar char=""/>
            </a:pPr>
            <a:r>
              <a:rPr lang="en-US" sz="1800" b="1" i="1">
                <a:effectLst/>
                <a:latin typeface="Verdana" panose="020B0604030504040204" pitchFamily="34" charset="0"/>
                <a:ea typeface="Times New Roman" panose="02020603050405020304" pitchFamily="18" charset="0"/>
                <a:cs typeface="Verdana" panose="020B0604030504040204" pitchFamily="34" charset="0"/>
              </a:rPr>
              <a:t>Linh hoạt và dễ sử dụng:</a:t>
            </a:r>
            <a:r>
              <a:rPr lang="en-US" sz="1800" b="1">
                <a:effectLst/>
                <a:latin typeface="Verdana" panose="020B0604030504040204" pitchFamily="34" charset="0"/>
                <a:ea typeface="Times New Roman" panose="02020603050405020304" pitchFamily="18" charset="0"/>
                <a:cs typeface="Verdana" panose="020B0604030504040204" pitchFamily="34" charset="0"/>
              </a:rPr>
              <a:t> </a:t>
            </a:r>
            <a:r>
              <a:rPr lang="en-US" sz="1800">
                <a:effectLst/>
                <a:latin typeface="Verdana" panose="020B0604030504040204" pitchFamily="34" charset="0"/>
                <a:ea typeface="Times New Roman" panose="02020603050405020304" pitchFamily="18" charset="0"/>
                <a:cs typeface="Verdana" panose="020B0604030504040204" pitchFamily="34" charset="0"/>
              </a:rPr>
              <a:t>Có nhiều cách để mở rộng và điều chỉnh mô hình, dễ dàng sử dụng trong nhiều ngữ cảnh khác nhau.</a:t>
            </a:r>
          </a:p>
          <a:p>
            <a:endParaRPr lang="en-US"/>
          </a:p>
        </p:txBody>
      </p:sp>
      <p:sp>
        <p:nvSpPr>
          <p:cNvPr id="4" name="Footer Placeholder 3">
            <a:extLst>
              <a:ext uri="{FF2B5EF4-FFF2-40B4-BE49-F238E27FC236}">
                <a16:creationId xmlns:a16="http://schemas.microsoft.com/office/drawing/2014/main" id="{091B7FB4-B5B6-AF15-350F-B8052B11699E}"/>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1532507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40BC4-1802-D8C8-93E7-EDB09801AAC0}"/>
              </a:ext>
            </a:extLst>
          </p:cNvPr>
          <p:cNvSpPr>
            <a:spLocks noGrp="1"/>
          </p:cNvSpPr>
          <p:nvPr>
            <p:ph type="title"/>
          </p:nvPr>
        </p:nvSpPr>
        <p:spPr/>
        <p:txBody>
          <a:bodyPr/>
          <a:lstStyle/>
          <a:p>
            <a:r>
              <a:rPr lang="vi-VN"/>
              <a:t>Đánh giá ưu điểm và hạn chế của mô hình</a:t>
            </a:r>
            <a:endParaRPr lang="en-US"/>
          </a:p>
        </p:txBody>
      </p:sp>
      <p:sp>
        <p:nvSpPr>
          <p:cNvPr id="3" name="Content Placeholder 2">
            <a:extLst>
              <a:ext uri="{FF2B5EF4-FFF2-40B4-BE49-F238E27FC236}">
                <a16:creationId xmlns:a16="http://schemas.microsoft.com/office/drawing/2014/main" id="{0D24C444-C973-EEDB-38A4-FB5CEEEC922F}"/>
              </a:ext>
            </a:extLst>
          </p:cNvPr>
          <p:cNvSpPr>
            <a:spLocks noGrp="1"/>
          </p:cNvSpPr>
          <p:nvPr>
            <p:ph idx="1"/>
          </p:nvPr>
        </p:nvSpPr>
        <p:spPr/>
        <p:txBody>
          <a:bodyPr>
            <a:normAutofit fontScale="92500" lnSpcReduction="20000"/>
          </a:bodyPr>
          <a:lstStyle/>
          <a:p>
            <a:pPr marL="0" marR="0" lvl="0" indent="0" algn="just">
              <a:lnSpc>
                <a:spcPct val="150000"/>
              </a:lnSpc>
              <a:spcBef>
                <a:spcPts val="600"/>
              </a:spcBef>
              <a:spcAft>
                <a:spcPts val="600"/>
              </a:spcAft>
              <a:buNone/>
            </a:pPr>
            <a:r>
              <a:rPr lang="en-US" sz="1800" b="1">
                <a:effectLst/>
                <a:latin typeface="Verdana" panose="020B0604030504040204" pitchFamily="34" charset="0"/>
                <a:ea typeface="Verdana" panose="020B0604030504040204" pitchFamily="34" charset="0"/>
                <a:cs typeface="Verdana" panose="020B0604030504040204" pitchFamily="34" charset="0"/>
              </a:rPr>
              <a:t>Hạn chế: </a:t>
            </a:r>
            <a:r>
              <a:rPr lang="en-US" sz="1800">
                <a:effectLst/>
                <a:latin typeface="Verdana" panose="020B0604030504040204" pitchFamily="34" charset="0"/>
                <a:ea typeface="Verdana" panose="020B0604030504040204" pitchFamily="34" charset="0"/>
                <a:cs typeface="Verdana" panose="020B0604030504040204" pitchFamily="34" charset="0"/>
              </a:rPr>
              <a:t>Hồi quy logistic, mặc dù là một công cụ phân tích mạnh mẽ, nhưng cũng tồn tại một số hạn chế cần được xem xét trong quá trình áp dụng:</a:t>
            </a:r>
            <a:endParaRPr lang="en-US" sz="1800">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Verdana" panose="020B0604030504040204" pitchFamily="34" charset="0"/>
                <a:cs typeface="Verdana" panose="020B0604030504040204" pitchFamily="34" charset="0"/>
              </a:rPr>
              <a:t>Không thích hợp với biến phụ thuộc liên tục.</a:t>
            </a:r>
            <a:endParaRPr lang="en-US">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Verdana" panose="020B0604030504040204" pitchFamily="34" charset="0"/>
                <a:cs typeface="Verdana" panose="020B0604030504040204" pitchFamily="34" charset="0"/>
              </a:rPr>
              <a:t>Khó khăn trong việc mô hình hóa mối quan hệ phức tạp hoặc không tuyến tính mà không cần biến đổi dữ liệu.</a:t>
            </a:r>
            <a:endParaRPr lang="en-US">
              <a:effectLst/>
              <a:latin typeface="Verdana" panose="020B0604030504040204" pitchFamily="34" charset="0"/>
              <a:ea typeface="Times New Roman" panose="02020603050405020304" pitchFamily="18" charset="0"/>
              <a:cs typeface="Verdana" panose="020B0604030504040204" pitchFamily="34" charset="0"/>
            </a:endParaRPr>
          </a:p>
          <a:p>
            <a:pPr marL="742950" marR="0" lvl="1" indent="-285750" algn="just">
              <a:lnSpc>
                <a:spcPct val="150000"/>
              </a:lnSpc>
              <a:spcBef>
                <a:spcPts val="600"/>
              </a:spcBef>
              <a:spcAft>
                <a:spcPts val="600"/>
              </a:spcAft>
              <a:buFont typeface="Symbol" panose="05050102010706020507" pitchFamily="18" charset="2"/>
              <a:buChar char=""/>
            </a:pPr>
            <a:r>
              <a:rPr lang="en-US">
                <a:effectLst/>
                <a:latin typeface="Verdana" panose="020B0604030504040204" pitchFamily="34" charset="0"/>
                <a:ea typeface="Verdana" panose="020B0604030504040204" pitchFamily="34" charset="0"/>
                <a:cs typeface="Verdana" panose="020B0604030504040204" pitchFamily="34" charset="0"/>
              </a:rPr>
              <a:t>Không hiệu quả khi xử lý dữ liệu có nhiều biến độc lập hoặc có sự tương quan cao giữa các biến.</a:t>
            </a:r>
            <a:endParaRPr lang="en-US">
              <a:effectLst/>
              <a:latin typeface="Verdana" panose="020B0604030504040204" pitchFamily="34" charset="0"/>
              <a:ea typeface="Times New Roman" panose="02020603050405020304" pitchFamily="18" charset="0"/>
              <a:cs typeface="Verdana" panose="020B0604030504040204" pitchFamily="34" charset="0"/>
            </a:endParaRPr>
          </a:p>
          <a:p>
            <a:r>
              <a:rPr lang="en-US" sz="1800">
                <a:effectLst/>
                <a:latin typeface="Verdana" panose="020B0604030504040204" pitchFamily="34" charset="0"/>
                <a:ea typeface="Verdana" panose="020B0604030504040204" pitchFamily="34" charset="0"/>
                <a:cs typeface="Verdana" panose="020B0604030504040204" pitchFamily="34" charset="0"/>
              </a:rPr>
              <a:t>Có thể không phát huy hiệu quả trong tập dữ liệu nhỏ hoặc khi có sự mất cân đối lớn giữa các lớp.</a:t>
            </a:r>
            <a:endParaRPr lang="en-US" sz="3600"/>
          </a:p>
        </p:txBody>
      </p:sp>
      <p:sp>
        <p:nvSpPr>
          <p:cNvPr id="4" name="Footer Placeholder 3">
            <a:extLst>
              <a:ext uri="{FF2B5EF4-FFF2-40B4-BE49-F238E27FC236}">
                <a16:creationId xmlns:a16="http://schemas.microsoft.com/office/drawing/2014/main" id="{A5957076-A41E-3499-E672-38E6CFA69E30}"/>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9743932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F5522-F8EA-750E-2A07-98DA417B0CCC}"/>
              </a:ext>
            </a:extLst>
          </p:cNvPr>
          <p:cNvSpPr>
            <a:spLocks noGrp="1"/>
          </p:cNvSpPr>
          <p:nvPr>
            <p:ph type="title"/>
          </p:nvPr>
        </p:nvSpPr>
        <p:spPr/>
        <p:txBody>
          <a:bodyPr/>
          <a:lstStyle/>
          <a:p>
            <a:r>
              <a:rPr lang="en-US" sz="1800" b="1">
                <a:effectLst/>
                <a:latin typeface="Verdana" panose="020B0604030504040204" pitchFamily="34" charset="0"/>
                <a:ea typeface="Calibri" panose="020F0502020204030204" pitchFamily="34" charset="0"/>
                <a:cs typeface="Verdana" panose="020B0604030504040204" pitchFamily="34" charset="0"/>
              </a:rPr>
              <a:t>Quy trình thực hiện của mô hình</a:t>
            </a:r>
            <a:endParaRPr lang="en-US"/>
          </a:p>
        </p:txBody>
      </p:sp>
      <p:sp>
        <p:nvSpPr>
          <p:cNvPr id="3" name="Content Placeholder 2">
            <a:extLst>
              <a:ext uri="{FF2B5EF4-FFF2-40B4-BE49-F238E27FC236}">
                <a16:creationId xmlns:a16="http://schemas.microsoft.com/office/drawing/2014/main" id="{62B31DFD-D904-1F30-3FD8-B92A0272BC9F}"/>
              </a:ext>
            </a:extLst>
          </p:cNvPr>
          <p:cNvSpPr>
            <a:spLocks noGrp="1"/>
          </p:cNvSpPr>
          <p:nvPr>
            <p:ph idx="1"/>
          </p:nvPr>
        </p:nvSpPr>
        <p:spPr/>
        <p:txBody>
          <a:bodyPr>
            <a:normAutofit fontScale="92500" lnSpcReduction="10000"/>
          </a:bodyPr>
          <a:lstStyle/>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Thu thập dữ liệu: </a:t>
            </a:r>
            <a:r>
              <a:rPr lang="en-US" sz="1100">
                <a:effectLst/>
                <a:latin typeface="Verdana" panose="020B0604030504040204" pitchFamily="34" charset="0"/>
                <a:ea typeface="Verdana" panose="020B0604030504040204" pitchFamily="34" charset="0"/>
                <a:cs typeface="Verdana" panose="020B0604030504040204" pitchFamily="34" charset="0"/>
              </a:rPr>
              <a:t>Giống như hồi quy tuyến tính, bắt đầu bằng việc xác định bài toán và thu thập dữ liệu. Đối với hồi quy logistic, biến phụ thuộc phải là nhị phân.</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Chuẩn bị dữ liệu: </a:t>
            </a:r>
            <a:r>
              <a:rPr lang="en-US" sz="1100">
                <a:effectLst/>
                <a:latin typeface="Verdana" panose="020B0604030504040204" pitchFamily="34" charset="0"/>
                <a:ea typeface="Verdana" panose="020B0604030504040204" pitchFamily="34" charset="0"/>
                <a:cs typeface="Verdana" panose="020B0604030504040204" pitchFamily="34" charset="0"/>
              </a:rPr>
              <a:t>Giống như hồi quy tuyến tính, làm sạch và chuẩn bị dữ liệu là bước quan trọng bên cạnh việc lựa chọn các biến độc lập và kiểm tra đa cộng tuyến giữa chúng.</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Phân chia dữ liệu: </a:t>
            </a:r>
            <a:r>
              <a:rPr lang="en-US" sz="1100">
                <a:effectLst/>
                <a:latin typeface="Verdana" panose="020B0604030504040204" pitchFamily="34" charset="0"/>
                <a:ea typeface="Verdana" panose="020B0604030504040204" pitchFamily="34" charset="0"/>
                <a:cs typeface="Verdana" panose="020B0604030504040204" pitchFamily="34" charset="0"/>
              </a:rPr>
              <a:t>Chia dữ liệu thành dữ liệu huấn luyện và dữ liệu kiểm thử, tương tự như trong hồi quy tuyến tính.</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Huấn luyện mô hình: </a:t>
            </a:r>
            <a:r>
              <a:rPr lang="en-US" sz="1100">
                <a:effectLst/>
                <a:latin typeface="Verdana" panose="020B0604030504040204" pitchFamily="34" charset="0"/>
                <a:ea typeface="Verdana" panose="020B0604030504040204" pitchFamily="34" charset="0"/>
                <a:cs typeface="Verdana" panose="020B0604030504040204" pitchFamily="34" charset="0"/>
              </a:rPr>
              <a:t>Huấn luyện mô hình hồi quy logistic sử dụng dữ liệu huấn luyện. Ở đây, thay vì tìm đường tuyến tính tốt nhất như hồi quy tuyển tính, mục tiêu là tối ưu hóa hàm logistic để ước lượng xác suất.</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Đánh giá mô hình: </a:t>
            </a:r>
            <a:r>
              <a:rPr lang="en-US" sz="1100">
                <a:effectLst/>
                <a:latin typeface="Verdana" panose="020B0604030504040204" pitchFamily="34" charset="0"/>
                <a:ea typeface="Verdana" panose="020B0604030504040204" pitchFamily="34" charset="0"/>
                <a:cs typeface="Verdana" panose="020B0604030504040204" pitchFamily="34" charset="0"/>
              </a:rPr>
              <a:t>Sử dụng các chỉ số như độ chính xác, AUC-ROC để đánh giá mô hình trên tập kiểm tra, tương tự như cách đánh giá mô hình hồi quy tuyến tính.</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Tinh chỉnh mô hình: </a:t>
            </a:r>
            <a:r>
              <a:rPr lang="en-US" sz="1100">
                <a:effectLst/>
                <a:latin typeface="Verdana" panose="020B0604030504040204" pitchFamily="34" charset="0"/>
                <a:ea typeface="Verdana" panose="020B0604030504040204" pitchFamily="34" charset="0"/>
                <a:cs typeface="Verdana" panose="020B0604030504040204" pitchFamily="34" charset="0"/>
              </a:rPr>
              <a:t>Tinh chỉnh mô hình dựa trên kết quả đánh giá, có thể bao gồm việc thay đổi ngưỡng phân lớp hoặc thử nghiệm với các biến độc lập khác nhau.</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a:p>
            <a:pPr marL="342900" marR="0" lvl="0" indent="-342900" algn="just">
              <a:lnSpc>
                <a:spcPct val="150000"/>
              </a:lnSpc>
              <a:spcBef>
                <a:spcPts val="600"/>
              </a:spcBef>
              <a:spcAft>
                <a:spcPts val="600"/>
              </a:spcAft>
              <a:buFont typeface="Symbol" panose="05050102010706020507" pitchFamily="18" charset="2"/>
              <a:buChar char="-"/>
            </a:pPr>
            <a:r>
              <a:rPr lang="en-US" sz="1100" b="1">
                <a:effectLst/>
                <a:latin typeface="Verdana" panose="020B0604030504040204" pitchFamily="34" charset="0"/>
                <a:ea typeface="Verdana" panose="020B0604030504040204" pitchFamily="34" charset="0"/>
                <a:cs typeface="Verdana" panose="020B0604030504040204" pitchFamily="34" charset="0"/>
              </a:rPr>
              <a:t>Sử dụng hô hình: </a:t>
            </a:r>
            <a:r>
              <a:rPr lang="en-US" sz="1100">
                <a:effectLst/>
                <a:latin typeface="Verdana" panose="020B0604030504040204" pitchFamily="34" charset="0"/>
                <a:ea typeface="Verdana" panose="020B0604030504040204" pitchFamily="34" charset="0"/>
                <a:cs typeface="Verdana" panose="020B0604030504040204" pitchFamily="34" charset="0"/>
              </a:rPr>
              <a:t>Diễn giải kết quả và áp dụng mô hình vào tình huống thực tế, giống như trong hồi quy tuyến tính.</a:t>
            </a:r>
            <a:endParaRPr lang="en-US" sz="1100">
              <a:effectLst/>
              <a:latin typeface="Verdana" panose="020B0604030504040204" pitchFamily="34" charset="0"/>
              <a:ea typeface="Times New Roman" panose="02020603050405020304" pitchFamily="18" charset="0"/>
              <a:cs typeface="Verdana" panose="020B0604030504040204" pitchFamily="34" charset="0"/>
            </a:endParaRPr>
          </a:p>
        </p:txBody>
      </p:sp>
      <p:sp>
        <p:nvSpPr>
          <p:cNvPr id="4" name="Footer Placeholder 3">
            <a:extLst>
              <a:ext uri="{FF2B5EF4-FFF2-40B4-BE49-F238E27FC236}">
                <a16:creationId xmlns:a16="http://schemas.microsoft.com/office/drawing/2014/main" id="{BF7FB2AB-E0B8-2FF5-808D-BC7B2376CE91}"/>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6298979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4BC19-E20B-354F-AFC1-89C4C4612FF0}"/>
              </a:ext>
            </a:extLst>
          </p:cNvPr>
          <p:cNvSpPr>
            <a:spLocks noGrp="1"/>
          </p:cNvSpPr>
          <p:nvPr>
            <p:ph type="title"/>
          </p:nvPr>
        </p:nvSpPr>
        <p:spPr/>
        <p:txBody>
          <a:bodyPr/>
          <a:lstStyle/>
          <a:p>
            <a:r>
              <a:rPr lang="en-US"/>
              <a:t>Projects</a:t>
            </a:r>
          </a:p>
        </p:txBody>
      </p:sp>
      <p:sp>
        <p:nvSpPr>
          <p:cNvPr id="4" name="Footer Placeholder 3">
            <a:extLst>
              <a:ext uri="{FF2B5EF4-FFF2-40B4-BE49-F238E27FC236}">
                <a16:creationId xmlns:a16="http://schemas.microsoft.com/office/drawing/2014/main" id="{F9902561-E267-04BA-A6FB-24392C3DF4F0}"/>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6D0FEA10-C2DE-D2D0-03D0-9C0843619F21}"/>
              </a:ext>
            </a:extLst>
          </p:cNvPr>
          <p:cNvPicPr>
            <a:picLocks noChangeAspect="1"/>
          </p:cNvPicPr>
          <p:nvPr/>
        </p:nvPicPr>
        <p:blipFill>
          <a:blip r:embed="rId2"/>
          <a:stretch>
            <a:fillRect/>
          </a:stretch>
        </p:blipFill>
        <p:spPr>
          <a:xfrm>
            <a:off x="876300" y="1828800"/>
            <a:ext cx="6458222" cy="4343400"/>
          </a:xfrm>
          <a:prstGeom prst="rect">
            <a:avLst/>
          </a:prstGeom>
        </p:spPr>
      </p:pic>
      <p:sp>
        <p:nvSpPr>
          <p:cNvPr id="8" name="TextBox 7">
            <a:extLst>
              <a:ext uri="{FF2B5EF4-FFF2-40B4-BE49-F238E27FC236}">
                <a16:creationId xmlns:a16="http://schemas.microsoft.com/office/drawing/2014/main" id="{09C7ABF5-BC23-CBDC-6A4B-5FA5A5E08EEC}"/>
              </a:ext>
            </a:extLst>
          </p:cNvPr>
          <p:cNvSpPr txBox="1"/>
          <p:nvPr/>
        </p:nvSpPr>
        <p:spPr>
          <a:xfrm>
            <a:off x="3276600" y="1176038"/>
            <a:ext cx="4572000" cy="369332"/>
          </a:xfrm>
          <a:prstGeom prst="rect">
            <a:avLst/>
          </a:prstGeom>
          <a:noFill/>
        </p:spPr>
        <p:txBody>
          <a:bodyPr wrap="square">
            <a:spAutoFit/>
          </a:bodyPr>
          <a:lstStyle/>
          <a:p>
            <a:r>
              <a:rPr lang="en-US">
                <a:hlinkClick r:id="rId3"/>
              </a:rPr>
              <a:t>Search | Kaggle</a:t>
            </a:r>
            <a:endParaRPr lang="en-US"/>
          </a:p>
        </p:txBody>
      </p:sp>
    </p:spTree>
    <p:extLst>
      <p:ext uri="{BB962C8B-B14F-4D97-AF65-F5344CB8AC3E}">
        <p14:creationId xmlns:p14="http://schemas.microsoft.com/office/powerpoint/2010/main" val="19700708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CD9E-1E04-1163-6F30-ED7379DA8811}"/>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DF6CB924-51AF-61B6-B0ED-CE70017FB05B}"/>
              </a:ext>
            </a:extLst>
          </p:cNvPr>
          <p:cNvSpPr>
            <a:spLocks noGrp="1"/>
          </p:cNvSpPr>
          <p:nvPr>
            <p:ph idx="1"/>
          </p:nvPr>
        </p:nvSpPr>
        <p:spPr/>
        <p:txBody>
          <a:bodyPr/>
          <a:lstStyle/>
          <a:p>
            <a:r>
              <a:rPr lang="en-US"/>
              <a:t>- Làm lại các bài tập với mô hình đa biến</a:t>
            </a:r>
          </a:p>
        </p:txBody>
      </p:sp>
      <p:sp>
        <p:nvSpPr>
          <p:cNvPr id="4" name="Footer Placeholder 3">
            <a:extLst>
              <a:ext uri="{FF2B5EF4-FFF2-40B4-BE49-F238E27FC236}">
                <a16:creationId xmlns:a16="http://schemas.microsoft.com/office/drawing/2014/main" id="{AAE3700D-2367-8E26-D2C0-5597E164FD1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92319190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876</TotalTime>
  <Words>8248</Words>
  <Application>Microsoft Office PowerPoint</Application>
  <PresentationFormat>On-screen Show (4:3)</PresentationFormat>
  <Paragraphs>604</Paragraphs>
  <Slides>59</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Aptos</vt:lpstr>
      <vt:lpstr>Arial</vt:lpstr>
      <vt:lpstr>Calibri</vt:lpstr>
      <vt:lpstr>Calibri Light</vt:lpstr>
      <vt:lpstr>Cambria Math</vt:lpstr>
      <vt:lpstr>Symbol</vt:lpstr>
      <vt:lpstr>Verdana</vt:lpstr>
      <vt:lpstr>Wingdings</vt:lpstr>
      <vt:lpstr>Retrospect</vt:lpstr>
      <vt:lpstr>PHÂN TÍCH &amp; TRỰC QUAN DỮ LIỆU</vt:lpstr>
      <vt:lpstr>Hồi quy tuyến tinh</vt:lpstr>
      <vt:lpstr>PowerPoint Presentation</vt:lpstr>
      <vt:lpstr>Đặc điểm của mô hình</vt:lpstr>
      <vt:lpstr>Mục đích của mô hình</vt:lpstr>
      <vt:lpstr>PowerPoint Presentation</vt:lpstr>
      <vt:lpstr>Mục đích của mô hình</vt:lpstr>
      <vt:lpstr>Mục đích của mô hình</vt:lpstr>
      <vt:lpstr>PowerPoint Presentation</vt:lpstr>
      <vt:lpstr>Mục đích của mô hình</vt:lpstr>
      <vt:lpstr>Mục đích của mô hình</vt:lpstr>
      <vt:lpstr>Giả định cơ bản:</vt:lpstr>
      <vt:lpstr>PowerPoint Presentation</vt:lpstr>
      <vt:lpstr>Tham số</vt:lpstr>
      <vt:lpstr>PowerPoint Presentation</vt:lpstr>
      <vt:lpstr>PowerPoint Presentation</vt:lpstr>
      <vt:lpstr>PowerPoint Presentation</vt:lpstr>
      <vt:lpstr>Tham số</vt:lpstr>
      <vt:lpstr>PowerPoint Presentation</vt:lpstr>
      <vt:lpstr>PowerPoint Presentation</vt:lpstr>
      <vt:lpstr>Mô hình hồi quy tuyến tính đơn giản (một biến độc lập)</vt:lpstr>
      <vt:lpstr>Mô hình hồi quy tuyến tính đa biến</vt:lpstr>
      <vt:lpstr>Tìm hệ số mô hình</vt:lpstr>
      <vt:lpstr>PowerPoint Presentation</vt:lpstr>
      <vt:lpstr>Đánh giá mô hình</vt:lpstr>
      <vt:lpstr>Quy trình thực hiện của mô hình</vt:lpstr>
      <vt:lpstr>PowerPoint Presentation</vt:lpstr>
      <vt:lpstr>Quy trình thực hiện của mô hình</vt:lpstr>
      <vt:lpstr>Quy trình thực hiện của mô hình</vt:lpstr>
      <vt:lpstr>Quy trình thực hiện của mô hình</vt:lpstr>
      <vt:lpstr>Quy trình thực hiện của mô hình</vt:lpstr>
      <vt:lpstr>Quy trình thực hiện của mô hình</vt:lpstr>
      <vt:lpstr>Ví dụ</vt:lpstr>
      <vt:lpstr>Ví dụ</vt:lpstr>
      <vt:lpstr>Bài tập</vt:lpstr>
      <vt:lpstr>MÔ HÌNH HỒI QUY LOGISTIC</vt:lpstr>
      <vt:lpstr>MÔ HÌNH HỒI QUY LOGISTIC</vt:lpstr>
      <vt:lpstr>PowerPoint Presentation</vt:lpstr>
      <vt:lpstr>MÔ HÌNH HỒI QUY LOGISTIC</vt:lpstr>
      <vt:lpstr>Đặc điểm của mô hình</vt:lpstr>
      <vt:lpstr>Đặc điểm của mô hình</vt:lpstr>
      <vt:lpstr>PowerPoint Presentation</vt:lpstr>
      <vt:lpstr>Giả định cơ bản</vt:lpstr>
      <vt:lpstr>Tham số</vt:lpstr>
      <vt:lpstr>Tham số</vt:lpstr>
      <vt:lpstr>Cách thức hoạt động của mô hình</vt:lpstr>
      <vt:lpstr>Cách thức hoạt động của mô hình</vt:lpstr>
      <vt:lpstr>Ví dụ</vt:lpstr>
      <vt:lpstr>Ví dụ</vt:lpstr>
      <vt:lpstr>Ví dụ</vt:lpstr>
      <vt:lpstr>Ví dụ</vt:lpstr>
      <vt:lpstr>PowerPoint Presentation</vt:lpstr>
      <vt:lpstr>Đánh giá ưu điểm và hạn chế của mô hình</vt:lpstr>
      <vt:lpstr>Đánh giá ưu điểm và hạn chế của mô hình</vt:lpstr>
      <vt:lpstr>Đánh giá ưu điểm và hạn chế của mô hình</vt:lpstr>
      <vt:lpstr>Đánh giá ưu điểm và hạn chế của mô hình</vt:lpstr>
      <vt:lpstr>Quy trình thực hiện của mô hình</vt:lpstr>
      <vt:lpstr>Projects</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103</cp:revision>
  <dcterms:created xsi:type="dcterms:W3CDTF">2025-02-15T00:36:04Z</dcterms:created>
  <dcterms:modified xsi:type="dcterms:W3CDTF">2026-03-21T00:46:48Z</dcterms:modified>
</cp:coreProperties>
</file>